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1" d="100"/>
          <a:sy n="141" d="100"/>
        </p:scale>
        <p:origin x="408"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2321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a pause. Don't start with a product demo. Start with a question: 'How many of your teams are running AI agents today?' Let the room answer. Then: 'How many of you can tell me right now what decisions those agents made in the last 24 hours, whether they were compliant, and what ROI they delivered?' Let silence do the work.
Positioning context for this session: We are a pre-launch. This deck is designed for internal GTM alignment — PMM, Sales, Demand Gen, and Marketing Ops. We are NOT sharing this externally. Our goal today is to get everyone locked in on ICP, messaging, the launch play, and the campaign structure before we go to market.
Audience for this session: Sales Leadership, PMM, Demand Gen, Revenue Ops, SDR Leadership.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context-setting. Walk through all four boxes quickly (&lt; 90 seconds). The goal is to give everyone in the room the same mental model before we go into detail.
Key alignment question: Does everyone agree that the CRO/CCO is the right primary entry point? We debated CIO-led vs. risk-led. We landed on risk-led because the regulatory moment is the most acute urgency driver — especially with EU AI Act enforcement coming. The CIO expansion is the second motion, not the first.
If legal or compliance is in the room: the 200 SQL goal is a Q1 target. We expect 60-70% of those to be in North America, 20-25% in UK/Western Europe, and 5-10% in APAC.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statistics are conversation starters, not closing arguments. Use them to get the prospect to share their own experience. After reading the compliance incident cost stat, pivot: 'Has your team started to map your agent inventory yet? Do you know how many agents you're actually running?'
In financial services, the regulatory angle is always top of mind. Key regulators by region:
- US: OCC, CFPB (model risk management guidance updated 2024)
- UK: FCA (AI Strategy 2025 — explainable AI requirement)
- EU: EU AI Act (effective August 2026 — mandatory risk classification)
- Singapore: MAS AI Governance Framework (board-level accountability)
- Australia: APRA (operational risk standards, evolving)
Name the regulator most relevant to the buyer in the room before you click to this slide.
Source note for stats: Use industry research citations when presenting externally. These figures should be validated with our research team before external use. Internal use only at this stage.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EU AI Act is the most powerful lever in European accounts. The OCC guidance is the lever in US banking. MAS is the lever in Singapore. Know which regulator matters before you walk in.
Then: 'Your competitors aren't waiting for perfect governance. They're building and governing at the same time. The question is whether you want to lead that or respond to it.'
Urgency note: EU AI Act enforcement begins August 2026 for high-risk AI systems. Financial services AI agents involved in credit decisions, fraud detection, insurance underwriting, and customer-facing advisory are likely to be classified as high-risk. This is not speculative — this is the timeline compliance teams are working against right now.
For accounts in Singapore: MAS expects board-level AI governance committees by end of 2025. This is a board agenda item, not an IT agenda item. Use that framing with CROs and CEOs.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who's in the room and adapt immediately.
If the CRO is present: lead with regulatory exposure. The OCC/FCA/MAS framing hits hardest with this persona. Their fear is a regulatory finding tied to AI they can't explain.
If the CIO is present: lead with operational control and shadow AI. The question that lands is: 'Do you know how many AI agents are running in your organization right now?' Almost no one can answer with confidence.
If the Head of CX is present: open with the hallucination and brand risk angle. Customer-facing agents represent reputation risk, not just technical risk.
Sales play guidance: The CRO and CCO are the PRIMARY entry points. They feel the most acute pain (regulatory) and have the most urgency. The CIO is the economic buyer in most deals — they hold the technology budget — but we don't lead with them because their pain is less immediate. Land with risk/compliance, expand to CIO on consolidation and scale.
Blocker to anticipate: IT Security / CISO may push back on data access. Procurement will add timeline. Pre-empt by getting a champion (CRO or CCO) in the room before legal/procurement gets involved.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internal alignment — particularly for Demand Gen and Ops teams who will be building the target account lists.
Key firmographic criteria for Ops/SDR teams:
- Revenue threshold: $1B+ annual revenue (firms with meaningful AI budgets)
- Employee count: 500+ (need a dedicated AI/tech function to be a viable buyer)
- Account signal: active AI agent program — look for job postings mentioning AI agents, LLMs, or agent frameworks; press releases about AI initiatives; LinkedIn activity from AI/ML teams
- Technology signals: LangChain, AutoGen, CrewAI, or proprietary agent frameworks in job postings or GitHub activity
Geography priority:
- North America first: highest concentration of Tier 1 financial services, OCC regulatory pressure is immediate
- UK second: FCA AI Strategy creates board-level urgency
- Western Europe: EU AI Act is the hook — Germany, France, Netherlands have the highest concentration of qualifying accounts
- APAC: Singapore (MAS) and Australia (APRA) are secondary. Add Japan cautiously — regulatory framework is less mature but market is large.
Exclusions: LATAM, Africa, Eastern Europe — we don't have regulatory frameworks mapped for those regions and don't have GTM support infrastructure yet. Tier 3 accounts should go to outbound nurture, not active pipeline.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SDR and AE training. The two personas here — CRO and CCO — are our primary entry points. The reason: they have the most immediate, tangible pain and the clearest budget trigger (regulatory examination risk).
Key distinction between CRO and CCO:
- CRO owns the risk framework and model risk management program. They care about control, documentation, and regulatory defensibility.
- CCO owns the compliance program and regulator relationships. They care about evidence, explainability, and audit readiness.
- Both report to the CEO or Board Risk Committee. Both are budget-holders for risk and compliance tooling.
Sales play:
1. Book the Readiness Assessment with CRO or CCO first.
2. In the Readiness Assessment, identify the CIO as the economic buyer and get an introduction.
3. Expand the buying committee to include CTO (technical validation), CISO (security review), and Head of CX (user-side value).
Champion test: A strong CRO/CCO champion will actively schedule the next meeting and involve their team. If they say 'interesting, let me think about it' — that's not a champion yet.
Title variations to target in CRM/outreach:
- CRO: Chief Risk Officer, EVP Risk, Head of Enterprise Risk, Group Chief Risk Officer
- CCO: Chief Compliance Officer, Head of Compliance, SVP Compliance, Group Chief Compliance Officer, Head of Regulatory Affairs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demo features here. Sell the operating model concept:
'Think of AgentOps as the governance layer that sits above your existing AI stack. We don't replace your agents. We don't replace your MLOps tools. We govern the outcome — what the agents did, whether it was compliant, whether it worked, and whether it was worth the investment.'
Pause after 'one platform, one operating model' and let that land.
Product detail for technical buyers (CTO/CIO):
- Agent Inventory: Passive discovery + active SDK integration. Supports LangChain, AutoGen, CrewAI, and proprietary frameworks via our API connector.
- Monitoring: Real-time metrics stream. Anomaly detection uses behavioral baseline models trained per agent. Alert routing via PagerDuty, Slack, or email.
- Compliance: Audit logs are immutable (SOC 2 Type II, ISO 27001). Report templates pre-built for OCC SR 11-7, FCA AI Strategy, MAS FEAT criteria, EU AI Act Annex VIII.
- ROI: Attribution model connects agent actions to business events via our data connector layer. Requires minimal data integration setup (typically &lt;2 days).
Deployment: SDK deployment or API connector. Average time to first governance insight: 48 hours. Average full deployment: 14 days. This is a competitive differentiator — most governance projects take 6-12 months.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48-hour stat is your hook for the pilot conversation. After this slide:
'Would your team be able to see value from a 30-day pilot? We can have you live with your first governance dashboard in 48 hours. What agents would you want to start with?'
The 14-day deployment claim is a competitive differentiator — most governance projects take 6-12 months. Emphasize this contrast, especially with CIOs who have been burned by long implementation timelines.
Technical details for the CTO:
- SDK available for Python and JavaScript (Node.js)
- REST API for proprietary frameworks — typically a 2-4 hour integration task per agent type
- Infrastructure: SaaS deployment, SOC 2 Type II certified, data residency options for EU (Frankfurt region) and APAC (Singapore region)
- Security: Data in transit and at rest encrypted. No training on customer data. Air-gapped deployment available for Tier 1 banks on enterprise contracts.
Blocker: 'Our IT security team won't approve a new SaaS tool easily.' Response: 'Our standard security questionnaire package includes SOC 2 Type II report, pen test results, and data flow diagrams. We can have that to your security team within 24 hours of request. Most Tier 1 bank security reviews complete in 3-4 weeks with our documentation package.'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Tailor which story you lead with to the buyer persona in the room:
- CRO present → lead with the regional bank story (OCC model risk review, compliance cost avoidance)
- CCO present → lead with the insurance carrier story (audit trail, 6-week → 3-hour prep)
- CTO or CIO looking for board approval → lead with the wealth management story (340% ROI, board approval for budget expansion)
Reference policy: These stories are composites based on early pilot feedback. Do NOT represent them as named case studies or offer customer introductions without checking with Customer Success first. We are working on signed case studies for Q2.
If asked for references: 'We have a small group of design partners in financial services who have agreed to peer reference calls. We can set that up as part of your pilot evaluation process.' Do not offer references before the pilot is booked — it extends the sales cycle unnecessarily.
The $2.1M compliance cost avoidance figure (banking story) is our strongest proof point for the business case. It's derived from FTE hours saved in exam prep, outside counsel costs, and remediation costs avoided. We can provide a ROI calculation template for prospects who need to build a business case.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name competitors proactively in customer conversations. The table in this deck uses category descriptions rather than brand names for a reason. Let the prospect bring up competitors.
If a prospect names a specific competitor:
Weights &amp; Biases: 'W&amp;B is strong for ML experiment tracking and model monitoring. Where they stop is compliance documentation and ROI attribution — and they're not purpose-built for AI agents specifically. Most of our customers were using W&amp;B alongside 2-3 other tools before AgentOps.'
Arize AI: 'Arize does observability well for traditional ML models. The gap is AI agent governance — agentic behavior requires different monitoring logic, and their compliance layer is thin for financial services requirements.'
Aporia: 'Aporia has built a good guardrails product. We see them mostly in LLM safety use cases. Our differentiation is the full governance operating model — inventory, monitoring, compliance, and ROI together — and we're specifically built for the financial services regulatory environment.'
Fiddler AI: 'Fiddler is a solid observability and explainability platform. They don't cover agent inventory or regulatory reporting for OCC/FCA/MAS. Most Fiddler customers we talk to are looking for a separate compliance layer.'
Consolidation ROI argument (use with CIOs and procurement): If a firm is running W&amp;B + Fiddler + an internal compliance tooling solution, they're likely spending $300K-$600K/year across those tools plus integration/maintenance engineering time. AgentOps typically comes in at $180K-$450K ARR and eliminates the fragmentation.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messaging framework that all content, email, paid, and SDR outreach should ladder up to.
Core principle: 'Govern What You've Built' is the campaign umbrella. Every persona message is a specific door into the same house.
Message prioritization:
- CRO and CCO messages should ALWAYS lead with regulatory risk. This is the most acute pain point and the most defensible reason to buy now.
- CIO message leads with the shadow AI / agent inventory question. This persona tends to be slower to act unless there's a specific compliance or operational incident forcing urgency.
- CTO message is the most technical. Lead with deployment simplicity and speed — CTOs in financial services have been burned by long implementation projects.
Channel guidance:
- Email: CRO/CCO sequences should be 5-touch, 3-week cadence. Open with the regulatory question, close with the Readiness Assessment offer.
- LinkedIn: CIO and CTO are more active on LinkedIn than CRO/CCO. Use thought leadership content + retargeting.
- Events: Executive roundtables (invite-only, 10-20 people) are the highest-conversion channel for CRO/CCO. Plan 4-6 per quarter across target geographies.
- ABM: Top 25 target accounts should get full ABM treatment — personalized email, direct mail, LinkedIn outreach, and a research brief on their specific agent exposure.
Content assets needed (PMM to produce by launch):
- CRO-specific email sequence (5 touches)
- CCO-specific email sequence (5 touches)
- EU AI Act urgency one-pager (for European accounts)
- OCC model risk management guide (for US banking accounts)
- AI Agent Inventory ROI calculator (for CIO conversations)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try to leave with the Readiness Assessment booked in the room. It's a soft commitment that creates real engagement and pipeline.
Offer qualification:
- Readiness Assessment: Available to any qualified enterprise account (financial services, $1B+ revenue). Book via northstar.ai/assess or SDR/AE calendar link.
- Pilot Program: Requires at least 5 production AI agents running. Qualified by AE in the Readiness Assessment debrief. Executive sponsor (CRO or CCO level) required.
- Enterprise License: Follow-on from pilot. Typical deal structure: platform fee + per-agent fee + compliance module fee. Negotiable for Tier 1 accounts.
Deal economics:
- Average pilot-to-close rate (early data): ~55%
- Average deal size: $230K ARR (blended across banking, insurance, wealth mgmt)
- Sales cycle from first meeting to signed: 90-120 days
- Sales cycle from pilot start to signed: 60-90 days
- Champion: CRO or CCO in 70% of deals to date
- Economic buyer: CIO in 65% of deals, CRO in 35%
Pricing objections:
- 'It's too expensive.' → 'Let's put it against what you're currently spending. If you're running W&amp;B + Fiddler + internal compliance tooling, you're likely at $300K+ with fragmented coverage. AgentOps consolidates that and adds the compliance layer you don't have today.'
- 'Can we start smaller?' → 'The Readiness Assessment is free and takes 2 hours. The pilot is $0 for qualified accounts. There's no financial risk to finding out if this solves your problem.'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timeline is the execution owner reference. Assign a DRI (Directly Responsible Individual) to each row before the end of this session.
Critical path dependencies:
1. Readiness Assessment landing page must be live Day 1. Sales cannot book assessments without it. PMM owns this in coordination with Web team.
2. SDR training must complete before Week 1 outreach begins. Sales Enablement owns.
3. LinkedIn ABM targeting must be set up against the target account list. Demand Gen owns. Ops must provide the account list by end of GTM alignment week.
SQL definition (for alignment):
- Attended Readiness Assessment OR
- Agreed to a pilot conversation with an AE present OR
- Inbound demo request from a qualified account (financial services, $1B+ revenue, 500+ employees)
- SQL threshold: Account must have at least one C-Suite or VP-level contact engaged
Budget allocation guidance (for Demand Gen to confirm):
- Paid LinkedIn ABM: 35% of demand gen budget
- Executive roundtables: 30%
- Paid search (EU AI Act, OCC model risk keywords): 15%
- Content production: 12%
- Partner co-marketing: 8%
Geo priority for events:
- North America: NYC (financial services hub), Chicago (insurance)
- Europe: London (primary), Frankfurt (EU AI Act urgency), Amsterdam
- APAC: Singapore (MAS framework urgency), Sydney
- Target: 2-3 executive roundtables per major city per quarter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play summary for AE/SDR alignment:
Play 1 — Primary (CRO/CCO Entry): This is our bread and butter. The regulatory moment has created a real buying trigger. CROs and CCOs are being asked by their boards and regulators to demonstrate AI governance. We solve that problem directly and immediately.
Play 2 — Secondary (CIO-Led Consolidation): Use this when CRO/CCO outreach isn't gaining traction. The CIO-led pitch is stronger in accounts where AI is more mature and the sprawl problem is already visible to IT leadership.
Key champion qualification criteria:
- Will actively schedule follow-up meetings without being chased
- Will introduce us to other committee members (CIO, CISO, etc.)
- Has articulated the problem in their own words, not just agreed with our framing
- Is willing to be the internal advocate for the Readiness Assessment or pilot
Blocker management:
- IT Security/CISO: Pre-empt with our security documentation package. Send proactively before the first IT security meeting.
- Procurement: Get champion to pull procurement in early. Avoid surprise procurement requirements at end of sales cycle.
- Legal: Contract complexity can kill deals at signature. Involve legal early, share standard MSA in advance.
Single-threaded deal risk: If you have only one contact in the account — especially only an IT contact — you are single-threaded. Escalate to sales manager. Get introduction to CRO or CCO before the pilot starts.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definition (critical — all teams must align on this before launch):
QUALIFIED:
✓ Completed Readiness Assessment with CRO, CCO, CIO, CTO, VP Engineering, VP AI/ML, CISO, or Head of CX
✓ Agreed to a pilot conversation with AE
✓ Inbound demo request from financial services firm with $1B+ revenue, 500+ employees
NOT QUALIFIED:
✗ Downloaded a content asset only (move to MQL nurture)
✗ Attended webinar only (move to MQL nurture unless they book a follow-up)
✗ Contact at account below ICP threshold (firm size, industry)
✗ IT Analyst or Engineer only (no executive sponsor confirmed)
Pipeline target rationale:
- 200 SQLs × 55% pilot conversion = 110 pilots
- 110 pilots × 55% proposal rate = ~60 proposals
- 60 proposals × 35% win rate = ~21 deals
- 21 deals × $230K avg = $4.8M ARR
- NOTE: Q1 pipeline is a leading indicator. Most enterprise deals will close in Q2-Q3.
Review cadence:
- Weekly: SQL count, assessment bookings, pilot activations (Sales + Demand Gen)
- Biweekly: Pipeline value, win/loss trends (Sales leadership)
- Monthly: Full dashboard review with CMO, CRO, CPO
- 90-day: Post-mortem against all Q1 targets (full GTM team)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you stop talking and ask one question: 'Based on what you've heard today, what's the single biggest governance gap you'd want to close in the next 90 days?'
Let them answer. Whatever they say is your next meeting agenda.
Closing checklist:
✓ Readiness Assessment booked (calendar invite confirmed before leaving)
✓ At least 2-3 stakeholders identified for the Assessment (CRO or CCO + one other)
✓ Next step agreed and calendared
✓ Any immediate follow-up items noted and committed to (security documentation, reference calls, ROI calculator)
If they won't book in the room:
'What's the best way to get 30 minutes on your calendar this week to walk through the Assessment logistics? It's two hours of your team's time and you'll leave with a complete picture of your governance gaps.' If they still resist: 'Let me send you our AI Governance Readiness self-assessment — 10 questions you can complete with your team — and we can review the results together. No pressure, just a useful starting point.' Send within 24 hours.
Handoff note: CRM update required within 24 hours of this meeting. Log: stakeholders met, qualification criteria, next step, estimated close timeline, and champion confidence rating (1-5).</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6858000" y="0"/>
            <a:ext cx="2286000" cy="1828800"/>
          </a:xfrm>
          <a:prstGeom prst="rect">
            <a:avLst/>
          </a:prstGeom>
          <a:solidFill>
            <a:srgbClr val="0D7B8A">
              <a:alpha val="30000"/>
            </a:srgbClr>
          </a:solidFill>
          <a:ln w="12700">
            <a:solidFill>
              <a:srgbClr val="0D7B8A">
                <a:alpha val="30000"/>
              </a:srgbClr>
            </a:solidFill>
            <a:prstDash val="solid"/>
          </a:ln>
        </p:spPr>
        <p:txBody>
          <a:bodyPr/>
          <a:lstStyle/>
          <a:p>
            <a:endParaRPr lang="en-US"/>
          </a:p>
        </p:txBody>
      </p:sp>
      <p:sp>
        <p:nvSpPr>
          <p:cNvPr id="3" name="Shape 1"/>
          <p:cNvSpPr/>
          <p:nvPr/>
        </p:nvSpPr>
        <p:spPr>
          <a:xfrm>
            <a:off x="7498080" y="365760"/>
            <a:ext cx="1645920" cy="1280160"/>
          </a:xfrm>
          <a:prstGeom prst="rect">
            <a:avLst/>
          </a:prstGeom>
          <a:solidFill>
            <a:srgbClr val="C9DDE8">
              <a:alpha val="20000"/>
            </a:srgbClr>
          </a:solidFill>
          <a:ln w="12700">
            <a:solidFill>
              <a:srgbClr val="C9DDE8">
                <a:alpha val="20000"/>
              </a:srgbClr>
            </a:solidFill>
            <a:prstDash val="solid"/>
          </a:ln>
        </p:spPr>
        <p:txBody>
          <a:bodyPr/>
          <a:lstStyle/>
          <a:p>
            <a:endParaRPr lang="en-US"/>
          </a:p>
        </p:txBody>
      </p:sp>
      <p:sp>
        <p:nvSpPr>
          <p:cNvPr id="4" name="Text 2"/>
          <p:cNvSpPr/>
          <p:nvPr/>
        </p:nvSpPr>
        <p:spPr>
          <a:xfrm>
            <a:off x="502920" y="411480"/>
            <a:ext cx="4572000" cy="320040"/>
          </a:xfrm>
          <a:prstGeom prst="rect">
            <a:avLst/>
          </a:prstGeom>
          <a:noFill/>
          <a:ln/>
        </p:spPr>
        <p:txBody>
          <a:bodyPr wrap="square" lIns="0" tIns="0" rIns="0" bIns="0" rtlCol="0" anchor="ctr"/>
          <a:lstStyle/>
          <a:p>
            <a:pPr marL="0" indent="0">
              <a:buNone/>
            </a:pPr>
            <a:r>
              <a:rPr lang="en-US" sz="1100" b="1" kern="0" spc="500" dirty="0">
                <a:solidFill>
                  <a:srgbClr val="C9DDE8"/>
                </a:solidFill>
                <a:latin typeface="Calibri" pitchFamily="34" charset="0"/>
                <a:ea typeface="Calibri" pitchFamily="34" charset="-122"/>
                <a:cs typeface="Calibri" pitchFamily="34" charset="-120"/>
              </a:rPr>
              <a:t>NORTHSTAR AI</a:t>
            </a:r>
            <a:endParaRPr lang="en-US" sz="1100" dirty="0"/>
          </a:p>
        </p:txBody>
      </p:sp>
      <p:sp>
        <p:nvSpPr>
          <p:cNvPr id="5" name="Text 3"/>
          <p:cNvSpPr/>
          <p:nvPr/>
        </p:nvSpPr>
        <p:spPr>
          <a:xfrm>
            <a:off x="502920" y="749808"/>
            <a:ext cx="5486400" cy="228600"/>
          </a:xfrm>
          <a:prstGeom prst="rect">
            <a:avLst/>
          </a:prstGeom>
          <a:noFill/>
          <a:ln/>
        </p:spPr>
        <p:txBody>
          <a:bodyPr wrap="square" lIns="0" tIns="0" rIns="0" bIns="0" rtlCol="0" anchor="ctr"/>
          <a:lstStyle/>
          <a:p>
            <a:pPr marL="0" indent="0">
              <a:buNone/>
            </a:pPr>
            <a:r>
              <a:rPr lang="en-US" sz="900" i="1" dirty="0">
                <a:solidFill>
                  <a:srgbClr val="7A9BB5"/>
                </a:solidFill>
                <a:latin typeface="Calibri" pitchFamily="34" charset="0"/>
                <a:ea typeface="Calibri" pitchFamily="34" charset="-122"/>
                <a:cs typeface="Calibri" pitchFamily="34" charset="-120"/>
              </a:rPr>
              <a:t>CONFIDENTIAL — INTERNAL GTM ALIGNMENT</a:t>
            </a:r>
            <a:endParaRPr lang="en-US" sz="900" dirty="0"/>
          </a:p>
        </p:txBody>
      </p:sp>
      <p:sp>
        <p:nvSpPr>
          <p:cNvPr id="6" name="Text 4"/>
          <p:cNvSpPr/>
          <p:nvPr/>
        </p:nvSpPr>
        <p:spPr>
          <a:xfrm>
            <a:off x="502920" y="1280160"/>
            <a:ext cx="7498080" cy="1508760"/>
          </a:xfrm>
          <a:prstGeom prst="rect">
            <a:avLst/>
          </a:prstGeom>
          <a:noFill/>
          <a:ln/>
        </p:spPr>
        <p:txBody>
          <a:bodyPr wrap="square" lIns="0" tIns="0" rIns="0" bIns="0" rtlCol="0" anchor="ctr"/>
          <a:lstStyle/>
          <a:p>
            <a:pPr marL="0" indent="0">
              <a:lnSpc>
                <a:spcPct val="110000"/>
              </a:lnSpc>
              <a:buNone/>
            </a:pPr>
            <a:r>
              <a:rPr lang="en-US" sz="4200" b="1" dirty="0">
                <a:solidFill>
                  <a:srgbClr val="FFFFFF"/>
                </a:solidFill>
                <a:latin typeface="Cambria" pitchFamily="34" charset="0"/>
                <a:ea typeface="Cambria" pitchFamily="34" charset="-122"/>
                <a:cs typeface="Cambria" pitchFamily="34" charset="-120"/>
              </a:rPr>
              <a:t>AI Agents Are Running</a:t>
            </a:r>
            <a:endParaRPr lang="en-US" sz="4200" dirty="0"/>
          </a:p>
          <a:p>
            <a:pPr marL="0" indent="0">
              <a:lnSpc>
                <a:spcPct val="110000"/>
              </a:lnSpc>
              <a:buNone/>
            </a:pPr>
            <a:r>
              <a:rPr lang="en-US" sz="4200" b="1" dirty="0">
                <a:solidFill>
                  <a:srgbClr val="FFFFFF"/>
                </a:solidFill>
                <a:latin typeface="Cambria" pitchFamily="34" charset="0"/>
                <a:ea typeface="Cambria" pitchFamily="34" charset="-122"/>
                <a:cs typeface="Cambria" pitchFamily="34" charset="-120"/>
              </a:rPr>
              <a:t>Your Business.</a:t>
            </a:r>
            <a:endParaRPr lang="en-US" sz="4200" dirty="0"/>
          </a:p>
        </p:txBody>
      </p:sp>
      <p:sp>
        <p:nvSpPr>
          <p:cNvPr id="7" name="Text 5"/>
          <p:cNvSpPr/>
          <p:nvPr/>
        </p:nvSpPr>
        <p:spPr>
          <a:xfrm>
            <a:off x="502920" y="2834640"/>
            <a:ext cx="7315200" cy="594360"/>
          </a:xfrm>
          <a:prstGeom prst="rect">
            <a:avLst/>
          </a:prstGeom>
          <a:noFill/>
          <a:ln/>
        </p:spPr>
        <p:txBody>
          <a:bodyPr wrap="square" lIns="0" tIns="0" rIns="0" bIns="0" rtlCol="0" anchor="ctr"/>
          <a:lstStyle/>
          <a:p>
            <a:pPr marL="0" indent="0">
              <a:buNone/>
            </a:pPr>
            <a:r>
              <a:rPr lang="en-US" sz="2400" i="1" dirty="0">
                <a:solidFill>
                  <a:srgbClr val="C9DDE8"/>
                </a:solidFill>
                <a:latin typeface="Calibri" pitchFamily="34" charset="0"/>
                <a:ea typeface="Calibri" pitchFamily="34" charset="-122"/>
                <a:cs typeface="Calibri" pitchFamily="34" charset="-120"/>
              </a:rPr>
              <a:t>Do You Know What They're Doing?</a:t>
            </a:r>
            <a:endParaRPr lang="en-US" sz="2400" dirty="0"/>
          </a:p>
        </p:txBody>
      </p:sp>
      <p:sp>
        <p:nvSpPr>
          <p:cNvPr id="8" name="Shape 6"/>
          <p:cNvSpPr/>
          <p:nvPr/>
        </p:nvSpPr>
        <p:spPr>
          <a:xfrm>
            <a:off x="502920" y="3520440"/>
            <a:ext cx="1463040" cy="36576"/>
          </a:xfrm>
          <a:prstGeom prst="rect">
            <a:avLst/>
          </a:prstGeom>
          <a:solidFill>
            <a:srgbClr val="0D7B8A"/>
          </a:solidFill>
          <a:ln w="12700">
            <a:solidFill>
              <a:srgbClr val="0D7B8A"/>
            </a:solidFill>
            <a:prstDash val="solid"/>
          </a:ln>
        </p:spPr>
        <p:txBody>
          <a:bodyPr/>
          <a:lstStyle/>
          <a:p>
            <a:endParaRPr lang="en-US"/>
          </a:p>
        </p:txBody>
      </p:sp>
      <p:sp>
        <p:nvSpPr>
          <p:cNvPr id="9" name="Text 7"/>
          <p:cNvSpPr/>
          <p:nvPr/>
        </p:nvSpPr>
        <p:spPr>
          <a:xfrm>
            <a:off x="502920" y="3703320"/>
            <a:ext cx="777240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Northstar AgentOps</a:t>
            </a:r>
            <a:r>
              <a:rPr lang="en-US" sz="1400" dirty="0">
                <a:solidFill>
                  <a:srgbClr val="C9DDE8"/>
                </a:solidFill>
                <a:latin typeface="Calibri" pitchFamily="34" charset="0"/>
                <a:ea typeface="Calibri" pitchFamily="34" charset="-122"/>
                <a:cs typeface="Calibri" pitchFamily="34" charset="-120"/>
              </a:rPr>
              <a:t>  |  AI Agent Governance for the Enterprise</a:t>
            </a:r>
            <a:endParaRPr lang="en-US" sz="1400" dirty="0"/>
          </a:p>
        </p:txBody>
      </p:sp>
      <p:sp>
        <p:nvSpPr>
          <p:cNvPr id="10" name="Shape 8"/>
          <p:cNvSpPr/>
          <p:nvPr/>
        </p:nvSpPr>
        <p:spPr>
          <a:xfrm>
            <a:off x="502920" y="4297680"/>
            <a:ext cx="1188720" cy="347472"/>
          </a:xfrm>
          <a:prstGeom prst="roundRect">
            <a:avLst>
              <a:gd name="adj" fmla="val 13158"/>
            </a:avLst>
          </a:prstGeom>
          <a:solidFill>
            <a:srgbClr val="0D7B8A"/>
          </a:solidFill>
          <a:ln w="12700">
            <a:solidFill>
              <a:srgbClr val="0D7B8A"/>
            </a:solidFill>
            <a:prstDash val="solid"/>
          </a:ln>
        </p:spPr>
        <p:txBody>
          <a:bodyPr/>
          <a:lstStyle/>
          <a:p>
            <a:endParaRPr lang="en-US"/>
          </a:p>
        </p:txBody>
      </p:sp>
      <p:sp>
        <p:nvSpPr>
          <p:cNvPr id="11" name="Text 9"/>
          <p:cNvSpPr/>
          <p:nvPr/>
        </p:nvSpPr>
        <p:spPr>
          <a:xfrm>
            <a:off x="502920" y="4297680"/>
            <a:ext cx="1188720"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Q1 LAUNCH</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marL="0" indent="0">
              <a:buNone/>
            </a:pPr>
            <a:r>
              <a:rPr lang="en-US" sz="2600" b="1" dirty="0">
                <a:solidFill>
                  <a:srgbClr val="1B2A4A"/>
                </a:solidFill>
                <a:latin typeface="Cambria" pitchFamily="34" charset="0"/>
                <a:ea typeface="Cambria" pitchFamily="34" charset="-122"/>
                <a:cs typeface="Cambria" pitchFamily="34" charset="-120"/>
              </a:rPr>
              <a:t>GTM Launch at a Glance</a:t>
            </a:r>
            <a:endParaRPr lang="en-US" sz="2600" dirty="0"/>
          </a:p>
        </p:txBody>
      </p:sp>
      <p:sp>
        <p:nvSpPr>
          <p:cNvPr id="3" name="Text 1"/>
          <p:cNvSpPr/>
          <p:nvPr/>
        </p:nvSpPr>
        <p:spPr>
          <a:xfrm>
            <a:off x="457200" y="804672"/>
            <a:ext cx="8229600" cy="274320"/>
          </a:xfrm>
          <a:prstGeom prst="rect">
            <a:avLst/>
          </a:prstGeom>
          <a:noFill/>
          <a:ln/>
        </p:spPr>
        <p:txBody>
          <a:bodyPr wrap="square" lIns="0" tIns="0" rIns="0" bIns="0" rtlCol="0" anchor="ctr"/>
          <a:lstStyle/>
          <a:p>
            <a:pPr marL="0" indent="0">
              <a:buNone/>
            </a:pPr>
            <a:r>
              <a:rPr lang="en-US" sz="1300" dirty="0">
                <a:solidFill>
                  <a:srgbClr val="6B7A8D"/>
                </a:solidFill>
                <a:latin typeface="Calibri" pitchFamily="34" charset="0"/>
                <a:ea typeface="Calibri" pitchFamily="34" charset="-122"/>
                <a:cs typeface="Calibri" pitchFamily="34" charset="-120"/>
              </a:rPr>
              <a:t>Northstar AgentOps — Q1 Campaign Overview</a:t>
            </a:r>
            <a:endParaRPr lang="en-US" sz="1300" dirty="0"/>
          </a:p>
        </p:txBody>
      </p:sp>
      <p:sp>
        <p:nvSpPr>
          <p:cNvPr id="4" name="Shape 2"/>
          <p:cNvSpPr/>
          <p:nvPr/>
        </p:nvSpPr>
        <p:spPr>
          <a:xfrm>
            <a:off x="457200" y="1280160"/>
            <a:ext cx="4160520" cy="1554480"/>
          </a:xfrm>
          <a:prstGeom prst="roundRect">
            <a:avLst>
              <a:gd name="adj" fmla="val 4706"/>
            </a:avLst>
          </a:prstGeom>
          <a:solidFill>
            <a:srgbClr val="FFFFFF"/>
          </a:solidFill>
          <a:ln w="12700">
            <a:solidFill>
              <a:srgbClr val="C9DDE8"/>
            </a:solidFill>
            <a:prstDash val="solid"/>
          </a:ln>
          <a:effectLst>
            <a:outerShdw blurRad="101600" dist="38100" dir="2700000" algn="bl" rotWithShape="0">
              <a:srgbClr val="000000">
                <a:alpha val="10000"/>
              </a:srgbClr>
            </a:outerShdw>
          </a:effectLst>
        </p:spPr>
        <p:txBody>
          <a:bodyPr/>
          <a:lstStyle/>
          <a:p>
            <a:endParaRPr lang="en-US"/>
          </a:p>
        </p:txBody>
      </p:sp>
      <p:sp>
        <p:nvSpPr>
          <p:cNvPr id="5" name="Text 3"/>
          <p:cNvSpPr/>
          <p:nvPr/>
        </p:nvSpPr>
        <p:spPr>
          <a:xfrm>
            <a:off x="621792" y="1417320"/>
            <a:ext cx="3831336" cy="256032"/>
          </a:xfrm>
          <a:prstGeom prst="rect">
            <a:avLst/>
          </a:prstGeom>
          <a:noFill/>
          <a:ln/>
        </p:spPr>
        <p:txBody>
          <a:bodyPr wrap="square" lIns="0" tIns="0" rIns="0" bIns="0" rtlCol="0" anchor="ctr"/>
          <a:lstStyle/>
          <a:p>
            <a:pPr marL="0" indent="0">
              <a:buNone/>
            </a:pPr>
            <a:r>
              <a:rPr lang="en-US" sz="850" b="1" kern="0" spc="150" dirty="0">
                <a:solidFill>
                  <a:srgbClr val="0D7B8A"/>
                </a:solidFill>
                <a:latin typeface="Calibri" pitchFamily="34" charset="0"/>
                <a:ea typeface="Calibri" pitchFamily="34" charset="-122"/>
                <a:cs typeface="Calibri" pitchFamily="34" charset="-120"/>
              </a:rPr>
              <a:t>THE PROBLEM WE'RE SOLVING</a:t>
            </a:r>
            <a:endParaRPr lang="en-US" sz="850" dirty="0"/>
          </a:p>
        </p:txBody>
      </p:sp>
      <p:sp>
        <p:nvSpPr>
          <p:cNvPr id="6" name="Text 4"/>
          <p:cNvSpPr/>
          <p:nvPr/>
        </p:nvSpPr>
        <p:spPr>
          <a:xfrm>
            <a:off x="621792" y="1709928"/>
            <a:ext cx="3831336" cy="1005840"/>
          </a:xfrm>
          <a:prstGeom prst="rect">
            <a:avLst/>
          </a:prstGeom>
          <a:noFill/>
          <a:ln/>
        </p:spPr>
        <p:txBody>
          <a:bodyPr wrap="square" lIns="0" tIns="0" rIns="0" bIns="0" rtlCol="0" anchor="ctr"/>
          <a:lstStyle/>
          <a:p>
            <a:pPr marL="0" indent="0">
              <a:lnSpc>
                <a:spcPct val="125000"/>
              </a:lnSpc>
              <a:buNone/>
            </a:pPr>
            <a:r>
              <a:rPr lang="en-US" sz="1150" dirty="0">
                <a:solidFill>
                  <a:srgbClr val="4A5568"/>
                </a:solidFill>
                <a:latin typeface="Calibri" pitchFamily="34" charset="0"/>
                <a:ea typeface="Calibri" pitchFamily="34" charset="-122"/>
                <a:cs typeface="Calibri" pitchFamily="34" charset="-120"/>
              </a:rPr>
              <a:t>Enterprise financial services firms are running dozens — sometimes hundreds — of AI agents with no centralized inventory, no governance layer, and no way to prove ROI. Regulators are asking questions. Boards are asking questions. The tools to answer them don't exist in one place.</a:t>
            </a:r>
            <a:endParaRPr lang="en-US" sz="1150" dirty="0"/>
          </a:p>
        </p:txBody>
      </p:sp>
      <p:sp>
        <p:nvSpPr>
          <p:cNvPr id="7" name="Shape 5"/>
          <p:cNvSpPr/>
          <p:nvPr/>
        </p:nvSpPr>
        <p:spPr>
          <a:xfrm>
            <a:off x="4709160" y="1280160"/>
            <a:ext cx="4160520" cy="1554480"/>
          </a:xfrm>
          <a:prstGeom prst="roundRect">
            <a:avLst>
              <a:gd name="adj" fmla="val 4706"/>
            </a:avLst>
          </a:prstGeom>
          <a:solidFill>
            <a:srgbClr val="FFFFFF"/>
          </a:solidFill>
          <a:ln w="12700">
            <a:solidFill>
              <a:srgbClr val="C9DDE8"/>
            </a:solidFill>
            <a:prstDash val="solid"/>
          </a:ln>
          <a:effectLst>
            <a:outerShdw blurRad="101600" dist="38100" dir="2700000" algn="bl" rotWithShape="0">
              <a:srgbClr val="000000">
                <a:alpha val="10000"/>
              </a:srgbClr>
            </a:outerShdw>
          </a:effectLst>
        </p:spPr>
        <p:txBody>
          <a:bodyPr/>
          <a:lstStyle/>
          <a:p>
            <a:endParaRPr lang="en-US"/>
          </a:p>
        </p:txBody>
      </p:sp>
      <p:sp>
        <p:nvSpPr>
          <p:cNvPr id="8" name="Text 6"/>
          <p:cNvSpPr/>
          <p:nvPr/>
        </p:nvSpPr>
        <p:spPr>
          <a:xfrm>
            <a:off x="4873752" y="1417320"/>
            <a:ext cx="3831336" cy="256032"/>
          </a:xfrm>
          <a:prstGeom prst="rect">
            <a:avLst/>
          </a:prstGeom>
          <a:noFill/>
          <a:ln/>
        </p:spPr>
        <p:txBody>
          <a:bodyPr wrap="square" lIns="0" tIns="0" rIns="0" bIns="0" rtlCol="0" anchor="ctr"/>
          <a:lstStyle/>
          <a:p>
            <a:pPr marL="0" indent="0">
              <a:buNone/>
            </a:pPr>
            <a:r>
              <a:rPr lang="en-US" sz="850" b="1" kern="0" spc="150" dirty="0">
                <a:solidFill>
                  <a:srgbClr val="0D7B8A"/>
                </a:solidFill>
                <a:latin typeface="Calibri" pitchFamily="34" charset="0"/>
                <a:ea typeface="Calibri" pitchFamily="34" charset="-122"/>
                <a:cs typeface="Calibri" pitchFamily="34" charset="-120"/>
              </a:rPr>
              <a:t>WHAT WE'RE LAUNCHING</a:t>
            </a:r>
            <a:endParaRPr lang="en-US" sz="850" dirty="0"/>
          </a:p>
        </p:txBody>
      </p:sp>
      <p:sp>
        <p:nvSpPr>
          <p:cNvPr id="9" name="Text 7"/>
          <p:cNvSpPr/>
          <p:nvPr/>
        </p:nvSpPr>
        <p:spPr>
          <a:xfrm>
            <a:off x="4873752" y="1709928"/>
            <a:ext cx="3831336" cy="1005840"/>
          </a:xfrm>
          <a:prstGeom prst="rect">
            <a:avLst/>
          </a:prstGeom>
          <a:noFill/>
          <a:ln/>
        </p:spPr>
        <p:txBody>
          <a:bodyPr wrap="square" lIns="0" tIns="0" rIns="0" bIns="0" rtlCol="0" anchor="ctr"/>
          <a:lstStyle/>
          <a:p>
            <a:pPr marL="0" indent="0">
              <a:lnSpc>
                <a:spcPct val="125000"/>
              </a:lnSpc>
              <a:buNone/>
            </a:pPr>
            <a:r>
              <a:rPr lang="en-US" sz="1150" dirty="0">
                <a:solidFill>
                  <a:srgbClr val="4A5568"/>
                </a:solidFill>
                <a:latin typeface="Calibri" pitchFamily="34" charset="0"/>
                <a:ea typeface="Calibri" pitchFamily="34" charset="-122"/>
                <a:cs typeface="Calibri" pitchFamily="34" charset="-120"/>
              </a:rPr>
              <a:t>Northstar AgentOps: an AI agent governance platform delivering agent inventory &amp; discovery, real-time monitoring, compliance audit infrastructure, and ROI attribution — in a single, financially-regulated-environment-ready platform.</a:t>
            </a:r>
            <a:endParaRPr lang="en-US" sz="1150" dirty="0"/>
          </a:p>
        </p:txBody>
      </p:sp>
      <p:sp>
        <p:nvSpPr>
          <p:cNvPr id="10" name="Shape 8"/>
          <p:cNvSpPr/>
          <p:nvPr/>
        </p:nvSpPr>
        <p:spPr>
          <a:xfrm>
            <a:off x="457200" y="2971800"/>
            <a:ext cx="4160520" cy="1783080"/>
          </a:xfrm>
          <a:prstGeom prst="roundRect">
            <a:avLst>
              <a:gd name="adj" fmla="val 4103"/>
            </a:avLst>
          </a:prstGeom>
          <a:solidFill>
            <a:srgbClr val="FFFFFF"/>
          </a:solidFill>
          <a:ln w="12700">
            <a:solidFill>
              <a:srgbClr val="C9DDE8"/>
            </a:solidFill>
            <a:prstDash val="solid"/>
          </a:ln>
          <a:effectLst>
            <a:outerShdw blurRad="101600" dist="38100" dir="2700000" algn="bl" rotWithShape="0">
              <a:srgbClr val="000000">
                <a:alpha val="10000"/>
              </a:srgbClr>
            </a:outerShdw>
          </a:effectLst>
        </p:spPr>
        <p:txBody>
          <a:bodyPr/>
          <a:lstStyle/>
          <a:p>
            <a:endParaRPr lang="en-US"/>
          </a:p>
        </p:txBody>
      </p:sp>
      <p:sp>
        <p:nvSpPr>
          <p:cNvPr id="11" name="Text 9"/>
          <p:cNvSpPr/>
          <p:nvPr/>
        </p:nvSpPr>
        <p:spPr>
          <a:xfrm>
            <a:off x="621792" y="3108960"/>
            <a:ext cx="3831336" cy="256032"/>
          </a:xfrm>
          <a:prstGeom prst="rect">
            <a:avLst/>
          </a:prstGeom>
          <a:noFill/>
          <a:ln/>
        </p:spPr>
        <p:txBody>
          <a:bodyPr wrap="square" lIns="0" tIns="0" rIns="0" bIns="0" rtlCol="0" anchor="ctr"/>
          <a:lstStyle/>
          <a:p>
            <a:pPr marL="0" indent="0">
              <a:buNone/>
            </a:pPr>
            <a:r>
              <a:rPr lang="en-US" sz="850" b="1" kern="0" spc="150" dirty="0">
                <a:solidFill>
                  <a:srgbClr val="0D7B8A"/>
                </a:solidFill>
                <a:latin typeface="Calibri" pitchFamily="34" charset="0"/>
                <a:ea typeface="Calibri" pitchFamily="34" charset="-122"/>
                <a:cs typeface="Calibri" pitchFamily="34" charset="-120"/>
              </a:rPr>
              <a:t>WHO WE'RE GOING AFTER</a:t>
            </a:r>
            <a:endParaRPr lang="en-US" sz="850" dirty="0"/>
          </a:p>
        </p:txBody>
      </p:sp>
      <p:sp>
        <p:nvSpPr>
          <p:cNvPr id="12" name="Text 10"/>
          <p:cNvSpPr/>
          <p:nvPr/>
        </p:nvSpPr>
        <p:spPr>
          <a:xfrm>
            <a:off x="621792" y="3401568"/>
            <a:ext cx="3831336" cy="1234440"/>
          </a:xfrm>
          <a:prstGeom prst="rect">
            <a:avLst/>
          </a:prstGeom>
          <a:noFill/>
          <a:ln/>
        </p:spPr>
        <p:txBody>
          <a:bodyPr wrap="square" lIns="0" tIns="0" rIns="0" bIns="0" rtlCol="0" anchor="ctr"/>
          <a:lstStyle/>
          <a:p>
            <a:pPr marL="0" indent="0">
              <a:lnSpc>
                <a:spcPct val="125000"/>
              </a:lnSpc>
              <a:buNone/>
            </a:pPr>
            <a:r>
              <a:rPr lang="en-US" sz="1150" dirty="0">
                <a:solidFill>
                  <a:srgbClr val="4A5568"/>
                </a:solidFill>
                <a:latin typeface="Calibri" pitchFamily="34" charset="0"/>
                <a:ea typeface="Calibri" pitchFamily="34" charset="-122"/>
                <a:cs typeface="Calibri" pitchFamily="34" charset="-120"/>
              </a:rPr>
              <a:t>Enterprise banks, insurance carriers, wealth managers, and fintech platforms in North America, UK, Western Europe, Singapore, and Australia — with $1B+ revenue, 500+ employees, and active AI agent programs. Primary buyers: CRO, CCO, CIO, CTO.</a:t>
            </a:r>
            <a:endParaRPr lang="en-US" sz="1150" dirty="0"/>
          </a:p>
        </p:txBody>
      </p:sp>
      <p:sp>
        <p:nvSpPr>
          <p:cNvPr id="13" name="Shape 11"/>
          <p:cNvSpPr/>
          <p:nvPr/>
        </p:nvSpPr>
        <p:spPr>
          <a:xfrm>
            <a:off x="4709160" y="2971800"/>
            <a:ext cx="4160520" cy="1783080"/>
          </a:xfrm>
          <a:prstGeom prst="roundRect">
            <a:avLst>
              <a:gd name="adj" fmla="val 4103"/>
            </a:avLst>
          </a:prstGeom>
          <a:solidFill>
            <a:srgbClr val="FFFFFF"/>
          </a:solidFill>
          <a:ln w="12700">
            <a:solidFill>
              <a:srgbClr val="C9DDE8"/>
            </a:solidFill>
            <a:prstDash val="solid"/>
          </a:ln>
          <a:effectLst>
            <a:outerShdw blurRad="101600" dist="38100" dir="2700000" algn="bl" rotWithShape="0">
              <a:srgbClr val="000000">
                <a:alpha val="10000"/>
              </a:srgbClr>
            </a:outerShdw>
          </a:effectLst>
        </p:spPr>
        <p:txBody>
          <a:bodyPr/>
          <a:lstStyle/>
          <a:p>
            <a:endParaRPr lang="en-US"/>
          </a:p>
        </p:txBody>
      </p:sp>
      <p:sp>
        <p:nvSpPr>
          <p:cNvPr id="14" name="Text 12"/>
          <p:cNvSpPr/>
          <p:nvPr/>
        </p:nvSpPr>
        <p:spPr>
          <a:xfrm>
            <a:off x="4873752" y="3108960"/>
            <a:ext cx="3831336" cy="256032"/>
          </a:xfrm>
          <a:prstGeom prst="rect">
            <a:avLst/>
          </a:prstGeom>
          <a:noFill/>
          <a:ln/>
        </p:spPr>
        <p:txBody>
          <a:bodyPr wrap="square" lIns="0" tIns="0" rIns="0" bIns="0" rtlCol="0" anchor="ctr"/>
          <a:lstStyle/>
          <a:p>
            <a:pPr marL="0" indent="0">
              <a:buNone/>
            </a:pPr>
            <a:r>
              <a:rPr lang="en-US" sz="850" b="1" kern="0" spc="150" dirty="0">
                <a:solidFill>
                  <a:srgbClr val="0D7B8A"/>
                </a:solidFill>
                <a:latin typeface="Calibri" pitchFamily="34" charset="0"/>
                <a:ea typeface="Calibri" pitchFamily="34" charset="-122"/>
                <a:cs typeface="Calibri" pitchFamily="34" charset="-120"/>
              </a:rPr>
              <a:t>HOW WE WIN — THE CAMPAIGN</a:t>
            </a:r>
            <a:endParaRPr lang="en-US" sz="850" dirty="0"/>
          </a:p>
        </p:txBody>
      </p:sp>
      <p:sp>
        <p:nvSpPr>
          <p:cNvPr id="15" name="Text 13"/>
          <p:cNvSpPr/>
          <p:nvPr/>
        </p:nvSpPr>
        <p:spPr>
          <a:xfrm>
            <a:off x="4873752" y="3401568"/>
            <a:ext cx="3831336" cy="1234440"/>
          </a:xfrm>
          <a:prstGeom prst="rect">
            <a:avLst/>
          </a:prstGeom>
          <a:noFill/>
          <a:ln/>
        </p:spPr>
        <p:txBody>
          <a:bodyPr wrap="square" lIns="0" tIns="0" rIns="0" bIns="0" rtlCol="0" anchor="ctr"/>
          <a:lstStyle/>
          <a:p>
            <a:pPr marL="171450" indent="-171450">
              <a:lnSpc>
                <a:spcPct val="125000"/>
              </a:lnSpc>
              <a:buFont typeface="Arial" panose="020B0604020202020204" pitchFamily="34" charset="0"/>
              <a:buChar char="•"/>
            </a:pPr>
            <a:r>
              <a:rPr lang="en-US" sz="1150" dirty="0">
                <a:solidFill>
                  <a:srgbClr val="4A5568"/>
                </a:solidFill>
                <a:latin typeface="Calibri" pitchFamily="34" charset="0"/>
                <a:ea typeface="Calibri" pitchFamily="34" charset="-122"/>
                <a:cs typeface="Calibri" pitchFamily="34" charset="-120"/>
              </a:rPr>
              <a:t>Campaign: 'Govern What You've Built.' Q1 launch. 90-day SQL goal: 200 enterprise-qualified leads.</a:t>
            </a:r>
            <a:endParaRPr lang="en-US" sz="1150" dirty="0"/>
          </a:p>
          <a:p>
            <a:pPr marL="171450" indent="-171450">
              <a:lnSpc>
                <a:spcPct val="125000"/>
              </a:lnSpc>
              <a:buFont typeface="Arial" panose="020B0604020202020204" pitchFamily="34" charset="0"/>
              <a:buChar char="•"/>
            </a:pPr>
            <a:r>
              <a:rPr lang="en-US" sz="1150" dirty="0">
                <a:solidFill>
                  <a:srgbClr val="4A5568"/>
                </a:solidFill>
                <a:latin typeface="Calibri" pitchFamily="34" charset="0"/>
                <a:ea typeface="Calibri" pitchFamily="34" charset="-122"/>
                <a:cs typeface="Calibri" pitchFamily="34" charset="-120"/>
              </a:rPr>
              <a:t>Land with CRO/CCO on regulatory exposure. Expand to CIO on scale and consolidation.</a:t>
            </a:r>
            <a:endParaRPr lang="en-US" sz="1150" dirty="0"/>
          </a:p>
          <a:p>
            <a:pPr marL="171450" indent="-171450">
              <a:lnSpc>
                <a:spcPct val="125000"/>
              </a:lnSpc>
              <a:buFont typeface="Arial" panose="020B0604020202020204" pitchFamily="34" charset="0"/>
              <a:buChar char="•"/>
            </a:pPr>
            <a:r>
              <a:rPr lang="en-US" sz="1150" dirty="0">
                <a:solidFill>
                  <a:srgbClr val="4A5568"/>
                </a:solidFill>
                <a:latin typeface="Calibri" pitchFamily="34" charset="0"/>
                <a:ea typeface="Calibri" pitchFamily="34" charset="-122"/>
                <a:cs typeface="Calibri" pitchFamily="34" charset="-120"/>
              </a:rPr>
              <a:t>Primary offer: Free AI Agent Governance Readiness Assessment (northstar.ai/assess).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274320"/>
            <a:ext cx="8138160" cy="914400"/>
          </a:xfrm>
          <a:prstGeom prst="rect">
            <a:avLst/>
          </a:prstGeom>
          <a:noFill/>
          <a:ln/>
        </p:spPr>
        <p:txBody>
          <a:bodyPr wrap="square" lIns="0" tIns="0" rIns="0" bIns="0" rtlCol="0" anchor="ctr"/>
          <a:lstStyle/>
          <a:p>
            <a:pPr marL="0" indent="0">
              <a:lnSpc>
                <a:spcPct val="115000"/>
              </a:lnSpc>
              <a:buNone/>
            </a:pPr>
            <a:r>
              <a:rPr lang="en-US" sz="2600" b="1" dirty="0">
                <a:solidFill>
                  <a:srgbClr val="FFFFFF"/>
                </a:solidFill>
                <a:latin typeface="Cambria" pitchFamily="34" charset="0"/>
                <a:ea typeface="Cambria" pitchFamily="34" charset="-122"/>
                <a:cs typeface="Cambria" pitchFamily="34" charset="-120"/>
              </a:rPr>
              <a:t>The AI Agent Adoption Curve Has Outpaced</a:t>
            </a:r>
            <a:endParaRPr lang="en-US" sz="2600" dirty="0"/>
          </a:p>
          <a:p>
            <a:pPr marL="0" indent="0">
              <a:lnSpc>
                <a:spcPct val="115000"/>
              </a:lnSpc>
              <a:buNone/>
            </a:pPr>
            <a:r>
              <a:rPr lang="en-US" sz="2600" b="1" dirty="0">
                <a:solidFill>
                  <a:srgbClr val="FFFFFF"/>
                </a:solidFill>
                <a:latin typeface="Cambria" pitchFamily="34" charset="0"/>
                <a:ea typeface="Cambria" pitchFamily="34" charset="-122"/>
                <a:cs typeface="Cambria" pitchFamily="34" charset="-120"/>
              </a:rPr>
              <a:t>Enterprise Control Infrastructure</a:t>
            </a:r>
            <a:endParaRPr lang="en-US" sz="2600" dirty="0"/>
          </a:p>
        </p:txBody>
      </p:sp>
      <p:sp>
        <p:nvSpPr>
          <p:cNvPr id="3" name="Text 1"/>
          <p:cNvSpPr/>
          <p:nvPr/>
        </p:nvSpPr>
        <p:spPr>
          <a:xfrm>
            <a:off x="502920" y="1261872"/>
            <a:ext cx="8138160" cy="347472"/>
          </a:xfrm>
          <a:prstGeom prst="rect">
            <a:avLst/>
          </a:prstGeom>
          <a:noFill/>
          <a:ln/>
        </p:spPr>
        <p:txBody>
          <a:bodyPr wrap="square" lIns="0" tIns="0" rIns="0" bIns="0" rtlCol="0" anchor="ctr"/>
          <a:lstStyle/>
          <a:p>
            <a:pPr marL="0" indent="0">
              <a:buNone/>
            </a:pPr>
            <a:r>
              <a:rPr lang="en-US" sz="1300" i="1" dirty="0">
                <a:solidFill>
                  <a:srgbClr val="C9DDE8"/>
                </a:solidFill>
                <a:latin typeface="Calibri" pitchFamily="34" charset="0"/>
                <a:ea typeface="Calibri" pitchFamily="34" charset="-122"/>
                <a:cs typeface="Calibri" pitchFamily="34" charset="-120"/>
              </a:rPr>
              <a:t>Financial services firms are running production AI agents without the governance infrastructure to manage them safely.</a:t>
            </a:r>
            <a:endParaRPr lang="en-US" sz="1300" dirty="0"/>
          </a:p>
        </p:txBody>
      </p:sp>
      <p:sp>
        <p:nvSpPr>
          <p:cNvPr id="4" name="Shape 2"/>
          <p:cNvSpPr/>
          <p:nvPr/>
        </p:nvSpPr>
        <p:spPr>
          <a:xfrm>
            <a:off x="457200" y="1828800"/>
            <a:ext cx="3931920" cy="1371600"/>
          </a:xfrm>
          <a:prstGeom prst="roundRect">
            <a:avLst>
              <a:gd name="adj" fmla="val 5333"/>
            </a:avLst>
          </a:prstGeom>
          <a:solidFill>
            <a:srgbClr val="243557"/>
          </a:solidFill>
          <a:ln w="12700">
            <a:solidFill>
              <a:srgbClr val="2D4060"/>
            </a:solidFill>
            <a:prstDash val="solid"/>
          </a:ln>
        </p:spPr>
        <p:txBody>
          <a:bodyPr/>
          <a:lstStyle/>
          <a:p>
            <a:endParaRPr lang="en-US"/>
          </a:p>
        </p:txBody>
      </p:sp>
      <p:sp>
        <p:nvSpPr>
          <p:cNvPr id="5" name="Text 3"/>
          <p:cNvSpPr/>
          <p:nvPr/>
        </p:nvSpPr>
        <p:spPr>
          <a:xfrm>
            <a:off x="640080" y="1938528"/>
            <a:ext cx="3657600" cy="621792"/>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73%</a:t>
            </a:r>
            <a:endParaRPr lang="en-US" sz="4000" dirty="0"/>
          </a:p>
        </p:txBody>
      </p:sp>
      <p:sp>
        <p:nvSpPr>
          <p:cNvPr id="6" name="Text 4"/>
          <p:cNvSpPr/>
          <p:nvPr/>
        </p:nvSpPr>
        <p:spPr>
          <a:xfrm>
            <a:off x="640080" y="2542032"/>
            <a:ext cx="3566160" cy="566928"/>
          </a:xfrm>
          <a:prstGeom prst="rect">
            <a:avLst/>
          </a:prstGeom>
          <a:noFill/>
          <a:ln/>
        </p:spPr>
        <p:txBody>
          <a:bodyPr wrap="square" lIns="0" tIns="0" rIns="0" bIns="0" rtlCol="0" anchor="ctr"/>
          <a:lstStyle/>
          <a:p>
            <a:pPr marL="0" indent="0">
              <a:lnSpc>
                <a:spcPct val="120000"/>
              </a:lnSpc>
              <a:buNone/>
            </a:pPr>
            <a:r>
              <a:rPr lang="en-US" sz="1100" dirty="0">
                <a:solidFill>
                  <a:srgbClr val="C9DDE8"/>
                </a:solidFill>
                <a:latin typeface="Calibri" pitchFamily="34" charset="0"/>
                <a:ea typeface="Calibri" pitchFamily="34" charset="-122"/>
                <a:cs typeface="Calibri" pitchFamily="34" charset="-120"/>
              </a:rPr>
              <a:t>of enterprise financial services</a:t>
            </a:r>
            <a:endParaRPr lang="en-US" sz="1100" dirty="0"/>
          </a:p>
          <a:p>
            <a:pPr marL="0" indent="0">
              <a:lnSpc>
                <a:spcPct val="120000"/>
              </a:lnSpc>
              <a:buNone/>
            </a:pPr>
            <a:r>
              <a:rPr lang="en-US" sz="1100" dirty="0">
                <a:solidFill>
                  <a:srgbClr val="C9DDE8"/>
                </a:solidFill>
                <a:latin typeface="Calibri" pitchFamily="34" charset="0"/>
                <a:ea typeface="Calibri" pitchFamily="34" charset="-122"/>
                <a:cs typeface="Calibri" pitchFamily="34" charset="-120"/>
              </a:rPr>
              <a:t>firms running live AI agents in production</a:t>
            </a:r>
            <a:endParaRPr lang="en-US" sz="1100" dirty="0"/>
          </a:p>
        </p:txBody>
      </p:sp>
      <p:sp>
        <p:nvSpPr>
          <p:cNvPr id="7" name="Shape 5"/>
          <p:cNvSpPr/>
          <p:nvPr/>
        </p:nvSpPr>
        <p:spPr>
          <a:xfrm>
            <a:off x="4754880" y="1828800"/>
            <a:ext cx="3931920" cy="1371600"/>
          </a:xfrm>
          <a:prstGeom prst="roundRect">
            <a:avLst>
              <a:gd name="adj" fmla="val 5333"/>
            </a:avLst>
          </a:prstGeom>
          <a:solidFill>
            <a:srgbClr val="243557"/>
          </a:solidFill>
          <a:ln w="12700">
            <a:solidFill>
              <a:srgbClr val="2D4060"/>
            </a:solidFill>
            <a:prstDash val="solid"/>
          </a:ln>
        </p:spPr>
        <p:txBody>
          <a:bodyPr/>
          <a:lstStyle/>
          <a:p>
            <a:endParaRPr lang="en-US"/>
          </a:p>
        </p:txBody>
      </p:sp>
      <p:sp>
        <p:nvSpPr>
          <p:cNvPr id="8" name="Text 6"/>
          <p:cNvSpPr/>
          <p:nvPr/>
        </p:nvSpPr>
        <p:spPr>
          <a:xfrm>
            <a:off x="4937760" y="1938528"/>
            <a:ext cx="3657600" cy="621792"/>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61%</a:t>
            </a:r>
            <a:endParaRPr lang="en-US" sz="4000" dirty="0"/>
          </a:p>
        </p:txBody>
      </p:sp>
      <p:sp>
        <p:nvSpPr>
          <p:cNvPr id="9" name="Text 7"/>
          <p:cNvSpPr/>
          <p:nvPr/>
        </p:nvSpPr>
        <p:spPr>
          <a:xfrm>
            <a:off x="4937760" y="2542032"/>
            <a:ext cx="3566160" cy="566928"/>
          </a:xfrm>
          <a:prstGeom prst="rect">
            <a:avLst/>
          </a:prstGeom>
          <a:noFill/>
          <a:ln/>
        </p:spPr>
        <p:txBody>
          <a:bodyPr wrap="square" lIns="0" tIns="0" rIns="0" bIns="0" rtlCol="0" anchor="ctr"/>
          <a:lstStyle/>
          <a:p>
            <a:pPr marL="0" indent="0">
              <a:lnSpc>
                <a:spcPct val="120000"/>
              </a:lnSpc>
              <a:buNone/>
            </a:pPr>
            <a:r>
              <a:rPr lang="en-US" sz="1100" dirty="0">
                <a:solidFill>
                  <a:srgbClr val="C9DDE8"/>
                </a:solidFill>
                <a:latin typeface="Calibri" pitchFamily="34" charset="0"/>
                <a:ea typeface="Calibri" pitchFamily="34" charset="-122"/>
                <a:cs typeface="Calibri" pitchFamily="34" charset="-120"/>
              </a:rPr>
              <a:t>have no formal AI agent monitoring</a:t>
            </a:r>
            <a:endParaRPr lang="en-US" sz="1100" dirty="0"/>
          </a:p>
          <a:p>
            <a:pPr marL="0" indent="0">
              <a:lnSpc>
                <a:spcPct val="120000"/>
              </a:lnSpc>
              <a:buNone/>
            </a:pPr>
            <a:r>
              <a:rPr lang="en-US" sz="1100" dirty="0">
                <a:solidFill>
                  <a:srgbClr val="C9DDE8"/>
                </a:solidFill>
                <a:latin typeface="Calibri" pitchFamily="34" charset="0"/>
                <a:ea typeface="Calibri" pitchFamily="34" charset="-122"/>
                <a:cs typeface="Calibri" pitchFamily="34" charset="-120"/>
              </a:rPr>
              <a:t>or observability program in place</a:t>
            </a:r>
            <a:endParaRPr lang="en-US" sz="1100" dirty="0"/>
          </a:p>
        </p:txBody>
      </p:sp>
      <p:sp>
        <p:nvSpPr>
          <p:cNvPr id="10" name="Shape 8"/>
          <p:cNvSpPr/>
          <p:nvPr/>
        </p:nvSpPr>
        <p:spPr>
          <a:xfrm>
            <a:off x="457200" y="3383280"/>
            <a:ext cx="3931920" cy="1371600"/>
          </a:xfrm>
          <a:prstGeom prst="roundRect">
            <a:avLst>
              <a:gd name="adj" fmla="val 5333"/>
            </a:avLst>
          </a:prstGeom>
          <a:solidFill>
            <a:srgbClr val="0D7B8A"/>
          </a:solidFill>
          <a:ln w="12700">
            <a:solidFill>
              <a:srgbClr val="0D7B8A"/>
            </a:solidFill>
            <a:prstDash val="solid"/>
          </a:ln>
        </p:spPr>
        <p:txBody>
          <a:bodyPr/>
          <a:lstStyle/>
          <a:p>
            <a:endParaRPr lang="en-US"/>
          </a:p>
        </p:txBody>
      </p:sp>
      <p:sp>
        <p:nvSpPr>
          <p:cNvPr id="11" name="Text 9"/>
          <p:cNvSpPr/>
          <p:nvPr/>
        </p:nvSpPr>
        <p:spPr>
          <a:xfrm>
            <a:off x="640080" y="3493008"/>
            <a:ext cx="3657600" cy="621792"/>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48%</a:t>
            </a:r>
            <a:endParaRPr lang="en-US" sz="4000" dirty="0"/>
          </a:p>
        </p:txBody>
      </p:sp>
      <p:sp>
        <p:nvSpPr>
          <p:cNvPr id="12" name="Text 10"/>
          <p:cNvSpPr/>
          <p:nvPr/>
        </p:nvSpPr>
        <p:spPr>
          <a:xfrm>
            <a:off x="640080" y="4096512"/>
            <a:ext cx="3566160" cy="566928"/>
          </a:xfrm>
          <a:prstGeom prst="rect">
            <a:avLst/>
          </a:prstGeom>
          <a:noFill/>
          <a:ln/>
        </p:spPr>
        <p:txBody>
          <a:bodyPr wrap="square" lIns="0" tIns="0" rIns="0" bIns="0" rtlCol="0" anchor="ctr"/>
          <a:lstStyle/>
          <a:p>
            <a:pPr marL="0" indent="0">
              <a:lnSpc>
                <a:spcPct val="120000"/>
              </a:lnSpc>
              <a:buNone/>
            </a:pPr>
            <a:r>
              <a:rPr lang="en-US" sz="1100" dirty="0">
                <a:solidFill>
                  <a:srgbClr val="C9DDE8"/>
                </a:solidFill>
                <a:latin typeface="Calibri" pitchFamily="34" charset="0"/>
                <a:ea typeface="Calibri" pitchFamily="34" charset="-122"/>
                <a:cs typeface="Calibri" pitchFamily="34" charset="-120"/>
              </a:rPr>
              <a:t>cannot produce a complete</a:t>
            </a:r>
            <a:endParaRPr lang="en-US" sz="1100" dirty="0"/>
          </a:p>
          <a:p>
            <a:pPr marL="0" indent="0">
              <a:lnSpc>
                <a:spcPct val="120000"/>
              </a:lnSpc>
              <a:buNone/>
            </a:pPr>
            <a:r>
              <a:rPr lang="en-US" sz="1100" dirty="0">
                <a:solidFill>
                  <a:srgbClr val="C9DDE8"/>
                </a:solidFill>
                <a:latin typeface="Calibri" pitchFamily="34" charset="0"/>
                <a:ea typeface="Calibri" pitchFamily="34" charset="-122"/>
                <a:cs typeface="Calibri" pitchFamily="34" charset="-120"/>
              </a:rPr>
              <a:t>regulatory audit trail on demand</a:t>
            </a:r>
            <a:endParaRPr lang="en-US" sz="1100" dirty="0"/>
          </a:p>
        </p:txBody>
      </p:sp>
      <p:sp>
        <p:nvSpPr>
          <p:cNvPr id="13" name="Shape 11"/>
          <p:cNvSpPr/>
          <p:nvPr/>
        </p:nvSpPr>
        <p:spPr>
          <a:xfrm>
            <a:off x="4754880" y="3383280"/>
            <a:ext cx="3931920" cy="1371600"/>
          </a:xfrm>
          <a:prstGeom prst="roundRect">
            <a:avLst>
              <a:gd name="adj" fmla="val 5333"/>
            </a:avLst>
          </a:prstGeom>
          <a:solidFill>
            <a:srgbClr val="0D7B8A"/>
          </a:solidFill>
          <a:ln w="12700">
            <a:solidFill>
              <a:srgbClr val="0D7B8A"/>
            </a:solidFill>
            <a:prstDash val="solid"/>
          </a:ln>
        </p:spPr>
        <p:txBody>
          <a:bodyPr/>
          <a:lstStyle/>
          <a:p>
            <a:endParaRPr lang="en-US"/>
          </a:p>
        </p:txBody>
      </p:sp>
      <p:sp>
        <p:nvSpPr>
          <p:cNvPr id="14" name="Text 12"/>
          <p:cNvSpPr/>
          <p:nvPr/>
        </p:nvSpPr>
        <p:spPr>
          <a:xfrm>
            <a:off x="4937760" y="3493008"/>
            <a:ext cx="3657600" cy="621792"/>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$4.2M</a:t>
            </a:r>
            <a:endParaRPr lang="en-US" sz="4000" dirty="0"/>
          </a:p>
        </p:txBody>
      </p:sp>
      <p:sp>
        <p:nvSpPr>
          <p:cNvPr id="15" name="Text 13"/>
          <p:cNvSpPr/>
          <p:nvPr/>
        </p:nvSpPr>
        <p:spPr>
          <a:xfrm>
            <a:off x="4937760" y="4096512"/>
            <a:ext cx="3566160" cy="566928"/>
          </a:xfrm>
          <a:prstGeom prst="rect">
            <a:avLst/>
          </a:prstGeom>
          <a:noFill/>
          <a:ln/>
        </p:spPr>
        <p:txBody>
          <a:bodyPr wrap="square" lIns="0" tIns="0" rIns="0" bIns="0" rtlCol="0" anchor="ctr"/>
          <a:lstStyle/>
          <a:p>
            <a:pPr marL="0" indent="0">
              <a:lnSpc>
                <a:spcPct val="120000"/>
              </a:lnSpc>
              <a:buNone/>
            </a:pPr>
            <a:r>
              <a:rPr lang="en-US" sz="1100" dirty="0">
                <a:solidFill>
                  <a:srgbClr val="C9DDE8"/>
                </a:solidFill>
                <a:latin typeface="Calibri" pitchFamily="34" charset="0"/>
                <a:ea typeface="Calibri" pitchFamily="34" charset="-122"/>
                <a:cs typeface="Calibri" pitchFamily="34" charset="-120"/>
              </a:rPr>
              <a:t>average cost of an AI-related</a:t>
            </a:r>
            <a:endParaRPr lang="en-US" sz="1100" dirty="0"/>
          </a:p>
          <a:p>
            <a:pPr marL="0" indent="0">
              <a:lnSpc>
                <a:spcPct val="120000"/>
              </a:lnSpc>
              <a:buNone/>
            </a:pPr>
            <a:r>
              <a:rPr lang="en-US" sz="1100" dirty="0">
                <a:solidFill>
                  <a:srgbClr val="C9DDE8"/>
                </a:solidFill>
                <a:latin typeface="Calibri" pitchFamily="34" charset="0"/>
                <a:ea typeface="Calibri" pitchFamily="34" charset="-122"/>
                <a:cs typeface="Calibri" pitchFamily="34" charset="-120"/>
              </a:rPr>
              <a:t>compliance incident in financial services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75488"/>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Regulators Are Watching.</a:t>
            </a:r>
            <a:endParaRPr lang="en-US" sz="2800" dirty="0"/>
          </a:p>
        </p:txBody>
      </p:sp>
      <p:sp>
        <p:nvSpPr>
          <p:cNvPr id="3" name="Text 1"/>
          <p:cNvSpPr/>
          <p:nvPr/>
        </p:nvSpPr>
        <p:spPr>
          <a:xfrm>
            <a:off x="457200" y="758952"/>
            <a:ext cx="7315200" cy="292608"/>
          </a:xfrm>
          <a:prstGeom prst="rect">
            <a:avLst/>
          </a:prstGeom>
          <a:noFill/>
          <a:ln/>
        </p:spPr>
        <p:txBody>
          <a:bodyPr wrap="square" lIns="0" tIns="0" rIns="0" bIns="0" rtlCol="0" anchor="ctr"/>
          <a:lstStyle/>
          <a:p>
            <a:pPr marL="0" indent="0">
              <a:buNone/>
            </a:pPr>
            <a:r>
              <a:rPr lang="en-US" sz="1400" i="1" dirty="0">
                <a:solidFill>
                  <a:srgbClr val="6B7A8D"/>
                </a:solidFill>
                <a:latin typeface="Calibri" pitchFamily="34" charset="0"/>
                <a:ea typeface="Calibri" pitchFamily="34" charset="-122"/>
                <a:cs typeface="Calibri" pitchFamily="34" charset="-120"/>
              </a:rPr>
              <a:t>The window to get ahead of governance requirements is closing fast.</a:t>
            </a:r>
            <a:endParaRPr lang="en-US" sz="1400" dirty="0"/>
          </a:p>
        </p:txBody>
      </p:sp>
      <p:sp>
        <p:nvSpPr>
          <p:cNvPr id="4" name="Text 2"/>
          <p:cNvSpPr/>
          <p:nvPr/>
        </p:nvSpPr>
        <p:spPr>
          <a:xfrm>
            <a:off x="457200" y="1234440"/>
            <a:ext cx="5303520" cy="256032"/>
          </a:xfrm>
          <a:prstGeom prst="rect">
            <a:avLst/>
          </a:prstGeom>
          <a:noFill/>
          <a:ln/>
        </p:spPr>
        <p:txBody>
          <a:bodyPr wrap="square" lIns="0" tIns="0" rIns="0" bIns="0" rtlCol="0" anchor="ctr"/>
          <a:lstStyle/>
          <a:p>
            <a:pPr marL="0" indent="0">
              <a:buNone/>
            </a:pPr>
            <a:r>
              <a:rPr lang="en-US" sz="900" b="1" kern="0" spc="200" dirty="0">
                <a:solidFill>
                  <a:srgbClr val="0D7B8A"/>
                </a:solidFill>
                <a:latin typeface="Calibri" pitchFamily="34" charset="0"/>
                <a:ea typeface="Calibri" pitchFamily="34" charset="-122"/>
                <a:cs typeface="Calibri" pitchFamily="34" charset="-120"/>
              </a:rPr>
              <a:t>REGULATORY ENVIRONMENT</a:t>
            </a:r>
            <a:endParaRPr lang="en-US" sz="900" dirty="0"/>
          </a:p>
        </p:txBody>
      </p:sp>
      <p:sp>
        <p:nvSpPr>
          <p:cNvPr id="5" name="Shape 3"/>
          <p:cNvSpPr/>
          <p:nvPr/>
        </p:nvSpPr>
        <p:spPr>
          <a:xfrm>
            <a:off x="457200" y="1600200"/>
            <a:ext cx="5303520" cy="704088"/>
          </a:xfrm>
          <a:prstGeom prst="roundRect">
            <a:avLst>
              <a:gd name="adj" fmla="val 7792"/>
            </a:avLst>
          </a:prstGeom>
          <a:solidFill>
            <a:srgbClr val="FEF3C7"/>
          </a:solidFill>
          <a:ln w="12700">
            <a:solidFill>
              <a:srgbClr val="D97706"/>
            </a:solidFill>
            <a:prstDash val="solid"/>
          </a:ln>
          <a:effectLst>
            <a:outerShdw blurRad="101600" dist="38100" dir="2700000" algn="bl" rotWithShape="0">
              <a:srgbClr val="000000">
                <a:alpha val="10000"/>
              </a:srgbClr>
            </a:outerShdw>
          </a:effectLst>
        </p:spPr>
        <p:txBody>
          <a:bodyPr/>
          <a:lstStyle/>
          <a:p>
            <a:endParaRPr lang="en-US"/>
          </a:p>
        </p:txBody>
      </p:sp>
      <p:sp>
        <p:nvSpPr>
          <p:cNvPr id="6" name="Text 4"/>
          <p:cNvSpPr/>
          <p:nvPr/>
        </p:nvSpPr>
        <p:spPr>
          <a:xfrm>
            <a:off x="621792" y="1691640"/>
            <a:ext cx="3200400" cy="219456"/>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EU AI Act</a:t>
            </a:r>
            <a:endParaRPr lang="en-US" sz="1200" dirty="0"/>
          </a:p>
        </p:txBody>
      </p:sp>
      <p:sp>
        <p:nvSpPr>
          <p:cNvPr id="7" name="Text 5"/>
          <p:cNvSpPr/>
          <p:nvPr/>
        </p:nvSpPr>
        <p:spPr>
          <a:xfrm>
            <a:off x="621792" y="1691640"/>
            <a:ext cx="4937760" cy="219456"/>
          </a:xfrm>
          <a:prstGeom prst="rect">
            <a:avLst/>
          </a:prstGeom>
          <a:noFill/>
          <a:ln/>
        </p:spPr>
        <p:txBody>
          <a:bodyPr wrap="square" lIns="0" tIns="0" rIns="0" bIns="0" rtlCol="0" anchor="ctr"/>
          <a:lstStyle/>
          <a:p>
            <a:pPr marL="0" indent="0" algn="r">
              <a:buNone/>
            </a:pPr>
            <a:r>
              <a:rPr lang="en-US" sz="1000" dirty="0">
                <a:solidFill>
                  <a:srgbClr val="0D7B8A"/>
                </a:solidFill>
                <a:latin typeface="Calibri" pitchFamily="34" charset="0"/>
                <a:ea typeface="Calibri" pitchFamily="34" charset="-122"/>
                <a:cs typeface="Calibri" pitchFamily="34" charset="-120"/>
              </a:rPr>
              <a:t>Effective August 2026</a:t>
            </a:r>
            <a:endParaRPr lang="en-US" sz="1000" dirty="0"/>
          </a:p>
        </p:txBody>
      </p:sp>
      <p:sp>
        <p:nvSpPr>
          <p:cNvPr id="8" name="Text 6"/>
          <p:cNvSpPr/>
          <p:nvPr/>
        </p:nvSpPr>
        <p:spPr>
          <a:xfrm>
            <a:off x="621792" y="1929384"/>
            <a:ext cx="5029200" cy="329184"/>
          </a:xfrm>
          <a:prstGeom prst="rect">
            <a:avLst/>
          </a:prstGeom>
          <a:noFill/>
          <a:ln/>
        </p:spPr>
        <p:txBody>
          <a:bodyPr wrap="square" lIns="0" tIns="0" rIns="0" bIns="0" rtlCol="0" anchor="ctr"/>
          <a:lstStyle/>
          <a:p>
            <a:pPr marL="0" indent="0">
              <a:lnSpc>
                <a:spcPct val="115000"/>
              </a:lnSpc>
              <a:buNone/>
            </a:pPr>
            <a:r>
              <a:rPr lang="en-US" sz="950" dirty="0">
                <a:solidFill>
                  <a:srgbClr val="4A5568"/>
                </a:solidFill>
                <a:latin typeface="Calibri" pitchFamily="34" charset="0"/>
                <a:ea typeface="Calibri" pitchFamily="34" charset="-122"/>
                <a:cs typeface="Calibri" pitchFamily="34" charset="-120"/>
              </a:rPr>
              <a:t>Mandatory risk classification and documentation for AI systems in financial services. High-risk AI systems require conformity assessments and registration.</a:t>
            </a:r>
            <a:endParaRPr lang="en-US" sz="950" dirty="0"/>
          </a:p>
        </p:txBody>
      </p:sp>
      <p:sp>
        <p:nvSpPr>
          <p:cNvPr id="9" name="Shape 7"/>
          <p:cNvSpPr/>
          <p:nvPr/>
        </p:nvSpPr>
        <p:spPr>
          <a:xfrm>
            <a:off x="457200" y="2395728"/>
            <a:ext cx="5303520" cy="704088"/>
          </a:xfrm>
          <a:prstGeom prst="roundRect">
            <a:avLst>
              <a:gd name="adj" fmla="val 7792"/>
            </a:avLst>
          </a:prstGeom>
          <a:solidFill>
            <a:srgbClr val="FFFFFF"/>
          </a:solidFill>
          <a:ln w="12700">
            <a:solidFill>
              <a:srgbClr val="C9DDE8"/>
            </a:solidFill>
            <a:prstDash val="solid"/>
          </a:ln>
          <a:effectLst>
            <a:outerShdw blurRad="101600" dist="38100" dir="2700000" algn="bl" rotWithShape="0">
              <a:srgbClr val="000000">
                <a:alpha val="10000"/>
              </a:srgbClr>
            </a:outerShdw>
          </a:effectLst>
        </p:spPr>
        <p:txBody>
          <a:bodyPr/>
          <a:lstStyle/>
          <a:p>
            <a:endParaRPr lang="en-US"/>
          </a:p>
        </p:txBody>
      </p:sp>
      <p:sp>
        <p:nvSpPr>
          <p:cNvPr id="10" name="Text 8"/>
          <p:cNvSpPr/>
          <p:nvPr/>
        </p:nvSpPr>
        <p:spPr>
          <a:xfrm>
            <a:off x="621792" y="2487168"/>
            <a:ext cx="3200400" cy="219456"/>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OCC Model Risk Management</a:t>
            </a:r>
            <a:endParaRPr lang="en-US" sz="1200" dirty="0"/>
          </a:p>
        </p:txBody>
      </p:sp>
      <p:sp>
        <p:nvSpPr>
          <p:cNvPr id="11" name="Text 9"/>
          <p:cNvSpPr/>
          <p:nvPr/>
        </p:nvSpPr>
        <p:spPr>
          <a:xfrm>
            <a:off x="621792" y="2487168"/>
            <a:ext cx="4937760" cy="219456"/>
          </a:xfrm>
          <a:prstGeom prst="rect">
            <a:avLst/>
          </a:prstGeom>
          <a:noFill/>
          <a:ln/>
        </p:spPr>
        <p:txBody>
          <a:bodyPr wrap="square" lIns="0" tIns="0" rIns="0" bIns="0" rtlCol="0" anchor="ctr"/>
          <a:lstStyle/>
          <a:p>
            <a:pPr marL="0" indent="0" algn="r">
              <a:buNone/>
            </a:pPr>
            <a:r>
              <a:rPr lang="en-US" sz="1000" dirty="0">
                <a:solidFill>
                  <a:srgbClr val="0D7B8A"/>
                </a:solidFill>
                <a:latin typeface="Calibri" pitchFamily="34" charset="0"/>
                <a:ea typeface="Calibri" pitchFamily="34" charset="-122"/>
                <a:cs typeface="Calibri" pitchFamily="34" charset="-120"/>
              </a:rPr>
              <a:t>Updated Guidance, 2024</a:t>
            </a:r>
            <a:endParaRPr lang="en-US" sz="1000" dirty="0"/>
          </a:p>
        </p:txBody>
      </p:sp>
      <p:sp>
        <p:nvSpPr>
          <p:cNvPr id="12" name="Text 10"/>
          <p:cNvSpPr/>
          <p:nvPr/>
        </p:nvSpPr>
        <p:spPr>
          <a:xfrm>
            <a:off x="621792" y="2724912"/>
            <a:ext cx="5029200" cy="329184"/>
          </a:xfrm>
          <a:prstGeom prst="rect">
            <a:avLst/>
          </a:prstGeom>
          <a:noFill/>
          <a:ln/>
        </p:spPr>
        <p:txBody>
          <a:bodyPr wrap="square" lIns="0" tIns="0" rIns="0" bIns="0" rtlCol="0" anchor="ctr"/>
          <a:lstStyle/>
          <a:p>
            <a:pPr marL="0" indent="0">
              <a:lnSpc>
                <a:spcPct val="115000"/>
              </a:lnSpc>
              <a:buNone/>
            </a:pPr>
            <a:r>
              <a:rPr lang="en-US" sz="950" dirty="0">
                <a:solidFill>
                  <a:srgbClr val="4A5568"/>
                </a:solidFill>
                <a:latin typeface="Calibri" pitchFamily="34" charset="0"/>
                <a:ea typeface="Calibri" pitchFamily="34" charset="-122"/>
                <a:cs typeface="Calibri" pitchFamily="34" charset="-120"/>
              </a:rPr>
              <a:t>Explicitly includes AI agents in model risk frameworks. Banks required to demonstrate agent oversight and validation processes.</a:t>
            </a:r>
            <a:endParaRPr lang="en-US" sz="950" dirty="0"/>
          </a:p>
        </p:txBody>
      </p:sp>
      <p:sp>
        <p:nvSpPr>
          <p:cNvPr id="13" name="Shape 11"/>
          <p:cNvSpPr/>
          <p:nvPr/>
        </p:nvSpPr>
        <p:spPr>
          <a:xfrm>
            <a:off x="457200" y="3191256"/>
            <a:ext cx="5303520" cy="704088"/>
          </a:xfrm>
          <a:prstGeom prst="roundRect">
            <a:avLst>
              <a:gd name="adj" fmla="val 7792"/>
            </a:avLst>
          </a:prstGeom>
          <a:solidFill>
            <a:srgbClr val="FFFFFF"/>
          </a:solidFill>
          <a:ln w="12700">
            <a:solidFill>
              <a:srgbClr val="C9DDE8"/>
            </a:solidFill>
            <a:prstDash val="solid"/>
          </a:ln>
          <a:effectLst>
            <a:outerShdw blurRad="101600" dist="38100" dir="2700000" algn="bl" rotWithShape="0">
              <a:srgbClr val="000000">
                <a:alpha val="10000"/>
              </a:srgbClr>
            </a:outerShdw>
          </a:effectLst>
        </p:spPr>
        <p:txBody>
          <a:bodyPr/>
          <a:lstStyle/>
          <a:p>
            <a:endParaRPr lang="en-US"/>
          </a:p>
        </p:txBody>
      </p:sp>
      <p:sp>
        <p:nvSpPr>
          <p:cNvPr id="14" name="Text 12"/>
          <p:cNvSpPr/>
          <p:nvPr/>
        </p:nvSpPr>
        <p:spPr>
          <a:xfrm>
            <a:off x="621792" y="3282696"/>
            <a:ext cx="3200400" cy="219456"/>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FCA AI Strategy</a:t>
            </a:r>
            <a:endParaRPr lang="en-US" sz="1200" dirty="0"/>
          </a:p>
        </p:txBody>
      </p:sp>
      <p:sp>
        <p:nvSpPr>
          <p:cNvPr id="15" name="Text 13"/>
          <p:cNvSpPr/>
          <p:nvPr/>
        </p:nvSpPr>
        <p:spPr>
          <a:xfrm>
            <a:off x="621792" y="3282696"/>
            <a:ext cx="4937760" cy="219456"/>
          </a:xfrm>
          <a:prstGeom prst="rect">
            <a:avLst/>
          </a:prstGeom>
          <a:noFill/>
          <a:ln/>
        </p:spPr>
        <p:txBody>
          <a:bodyPr wrap="square" lIns="0" tIns="0" rIns="0" bIns="0" rtlCol="0" anchor="ctr"/>
          <a:lstStyle/>
          <a:p>
            <a:pPr marL="0" indent="0" algn="r">
              <a:buNone/>
            </a:pPr>
            <a:r>
              <a:rPr lang="en-US" sz="1000" dirty="0">
                <a:solidFill>
                  <a:srgbClr val="0D7B8A"/>
                </a:solidFill>
                <a:latin typeface="Calibri" pitchFamily="34" charset="0"/>
                <a:ea typeface="Calibri" pitchFamily="34" charset="-122"/>
                <a:cs typeface="Calibri" pitchFamily="34" charset="-120"/>
              </a:rPr>
              <a:t>UK, 2025</a:t>
            </a:r>
            <a:endParaRPr lang="en-US" sz="1000" dirty="0"/>
          </a:p>
        </p:txBody>
      </p:sp>
      <p:sp>
        <p:nvSpPr>
          <p:cNvPr id="16" name="Text 14"/>
          <p:cNvSpPr/>
          <p:nvPr/>
        </p:nvSpPr>
        <p:spPr>
          <a:xfrm>
            <a:off x="621792" y="3520440"/>
            <a:ext cx="5029200" cy="329184"/>
          </a:xfrm>
          <a:prstGeom prst="rect">
            <a:avLst/>
          </a:prstGeom>
          <a:noFill/>
          <a:ln/>
        </p:spPr>
        <p:txBody>
          <a:bodyPr wrap="square" lIns="0" tIns="0" rIns="0" bIns="0" rtlCol="0" anchor="ctr"/>
          <a:lstStyle/>
          <a:p>
            <a:pPr marL="0" indent="0">
              <a:lnSpc>
                <a:spcPct val="115000"/>
              </a:lnSpc>
              <a:buNone/>
            </a:pPr>
            <a:r>
              <a:rPr lang="en-US" sz="950" dirty="0">
                <a:solidFill>
                  <a:srgbClr val="4A5568"/>
                </a:solidFill>
                <a:latin typeface="Calibri" pitchFamily="34" charset="0"/>
                <a:ea typeface="Calibri" pitchFamily="34" charset="-122"/>
                <a:cs typeface="Calibri" pitchFamily="34" charset="-120"/>
              </a:rPr>
              <a:t>Requires firms to demonstrate explainable AI decision-making. Consumer Duty intersects with AI-driven customer service agents.</a:t>
            </a:r>
            <a:endParaRPr lang="en-US" sz="950" dirty="0"/>
          </a:p>
        </p:txBody>
      </p:sp>
      <p:sp>
        <p:nvSpPr>
          <p:cNvPr id="17" name="Shape 15"/>
          <p:cNvSpPr/>
          <p:nvPr/>
        </p:nvSpPr>
        <p:spPr>
          <a:xfrm>
            <a:off x="457200" y="3986784"/>
            <a:ext cx="5303520" cy="704088"/>
          </a:xfrm>
          <a:prstGeom prst="roundRect">
            <a:avLst>
              <a:gd name="adj" fmla="val 7792"/>
            </a:avLst>
          </a:prstGeom>
          <a:solidFill>
            <a:srgbClr val="FFFFFF"/>
          </a:solidFill>
          <a:ln w="12700">
            <a:solidFill>
              <a:srgbClr val="C9DDE8"/>
            </a:solidFill>
            <a:prstDash val="solid"/>
          </a:ln>
          <a:effectLst>
            <a:outerShdw blurRad="101600" dist="38100" dir="2700000" algn="bl" rotWithShape="0">
              <a:srgbClr val="000000">
                <a:alpha val="10000"/>
              </a:srgbClr>
            </a:outerShdw>
          </a:effectLst>
        </p:spPr>
        <p:txBody>
          <a:bodyPr/>
          <a:lstStyle/>
          <a:p>
            <a:endParaRPr lang="en-US"/>
          </a:p>
        </p:txBody>
      </p:sp>
      <p:sp>
        <p:nvSpPr>
          <p:cNvPr id="18" name="Text 16"/>
          <p:cNvSpPr/>
          <p:nvPr/>
        </p:nvSpPr>
        <p:spPr>
          <a:xfrm>
            <a:off x="621792" y="4078224"/>
            <a:ext cx="3200400" cy="219456"/>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MAS AI Governance Framework</a:t>
            </a:r>
            <a:endParaRPr lang="en-US" sz="1200" dirty="0"/>
          </a:p>
        </p:txBody>
      </p:sp>
      <p:sp>
        <p:nvSpPr>
          <p:cNvPr id="19" name="Text 17"/>
          <p:cNvSpPr/>
          <p:nvPr/>
        </p:nvSpPr>
        <p:spPr>
          <a:xfrm>
            <a:off x="621792" y="4078224"/>
            <a:ext cx="4937760" cy="219456"/>
          </a:xfrm>
          <a:prstGeom prst="rect">
            <a:avLst/>
          </a:prstGeom>
          <a:noFill/>
          <a:ln/>
        </p:spPr>
        <p:txBody>
          <a:bodyPr wrap="square" lIns="0" tIns="0" rIns="0" bIns="0" rtlCol="0" anchor="ctr"/>
          <a:lstStyle/>
          <a:p>
            <a:pPr marL="0" indent="0" algn="r">
              <a:buNone/>
            </a:pPr>
            <a:r>
              <a:rPr lang="en-US" sz="1000" dirty="0">
                <a:solidFill>
                  <a:srgbClr val="0D7B8A"/>
                </a:solidFill>
                <a:latin typeface="Calibri" pitchFamily="34" charset="0"/>
                <a:ea typeface="Calibri" pitchFamily="34" charset="-122"/>
                <a:cs typeface="Calibri" pitchFamily="34" charset="-120"/>
              </a:rPr>
              <a:t>Singapore</a:t>
            </a:r>
            <a:endParaRPr lang="en-US" sz="1000" dirty="0"/>
          </a:p>
        </p:txBody>
      </p:sp>
      <p:sp>
        <p:nvSpPr>
          <p:cNvPr id="20" name="Text 18"/>
          <p:cNvSpPr/>
          <p:nvPr/>
        </p:nvSpPr>
        <p:spPr>
          <a:xfrm>
            <a:off x="621792" y="4315968"/>
            <a:ext cx="5029200" cy="329184"/>
          </a:xfrm>
          <a:prstGeom prst="rect">
            <a:avLst/>
          </a:prstGeom>
          <a:noFill/>
          <a:ln/>
        </p:spPr>
        <p:txBody>
          <a:bodyPr wrap="square" lIns="0" tIns="0" rIns="0" bIns="0" rtlCol="0" anchor="ctr"/>
          <a:lstStyle/>
          <a:p>
            <a:pPr marL="0" indent="0">
              <a:lnSpc>
                <a:spcPct val="115000"/>
              </a:lnSpc>
              <a:buNone/>
            </a:pPr>
            <a:r>
              <a:rPr lang="en-US" sz="950" dirty="0">
                <a:solidFill>
                  <a:srgbClr val="4A5568"/>
                </a:solidFill>
                <a:latin typeface="Calibri" pitchFamily="34" charset="0"/>
                <a:ea typeface="Calibri" pitchFamily="34" charset="-122"/>
                <a:cs typeface="Calibri" pitchFamily="34" charset="-120"/>
              </a:rPr>
              <a:t>Board-level accountability for AI systems. Requires internal governance committees with documented oversight responsibilities.</a:t>
            </a:r>
            <a:endParaRPr lang="en-US" sz="950" dirty="0"/>
          </a:p>
        </p:txBody>
      </p:sp>
      <p:sp>
        <p:nvSpPr>
          <p:cNvPr id="21" name="Text 19"/>
          <p:cNvSpPr/>
          <p:nvPr/>
        </p:nvSpPr>
        <p:spPr>
          <a:xfrm>
            <a:off x="6035040" y="1234440"/>
            <a:ext cx="2834640" cy="256032"/>
          </a:xfrm>
          <a:prstGeom prst="rect">
            <a:avLst/>
          </a:prstGeom>
          <a:noFill/>
          <a:ln/>
        </p:spPr>
        <p:txBody>
          <a:bodyPr wrap="square" lIns="0" tIns="0" rIns="0" bIns="0" rtlCol="0" anchor="ctr"/>
          <a:lstStyle/>
          <a:p>
            <a:pPr marL="0" indent="0">
              <a:buNone/>
            </a:pPr>
            <a:r>
              <a:rPr lang="en-US" sz="900" b="1" kern="0" spc="200" dirty="0">
                <a:solidFill>
                  <a:srgbClr val="0D7B8A"/>
                </a:solidFill>
                <a:latin typeface="Calibri" pitchFamily="34" charset="0"/>
                <a:ea typeface="Calibri" pitchFamily="34" charset="-122"/>
                <a:cs typeface="Calibri" pitchFamily="34" charset="-120"/>
              </a:rPr>
              <a:t>MARKET PRESSURE</a:t>
            </a:r>
            <a:endParaRPr lang="en-US" sz="900" dirty="0"/>
          </a:p>
        </p:txBody>
      </p:sp>
      <p:sp>
        <p:nvSpPr>
          <p:cNvPr id="22" name="Shape 20"/>
          <p:cNvSpPr/>
          <p:nvPr/>
        </p:nvSpPr>
        <p:spPr>
          <a:xfrm>
            <a:off x="6035040" y="1600200"/>
            <a:ext cx="2834640" cy="3200400"/>
          </a:xfrm>
          <a:prstGeom prst="roundRect">
            <a:avLst>
              <a:gd name="adj" fmla="val 2581"/>
            </a:avLst>
          </a:prstGeom>
          <a:solidFill>
            <a:srgbClr val="FFFFFF"/>
          </a:solidFill>
          <a:ln w="12700">
            <a:solidFill>
              <a:srgbClr val="C9DDE8"/>
            </a:solidFill>
            <a:prstDash val="solid"/>
          </a:ln>
          <a:effectLst>
            <a:outerShdw blurRad="101600" dist="38100" dir="2700000" algn="bl" rotWithShape="0">
              <a:srgbClr val="000000">
                <a:alpha val="10000"/>
              </a:srgbClr>
            </a:outerShdw>
          </a:effectLst>
        </p:spPr>
        <p:txBody>
          <a:bodyPr/>
          <a:lstStyle/>
          <a:p>
            <a:endParaRPr lang="en-US"/>
          </a:p>
        </p:txBody>
      </p:sp>
      <p:sp>
        <p:nvSpPr>
          <p:cNvPr id="23" name="Text 21"/>
          <p:cNvSpPr/>
          <p:nvPr/>
        </p:nvSpPr>
        <p:spPr>
          <a:xfrm>
            <a:off x="6172200" y="1737360"/>
            <a:ext cx="2560320" cy="548640"/>
          </a:xfrm>
          <a:prstGeom prst="rect">
            <a:avLst/>
          </a:prstGeom>
          <a:noFill/>
          <a:ln/>
        </p:spPr>
        <p:txBody>
          <a:bodyPr wrap="square" lIns="0" tIns="0" rIns="0" bIns="0" rtlCol="0" anchor="ctr"/>
          <a:lstStyle/>
          <a:p>
            <a:pPr marL="0" indent="0">
              <a:lnSpc>
                <a:spcPct val="110000"/>
              </a:lnSpc>
              <a:buNone/>
            </a:pPr>
            <a:r>
              <a:rPr lang="en-US" sz="1300" b="1" dirty="0">
                <a:solidFill>
                  <a:srgbClr val="1B2A4A"/>
                </a:solidFill>
                <a:latin typeface="Cambria" pitchFamily="34" charset="0"/>
                <a:ea typeface="Cambria" pitchFamily="34" charset="-122"/>
                <a:cs typeface="Cambria" pitchFamily="34" charset="-120"/>
              </a:rPr>
              <a:t>Your Competitors</a:t>
            </a:r>
            <a:endParaRPr lang="en-US" sz="1300" dirty="0"/>
          </a:p>
          <a:p>
            <a:pPr marL="0" indent="0">
              <a:lnSpc>
                <a:spcPct val="110000"/>
              </a:lnSpc>
              <a:buNone/>
            </a:pPr>
            <a:r>
              <a:rPr lang="en-US" sz="1300" b="1" dirty="0">
                <a:solidFill>
                  <a:srgbClr val="1B2A4A"/>
                </a:solidFill>
                <a:latin typeface="Cambria" pitchFamily="34" charset="0"/>
                <a:ea typeface="Cambria" pitchFamily="34" charset="-122"/>
                <a:cs typeface="Cambria" pitchFamily="34" charset="-120"/>
              </a:rPr>
              <a:t>Aren't Waiting</a:t>
            </a:r>
            <a:endParaRPr lang="en-US" sz="1300" dirty="0"/>
          </a:p>
        </p:txBody>
      </p:sp>
      <p:sp>
        <p:nvSpPr>
          <p:cNvPr id="24" name="Shape 22"/>
          <p:cNvSpPr/>
          <p:nvPr/>
        </p:nvSpPr>
        <p:spPr>
          <a:xfrm>
            <a:off x="6144768" y="2395728"/>
            <a:ext cx="2578608" cy="585216"/>
          </a:xfrm>
          <a:prstGeom prst="roundRect">
            <a:avLst>
              <a:gd name="adj" fmla="val 7813"/>
            </a:avLst>
          </a:prstGeom>
          <a:solidFill>
            <a:srgbClr val="E8F4F6"/>
          </a:solidFill>
          <a:ln w="12700">
            <a:solidFill>
              <a:srgbClr val="E8F4F6"/>
            </a:solidFill>
            <a:prstDash val="solid"/>
          </a:ln>
        </p:spPr>
        <p:txBody>
          <a:bodyPr/>
          <a:lstStyle/>
          <a:p>
            <a:endParaRPr lang="en-US"/>
          </a:p>
        </p:txBody>
      </p:sp>
      <p:sp>
        <p:nvSpPr>
          <p:cNvPr id="25" name="Text 23"/>
          <p:cNvSpPr/>
          <p:nvPr/>
        </p:nvSpPr>
        <p:spPr>
          <a:xfrm>
            <a:off x="6254496" y="2450592"/>
            <a:ext cx="2377440" cy="201168"/>
          </a:xfrm>
          <a:prstGeom prst="rect">
            <a:avLst/>
          </a:prstGeom>
          <a:noFill/>
          <a:ln/>
        </p:spPr>
        <p:txBody>
          <a:bodyPr wrap="square" lIns="0" tIns="0" rIns="0" bIns="0" rtlCol="0" anchor="ctr"/>
          <a:lstStyle/>
          <a:p>
            <a:pPr marL="0" indent="0">
              <a:buNone/>
            </a:pPr>
            <a:r>
              <a:rPr lang="en-US" sz="1000" b="1" dirty="0">
                <a:solidFill>
                  <a:srgbClr val="0D7B8A"/>
                </a:solidFill>
                <a:latin typeface="Calibri" pitchFamily="34" charset="0"/>
                <a:ea typeface="Calibri" pitchFamily="34" charset="-122"/>
                <a:cs typeface="Calibri" pitchFamily="34" charset="-120"/>
              </a:rPr>
              <a:t>JPMorgan Chase</a:t>
            </a:r>
            <a:endParaRPr lang="en-US" sz="1000" dirty="0"/>
          </a:p>
        </p:txBody>
      </p:sp>
      <p:sp>
        <p:nvSpPr>
          <p:cNvPr id="26" name="Text 24"/>
          <p:cNvSpPr/>
          <p:nvPr/>
        </p:nvSpPr>
        <p:spPr>
          <a:xfrm>
            <a:off x="6254496" y="2670048"/>
            <a:ext cx="2377440" cy="256032"/>
          </a:xfrm>
          <a:prstGeom prst="rect">
            <a:avLst/>
          </a:prstGeom>
          <a:noFill/>
          <a:ln/>
        </p:spPr>
        <p:txBody>
          <a:bodyPr wrap="square" lIns="0" tIns="0" rIns="0" bIns="0" rtlCol="0" anchor="ctr"/>
          <a:lstStyle/>
          <a:p>
            <a:pPr marL="0" indent="0">
              <a:lnSpc>
                <a:spcPct val="110000"/>
              </a:lnSpc>
              <a:buNone/>
            </a:pPr>
            <a:r>
              <a:rPr lang="en-US" sz="950" dirty="0">
                <a:solidFill>
                  <a:srgbClr val="4A5568"/>
                </a:solidFill>
                <a:latin typeface="Calibri" pitchFamily="34" charset="0"/>
                <a:ea typeface="Calibri" pitchFamily="34" charset="-122"/>
                <a:cs typeface="Calibri" pitchFamily="34" charset="-120"/>
              </a:rPr>
              <a:t>2,000+ AI agents</a:t>
            </a:r>
            <a:endParaRPr lang="en-US" sz="950" dirty="0"/>
          </a:p>
          <a:p>
            <a:pPr marL="0" indent="0">
              <a:lnSpc>
                <a:spcPct val="110000"/>
              </a:lnSpc>
              <a:buNone/>
            </a:pPr>
            <a:r>
              <a:rPr lang="en-US" sz="950" dirty="0">
                <a:solidFill>
                  <a:srgbClr val="4A5568"/>
                </a:solidFill>
                <a:latin typeface="Calibri" pitchFamily="34" charset="0"/>
                <a:ea typeface="Calibri" pitchFamily="34" charset="-122"/>
                <a:cs typeface="Calibri" pitchFamily="34" charset="-120"/>
              </a:rPr>
              <a:t>in production</a:t>
            </a:r>
            <a:endParaRPr lang="en-US" sz="950" dirty="0"/>
          </a:p>
        </p:txBody>
      </p:sp>
      <p:sp>
        <p:nvSpPr>
          <p:cNvPr id="27" name="Shape 25"/>
          <p:cNvSpPr/>
          <p:nvPr/>
        </p:nvSpPr>
        <p:spPr>
          <a:xfrm>
            <a:off x="6144768" y="3099816"/>
            <a:ext cx="2578608" cy="585216"/>
          </a:xfrm>
          <a:prstGeom prst="roundRect">
            <a:avLst>
              <a:gd name="adj" fmla="val 7813"/>
            </a:avLst>
          </a:prstGeom>
          <a:solidFill>
            <a:srgbClr val="E8F4F6"/>
          </a:solidFill>
          <a:ln w="12700">
            <a:solidFill>
              <a:srgbClr val="E8F4F6"/>
            </a:solidFill>
            <a:prstDash val="solid"/>
          </a:ln>
        </p:spPr>
        <p:txBody>
          <a:bodyPr/>
          <a:lstStyle/>
          <a:p>
            <a:endParaRPr lang="en-US"/>
          </a:p>
        </p:txBody>
      </p:sp>
      <p:sp>
        <p:nvSpPr>
          <p:cNvPr id="28" name="Text 26"/>
          <p:cNvSpPr/>
          <p:nvPr/>
        </p:nvSpPr>
        <p:spPr>
          <a:xfrm>
            <a:off x="6254496" y="3154680"/>
            <a:ext cx="2377440" cy="201168"/>
          </a:xfrm>
          <a:prstGeom prst="rect">
            <a:avLst/>
          </a:prstGeom>
          <a:noFill/>
          <a:ln/>
        </p:spPr>
        <p:txBody>
          <a:bodyPr wrap="square" lIns="0" tIns="0" rIns="0" bIns="0" rtlCol="0" anchor="ctr"/>
          <a:lstStyle/>
          <a:p>
            <a:pPr marL="0" indent="0">
              <a:buNone/>
            </a:pPr>
            <a:r>
              <a:rPr lang="en-US" sz="1000" b="1" dirty="0">
                <a:solidFill>
                  <a:srgbClr val="0D7B8A"/>
                </a:solidFill>
                <a:latin typeface="Calibri" pitchFamily="34" charset="0"/>
                <a:ea typeface="Calibri" pitchFamily="34" charset="-122"/>
                <a:cs typeface="Calibri" pitchFamily="34" charset="-120"/>
              </a:rPr>
              <a:t>Goldman Sachs</a:t>
            </a:r>
            <a:endParaRPr lang="en-US" sz="1000" dirty="0"/>
          </a:p>
        </p:txBody>
      </p:sp>
      <p:sp>
        <p:nvSpPr>
          <p:cNvPr id="29" name="Text 27"/>
          <p:cNvSpPr/>
          <p:nvPr/>
        </p:nvSpPr>
        <p:spPr>
          <a:xfrm>
            <a:off x="6254496" y="3374136"/>
            <a:ext cx="2377440" cy="256032"/>
          </a:xfrm>
          <a:prstGeom prst="rect">
            <a:avLst/>
          </a:prstGeom>
          <a:noFill/>
          <a:ln/>
        </p:spPr>
        <p:txBody>
          <a:bodyPr wrap="square" lIns="0" tIns="0" rIns="0" bIns="0" rtlCol="0" anchor="ctr"/>
          <a:lstStyle/>
          <a:p>
            <a:pPr marL="0" indent="0">
              <a:lnSpc>
                <a:spcPct val="110000"/>
              </a:lnSpc>
              <a:buNone/>
            </a:pPr>
            <a:r>
              <a:rPr lang="en-US" sz="950" dirty="0">
                <a:solidFill>
                  <a:srgbClr val="4A5568"/>
                </a:solidFill>
                <a:latin typeface="Calibri" pitchFamily="34" charset="0"/>
                <a:ea typeface="Calibri" pitchFamily="34" charset="-122"/>
                <a:cs typeface="Calibri" pitchFamily="34" charset="-120"/>
              </a:rPr>
              <a:t>AI agents in trading,</a:t>
            </a:r>
            <a:endParaRPr lang="en-US" sz="950" dirty="0"/>
          </a:p>
          <a:p>
            <a:pPr marL="0" indent="0">
              <a:lnSpc>
                <a:spcPct val="110000"/>
              </a:lnSpc>
              <a:buNone/>
            </a:pPr>
            <a:r>
              <a:rPr lang="en-US" sz="950" dirty="0">
                <a:solidFill>
                  <a:srgbClr val="4A5568"/>
                </a:solidFill>
                <a:latin typeface="Calibri" pitchFamily="34" charset="0"/>
                <a:ea typeface="Calibri" pitchFamily="34" charset="-122"/>
                <a:cs typeface="Calibri" pitchFamily="34" charset="-120"/>
              </a:rPr>
              <a:t>compliance &amp; advisory</a:t>
            </a:r>
            <a:endParaRPr lang="en-US" sz="950" dirty="0"/>
          </a:p>
        </p:txBody>
      </p:sp>
      <p:sp>
        <p:nvSpPr>
          <p:cNvPr id="30" name="Shape 28"/>
          <p:cNvSpPr/>
          <p:nvPr/>
        </p:nvSpPr>
        <p:spPr>
          <a:xfrm>
            <a:off x="6144768" y="3803904"/>
            <a:ext cx="2578608" cy="585216"/>
          </a:xfrm>
          <a:prstGeom prst="roundRect">
            <a:avLst>
              <a:gd name="adj" fmla="val 7813"/>
            </a:avLst>
          </a:prstGeom>
          <a:solidFill>
            <a:srgbClr val="E8F4F6"/>
          </a:solidFill>
          <a:ln w="12700">
            <a:solidFill>
              <a:srgbClr val="E8F4F6"/>
            </a:solidFill>
            <a:prstDash val="solid"/>
          </a:ln>
        </p:spPr>
        <p:txBody>
          <a:bodyPr/>
          <a:lstStyle/>
          <a:p>
            <a:endParaRPr lang="en-US"/>
          </a:p>
        </p:txBody>
      </p:sp>
      <p:sp>
        <p:nvSpPr>
          <p:cNvPr id="31" name="Text 29"/>
          <p:cNvSpPr/>
          <p:nvPr/>
        </p:nvSpPr>
        <p:spPr>
          <a:xfrm>
            <a:off x="6254496" y="3858768"/>
            <a:ext cx="2377440" cy="201168"/>
          </a:xfrm>
          <a:prstGeom prst="rect">
            <a:avLst/>
          </a:prstGeom>
          <a:noFill/>
          <a:ln/>
        </p:spPr>
        <p:txBody>
          <a:bodyPr wrap="square" lIns="0" tIns="0" rIns="0" bIns="0" rtlCol="0" anchor="ctr"/>
          <a:lstStyle/>
          <a:p>
            <a:pPr marL="0" indent="0">
              <a:buNone/>
            </a:pPr>
            <a:r>
              <a:rPr lang="en-US" sz="1000" b="1" dirty="0">
                <a:solidFill>
                  <a:srgbClr val="0D7B8A"/>
                </a:solidFill>
                <a:latin typeface="Calibri" pitchFamily="34" charset="0"/>
                <a:ea typeface="Calibri" pitchFamily="34" charset="-122"/>
                <a:cs typeface="Calibri" pitchFamily="34" charset="-120"/>
              </a:rPr>
              <a:t>Progressive Ins.</a:t>
            </a:r>
            <a:endParaRPr lang="en-US" sz="1000" dirty="0"/>
          </a:p>
        </p:txBody>
      </p:sp>
      <p:sp>
        <p:nvSpPr>
          <p:cNvPr id="32" name="Text 30"/>
          <p:cNvSpPr/>
          <p:nvPr/>
        </p:nvSpPr>
        <p:spPr>
          <a:xfrm>
            <a:off x="6254496" y="4078224"/>
            <a:ext cx="2377440" cy="256032"/>
          </a:xfrm>
          <a:prstGeom prst="rect">
            <a:avLst/>
          </a:prstGeom>
          <a:noFill/>
          <a:ln/>
        </p:spPr>
        <p:txBody>
          <a:bodyPr wrap="square" lIns="0" tIns="0" rIns="0" bIns="0" rtlCol="0" anchor="ctr"/>
          <a:lstStyle/>
          <a:p>
            <a:pPr marL="0" indent="0">
              <a:lnSpc>
                <a:spcPct val="110000"/>
              </a:lnSpc>
              <a:buNone/>
            </a:pPr>
            <a:r>
              <a:rPr lang="en-US" sz="950" dirty="0">
                <a:solidFill>
                  <a:srgbClr val="4A5568"/>
                </a:solidFill>
                <a:latin typeface="Calibri" pitchFamily="34" charset="0"/>
                <a:ea typeface="Calibri" pitchFamily="34" charset="-122"/>
                <a:cs typeface="Calibri" pitchFamily="34" charset="-120"/>
              </a:rPr>
              <a:t>AI agents handle 40%</a:t>
            </a:r>
            <a:endParaRPr lang="en-US" sz="950" dirty="0"/>
          </a:p>
          <a:p>
            <a:pPr marL="0" indent="0">
              <a:lnSpc>
                <a:spcPct val="110000"/>
              </a:lnSpc>
              <a:buNone/>
            </a:pPr>
            <a:r>
              <a:rPr lang="en-US" sz="950" dirty="0">
                <a:solidFill>
                  <a:srgbClr val="4A5568"/>
                </a:solidFill>
                <a:latin typeface="Calibri" pitchFamily="34" charset="0"/>
                <a:ea typeface="Calibri" pitchFamily="34" charset="-122"/>
                <a:cs typeface="Calibri" pitchFamily="34" charset="-120"/>
              </a:rPr>
              <a:t>of claims processing</a:t>
            </a:r>
            <a:endParaRPr lang="en-US" sz="950" dirty="0"/>
          </a:p>
        </p:txBody>
      </p:sp>
      <p:sp>
        <p:nvSpPr>
          <p:cNvPr id="33" name="Text 31"/>
          <p:cNvSpPr/>
          <p:nvPr/>
        </p:nvSpPr>
        <p:spPr>
          <a:xfrm>
            <a:off x="457200" y="4754880"/>
            <a:ext cx="8412480" cy="274320"/>
          </a:xfrm>
          <a:prstGeom prst="rect">
            <a:avLst/>
          </a:prstGeom>
          <a:noFill/>
          <a:ln/>
        </p:spPr>
        <p:txBody>
          <a:bodyPr wrap="square" lIns="0" tIns="0" rIns="0" bIns="0" rtlCol="0" anchor="ctr"/>
          <a:lstStyle/>
          <a:p>
            <a:pPr marL="0" indent="0" algn="ctr">
              <a:buNone/>
            </a:pPr>
            <a:r>
              <a:rPr lang="en-US" sz="1100" i="1" dirty="0">
                <a:solidFill>
                  <a:srgbClr val="6B7A8D"/>
                </a:solidFill>
                <a:latin typeface="Calibri" pitchFamily="34" charset="0"/>
                <a:ea typeface="Calibri" pitchFamily="34" charset="-122"/>
                <a:cs typeface="Calibri" pitchFamily="34" charset="-120"/>
              </a:rPr>
              <a:t>First movers on governance will define the industry standard. Late movers will inherit the audit findings.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457200" y="256032"/>
            <a:ext cx="8412480" cy="502920"/>
          </a:xfrm>
          <a:prstGeom prst="rect">
            <a:avLst/>
          </a:prstGeom>
          <a:noFill/>
          <a:ln/>
        </p:spPr>
        <p:txBody>
          <a:bodyPr wrap="square" lIns="0" tIns="0" rIns="0" bIns="0" rtlCol="0" anchor="ctr"/>
          <a:lstStyle/>
          <a:p>
            <a:pPr marL="0" indent="0">
              <a:buNone/>
            </a:pPr>
            <a:r>
              <a:rPr lang="en-US" sz="2600" b="1" dirty="0">
                <a:solidFill>
                  <a:srgbClr val="1B2A4A"/>
                </a:solidFill>
                <a:latin typeface="Cambria" pitchFamily="34" charset="0"/>
                <a:ea typeface="Cambria" pitchFamily="34" charset="-122"/>
                <a:cs typeface="Cambria" pitchFamily="34" charset="-120"/>
              </a:rPr>
              <a:t>Five Leaders. One Broken Process. Zero Shared Visibility.</a:t>
            </a:r>
            <a:endParaRPr lang="en-US" sz="2600" dirty="0"/>
          </a:p>
        </p:txBody>
      </p:sp>
      <p:sp>
        <p:nvSpPr>
          <p:cNvPr id="3" name="Text 1"/>
          <p:cNvSpPr/>
          <p:nvPr/>
        </p:nvSpPr>
        <p:spPr>
          <a:xfrm>
            <a:off x="457200" y="795528"/>
            <a:ext cx="7772400" cy="274320"/>
          </a:xfrm>
          <a:prstGeom prst="rect">
            <a:avLst/>
          </a:prstGeom>
          <a:noFill/>
          <a:ln/>
        </p:spPr>
        <p:txBody>
          <a:bodyPr wrap="square" lIns="0" tIns="0" rIns="0" bIns="0" rtlCol="0" anchor="ctr"/>
          <a:lstStyle/>
          <a:p>
            <a:pPr marL="0" indent="0">
              <a:buNone/>
            </a:pPr>
            <a:r>
              <a:rPr lang="en-US" sz="1300" i="1" dirty="0">
                <a:solidFill>
                  <a:srgbClr val="6B7A8D"/>
                </a:solidFill>
                <a:latin typeface="Calibri" pitchFamily="34" charset="0"/>
                <a:ea typeface="Calibri" pitchFamily="34" charset="-122"/>
                <a:cs typeface="Calibri" pitchFamily="34" charset="-120"/>
              </a:rPr>
              <a:t>AI agent governance spans the entire executive team — but today, each leader is solving it alone.</a:t>
            </a:r>
            <a:endParaRPr lang="en-US" sz="1300" dirty="0"/>
          </a:p>
        </p:txBody>
      </p:sp>
      <p:sp>
        <p:nvSpPr>
          <p:cNvPr id="4" name="Shape 2"/>
          <p:cNvSpPr/>
          <p:nvPr/>
        </p:nvSpPr>
        <p:spPr>
          <a:xfrm>
            <a:off x="457200" y="1261872"/>
            <a:ext cx="8412480" cy="658368"/>
          </a:xfrm>
          <a:prstGeom prst="roundRect">
            <a:avLst>
              <a:gd name="adj" fmla="val 9722"/>
            </a:avLst>
          </a:prstGeom>
          <a:solidFill>
            <a:srgbClr val="E8F4F6"/>
          </a:solidFill>
          <a:ln w="12700">
            <a:solidFill>
              <a:srgbClr val="0D7B8A"/>
            </a:solidFill>
            <a:prstDash val="solid"/>
          </a:ln>
          <a:effectLst>
            <a:outerShdw blurRad="101600" dist="38100" dir="2700000" algn="bl" rotWithShape="0">
              <a:srgbClr val="000000">
                <a:alpha val="10000"/>
              </a:srgbClr>
            </a:outerShdw>
          </a:effectLst>
        </p:spPr>
        <p:txBody>
          <a:bodyPr/>
          <a:lstStyle/>
          <a:p>
            <a:endParaRPr lang="en-US"/>
          </a:p>
        </p:txBody>
      </p:sp>
      <p:sp>
        <p:nvSpPr>
          <p:cNvPr id="5" name="Shape 3"/>
          <p:cNvSpPr/>
          <p:nvPr/>
        </p:nvSpPr>
        <p:spPr>
          <a:xfrm>
            <a:off x="566928" y="1399032"/>
            <a:ext cx="685800" cy="384048"/>
          </a:xfrm>
          <a:prstGeom prst="roundRect">
            <a:avLst>
              <a:gd name="adj" fmla="val 11905"/>
            </a:avLst>
          </a:prstGeom>
          <a:solidFill>
            <a:srgbClr val="0D7B8A"/>
          </a:solidFill>
          <a:ln w="12700">
            <a:solidFill>
              <a:srgbClr val="0D7B8A"/>
            </a:solidFill>
            <a:prstDash val="solid"/>
          </a:ln>
        </p:spPr>
        <p:txBody>
          <a:bodyPr/>
          <a:lstStyle/>
          <a:p>
            <a:endParaRPr lang="en-US"/>
          </a:p>
        </p:txBody>
      </p:sp>
      <p:sp>
        <p:nvSpPr>
          <p:cNvPr id="6" name="Text 4"/>
          <p:cNvSpPr/>
          <p:nvPr/>
        </p:nvSpPr>
        <p:spPr>
          <a:xfrm>
            <a:off x="566928" y="1399032"/>
            <a:ext cx="68580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CRO</a:t>
            </a:r>
            <a:endParaRPr lang="en-US" sz="1100" dirty="0"/>
          </a:p>
        </p:txBody>
      </p:sp>
      <p:sp>
        <p:nvSpPr>
          <p:cNvPr id="7" name="Text 5"/>
          <p:cNvSpPr/>
          <p:nvPr/>
        </p:nvSpPr>
        <p:spPr>
          <a:xfrm>
            <a:off x="1325880" y="1353312"/>
            <a:ext cx="3108960" cy="237744"/>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Chief Risk Officer  ★ PRIMARY ENTRY</a:t>
            </a:r>
            <a:endParaRPr lang="en-US" sz="1150" dirty="0"/>
          </a:p>
        </p:txBody>
      </p:sp>
      <p:sp>
        <p:nvSpPr>
          <p:cNvPr id="8" name="Text 6"/>
          <p:cNvSpPr/>
          <p:nvPr/>
        </p:nvSpPr>
        <p:spPr>
          <a:xfrm>
            <a:off x="1325880" y="1591056"/>
            <a:ext cx="4206240" cy="256032"/>
          </a:xfrm>
          <a:prstGeom prst="rect">
            <a:avLst/>
          </a:prstGeom>
          <a:noFill/>
          <a:ln/>
        </p:spPr>
        <p:txBody>
          <a:bodyPr wrap="square" lIns="0" tIns="0" rIns="0" bIns="0" rtlCol="0" anchor="ctr"/>
          <a:lstStyle/>
          <a:p>
            <a:pPr marL="0" indent="0">
              <a:lnSpc>
                <a:spcPct val="110000"/>
              </a:lnSpc>
              <a:buNone/>
            </a:pPr>
            <a:r>
              <a:rPr lang="en-US" sz="950" dirty="0">
                <a:solidFill>
                  <a:srgbClr val="4A5568"/>
                </a:solidFill>
                <a:latin typeface="Calibri" pitchFamily="34" charset="0"/>
                <a:ea typeface="Calibri" pitchFamily="34" charset="-122"/>
                <a:cs typeface="Calibri" pitchFamily="34" charset="-120"/>
              </a:rPr>
              <a:t>Uncontrolled decisioning, model drift, and regulatory exposure from agents operating outside governance frameworks.</a:t>
            </a:r>
            <a:endParaRPr lang="en-US" sz="950" dirty="0"/>
          </a:p>
        </p:txBody>
      </p:sp>
      <p:sp>
        <p:nvSpPr>
          <p:cNvPr id="9" name="Text 7"/>
          <p:cNvSpPr/>
          <p:nvPr/>
        </p:nvSpPr>
        <p:spPr>
          <a:xfrm>
            <a:off x="5577840" y="1399032"/>
            <a:ext cx="3108960" cy="384048"/>
          </a:xfrm>
          <a:prstGeom prst="rect">
            <a:avLst/>
          </a:prstGeom>
          <a:noFill/>
          <a:ln/>
        </p:spPr>
        <p:txBody>
          <a:bodyPr wrap="square" lIns="0" tIns="0" rIns="0" bIns="0" rtlCol="0" anchor="ctr"/>
          <a:lstStyle/>
          <a:p>
            <a:pPr marL="0" indent="0">
              <a:lnSpc>
                <a:spcPct val="110000"/>
              </a:lnSpc>
              <a:buNone/>
            </a:pPr>
            <a:r>
              <a:rPr lang="en-US" sz="950" i="1" dirty="0">
                <a:solidFill>
                  <a:srgbClr val="0D7B8A"/>
                </a:solidFill>
                <a:latin typeface="Calibri" pitchFamily="34" charset="0"/>
                <a:ea typeface="Calibri" pitchFamily="34" charset="-122"/>
                <a:cs typeface="Calibri" pitchFamily="34" charset="-120"/>
              </a:rPr>
              <a:t>"Can we demonstrate control over every AI decision to our regulator?"</a:t>
            </a:r>
            <a:endParaRPr lang="en-US" sz="950" dirty="0"/>
          </a:p>
        </p:txBody>
      </p:sp>
      <p:sp>
        <p:nvSpPr>
          <p:cNvPr id="10" name="Shape 8"/>
          <p:cNvSpPr/>
          <p:nvPr/>
        </p:nvSpPr>
        <p:spPr>
          <a:xfrm>
            <a:off x="457200" y="2011680"/>
            <a:ext cx="8412480" cy="658368"/>
          </a:xfrm>
          <a:prstGeom prst="roundRect">
            <a:avLst>
              <a:gd name="adj" fmla="val 9722"/>
            </a:avLst>
          </a:prstGeom>
          <a:solidFill>
            <a:srgbClr val="E8F4F6"/>
          </a:solidFill>
          <a:ln w="12700">
            <a:solidFill>
              <a:srgbClr val="0D7B8A"/>
            </a:solidFill>
            <a:prstDash val="solid"/>
          </a:ln>
          <a:effectLst>
            <a:outerShdw blurRad="101600" dist="38100" dir="2700000" algn="bl" rotWithShape="0">
              <a:srgbClr val="000000">
                <a:alpha val="10000"/>
              </a:srgbClr>
            </a:outerShdw>
          </a:effectLst>
        </p:spPr>
        <p:txBody>
          <a:bodyPr/>
          <a:lstStyle/>
          <a:p>
            <a:endParaRPr lang="en-US"/>
          </a:p>
        </p:txBody>
      </p:sp>
      <p:sp>
        <p:nvSpPr>
          <p:cNvPr id="11" name="Shape 9"/>
          <p:cNvSpPr/>
          <p:nvPr/>
        </p:nvSpPr>
        <p:spPr>
          <a:xfrm>
            <a:off x="566928" y="2148840"/>
            <a:ext cx="685800" cy="384048"/>
          </a:xfrm>
          <a:prstGeom prst="roundRect">
            <a:avLst>
              <a:gd name="adj" fmla="val 11905"/>
            </a:avLst>
          </a:prstGeom>
          <a:solidFill>
            <a:srgbClr val="0D7B8A"/>
          </a:solidFill>
          <a:ln w="12700">
            <a:solidFill>
              <a:srgbClr val="0D7B8A"/>
            </a:solidFill>
            <a:prstDash val="solid"/>
          </a:ln>
        </p:spPr>
        <p:txBody>
          <a:bodyPr/>
          <a:lstStyle/>
          <a:p>
            <a:endParaRPr lang="en-US"/>
          </a:p>
        </p:txBody>
      </p:sp>
      <p:sp>
        <p:nvSpPr>
          <p:cNvPr id="12" name="Text 10"/>
          <p:cNvSpPr/>
          <p:nvPr/>
        </p:nvSpPr>
        <p:spPr>
          <a:xfrm>
            <a:off x="566928" y="2148840"/>
            <a:ext cx="68580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CCO</a:t>
            </a:r>
            <a:endParaRPr lang="en-US" sz="1100" dirty="0"/>
          </a:p>
        </p:txBody>
      </p:sp>
      <p:sp>
        <p:nvSpPr>
          <p:cNvPr id="13" name="Text 11"/>
          <p:cNvSpPr/>
          <p:nvPr/>
        </p:nvSpPr>
        <p:spPr>
          <a:xfrm>
            <a:off x="1325880" y="2103120"/>
            <a:ext cx="3108960" cy="237744"/>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Chief Compliance Officer  ★ PRIMARY ENTRY</a:t>
            </a:r>
            <a:endParaRPr lang="en-US" sz="1150" dirty="0"/>
          </a:p>
        </p:txBody>
      </p:sp>
      <p:sp>
        <p:nvSpPr>
          <p:cNvPr id="14" name="Text 12"/>
          <p:cNvSpPr/>
          <p:nvPr/>
        </p:nvSpPr>
        <p:spPr>
          <a:xfrm>
            <a:off x="1325880" y="2340864"/>
            <a:ext cx="4206240" cy="256032"/>
          </a:xfrm>
          <a:prstGeom prst="rect">
            <a:avLst/>
          </a:prstGeom>
          <a:noFill/>
          <a:ln/>
        </p:spPr>
        <p:txBody>
          <a:bodyPr wrap="square" lIns="0" tIns="0" rIns="0" bIns="0" rtlCol="0" anchor="ctr"/>
          <a:lstStyle/>
          <a:p>
            <a:pPr marL="0" indent="0">
              <a:lnSpc>
                <a:spcPct val="110000"/>
              </a:lnSpc>
              <a:buNone/>
            </a:pPr>
            <a:r>
              <a:rPr lang="en-US" sz="950" dirty="0">
                <a:solidFill>
                  <a:srgbClr val="4A5568"/>
                </a:solidFill>
                <a:latin typeface="Calibri" pitchFamily="34" charset="0"/>
                <a:ea typeface="Calibri" pitchFamily="34" charset="-122"/>
                <a:cs typeface="Calibri" pitchFamily="34" charset="-120"/>
              </a:rPr>
              <a:t>Producing audit trails, explainability documentation, and regulatory filings for agent-driven processes on demand.</a:t>
            </a:r>
            <a:endParaRPr lang="en-US" sz="950" dirty="0"/>
          </a:p>
        </p:txBody>
      </p:sp>
      <p:sp>
        <p:nvSpPr>
          <p:cNvPr id="15" name="Text 13"/>
          <p:cNvSpPr/>
          <p:nvPr/>
        </p:nvSpPr>
        <p:spPr>
          <a:xfrm>
            <a:off x="5577840" y="2148840"/>
            <a:ext cx="3108960" cy="384048"/>
          </a:xfrm>
          <a:prstGeom prst="rect">
            <a:avLst/>
          </a:prstGeom>
          <a:noFill/>
          <a:ln/>
        </p:spPr>
        <p:txBody>
          <a:bodyPr wrap="square" lIns="0" tIns="0" rIns="0" bIns="0" rtlCol="0" anchor="ctr"/>
          <a:lstStyle/>
          <a:p>
            <a:pPr marL="0" indent="0">
              <a:lnSpc>
                <a:spcPct val="110000"/>
              </a:lnSpc>
              <a:buNone/>
            </a:pPr>
            <a:r>
              <a:rPr lang="en-US" sz="950" i="1" dirty="0">
                <a:solidFill>
                  <a:srgbClr val="0D7B8A"/>
                </a:solidFill>
                <a:latin typeface="Calibri" pitchFamily="34" charset="0"/>
                <a:ea typeface="Calibri" pitchFamily="34" charset="-122"/>
                <a:cs typeface="Calibri" pitchFamily="34" charset="-120"/>
              </a:rPr>
              <a:t>"If the FCA audits us tomorrow, what can we show them?"</a:t>
            </a:r>
            <a:endParaRPr lang="en-US" sz="950" dirty="0"/>
          </a:p>
        </p:txBody>
      </p:sp>
      <p:sp>
        <p:nvSpPr>
          <p:cNvPr id="16" name="Shape 14"/>
          <p:cNvSpPr/>
          <p:nvPr/>
        </p:nvSpPr>
        <p:spPr>
          <a:xfrm>
            <a:off x="457200" y="2761488"/>
            <a:ext cx="8412480" cy="658368"/>
          </a:xfrm>
          <a:prstGeom prst="roundRect">
            <a:avLst>
              <a:gd name="adj" fmla="val 9722"/>
            </a:avLst>
          </a:prstGeom>
          <a:solidFill>
            <a:srgbClr val="FFFFFF"/>
          </a:solidFill>
          <a:ln w="12700">
            <a:solidFill>
              <a:srgbClr val="C9DDE8"/>
            </a:solidFill>
            <a:prstDash val="solid"/>
          </a:ln>
          <a:effectLst>
            <a:outerShdw blurRad="101600" dist="38100" dir="2700000" algn="bl" rotWithShape="0">
              <a:srgbClr val="000000">
                <a:alpha val="10000"/>
              </a:srgbClr>
            </a:outerShdw>
          </a:effectLst>
        </p:spPr>
        <p:txBody>
          <a:bodyPr/>
          <a:lstStyle/>
          <a:p>
            <a:endParaRPr lang="en-US"/>
          </a:p>
        </p:txBody>
      </p:sp>
      <p:sp>
        <p:nvSpPr>
          <p:cNvPr id="17" name="Shape 15"/>
          <p:cNvSpPr/>
          <p:nvPr/>
        </p:nvSpPr>
        <p:spPr>
          <a:xfrm>
            <a:off x="566928" y="2898648"/>
            <a:ext cx="685800" cy="384048"/>
          </a:xfrm>
          <a:prstGeom prst="roundRect">
            <a:avLst>
              <a:gd name="adj" fmla="val 11905"/>
            </a:avLst>
          </a:prstGeom>
          <a:solidFill>
            <a:srgbClr val="243557"/>
          </a:solidFill>
          <a:ln w="12700">
            <a:solidFill>
              <a:srgbClr val="243557"/>
            </a:solidFill>
            <a:prstDash val="solid"/>
          </a:ln>
        </p:spPr>
        <p:txBody>
          <a:bodyPr/>
          <a:lstStyle/>
          <a:p>
            <a:endParaRPr lang="en-US"/>
          </a:p>
        </p:txBody>
      </p:sp>
      <p:sp>
        <p:nvSpPr>
          <p:cNvPr id="18" name="Text 16"/>
          <p:cNvSpPr/>
          <p:nvPr/>
        </p:nvSpPr>
        <p:spPr>
          <a:xfrm>
            <a:off x="566928" y="2898648"/>
            <a:ext cx="68580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CIO</a:t>
            </a:r>
            <a:endParaRPr lang="en-US" sz="1100" dirty="0"/>
          </a:p>
        </p:txBody>
      </p:sp>
      <p:sp>
        <p:nvSpPr>
          <p:cNvPr id="19" name="Text 17"/>
          <p:cNvSpPr/>
          <p:nvPr/>
        </p:nvSpPr>
        <p:spPr>
          <a:xfrm>
            <a:off x="1325880" y="2852928"/>
            <a:ext cx="3108960" cy="237744"/>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Chief Information Officer</a:t>
            </a:r>
            <a:endParaRPr lang="en-US" sz="1150" dirty="0"/>
          </a:p>
        </p:txBody>
      </p:sp>
      <p:sp>
        <p:nvSpPr>
          <p:cNvPr id="20" name="Text 18"/>
          <p:cNvSpPr/>
          <p:nvPr/>
        </p:nvSpPr>
        <p:spPr>
          <a:xfrm>
            <a:off x="1325880" y="3090672"/>
            <a:ext cx="4206240" cy="256032"/>
          </a:xfrm>
          <a:prstGeom prst="rect">
            <a:avLst/>
          </a:prstGeom>
          <a:noFill/>
          <a:ln/>
        </p:spPr>
        <p:txBody>
          <a:bodyPr wrap="square" lIns="0" tIns="0" rIns="0" bIns="0" rtlCol="0" anchor="ctr"/>
          <a:lstStyle/>
          <a:p>
            <a:pPr marL="0" indent="0">
              <a:lnSpc>
                <a:spcPct val="110000"/>
              </a:lnSpc>
              <a:buNone/>
            </a:pPr>
            <a:r>
              <a:rPr lang="en-US" sz="950" dirty="0">
                <a:solidFill>
                  <a:srgbClr val="4A5568"/>
                </a:solidFill>
                <a:latin typeface="Calibri" pitchFamily="34" charset="0"/>
                <a:ea typeface="Calibri" pitchFamily="34" charset="-122"/>
                <a:cs typeface="Calibri" pitchFamily="34" charset="-120"/>
              </a:rPr>
              <a:t>Shadow AI deployments, infrastructure fragmentation, and the inability to inventory or consolidate agent tooling.</a:t>
            </a:r>
            <a:endParaRPr lang="en-US" sz="950" dirty="0"/>
          </a:p>
        </p:txBody>
      </p:sp>
      <p:sp>
        <p:nvSpPr>
          <p:cNvPr id="21" name="Text 19"/>
          <p:cNvSpPr/>
          <p:nvPr/>
        </p:nvSpPr>
        <p:spPr>
          <a:xfrm>
            <a:off x="5577840" y="2898648"/>
            <a:ext cx="3108960" cy="384048"/>
          </a:xfrm>
          <a:prstGeom prst="rect">
            <a:avLst/>
          </a:prstGeom>
          <a:noFill/>
          <a:ln/>
        </p:spPr>
        <p:txBody>
          <a:bodyPr wrap="square" lIns="0" tIns="0" rIns="0" bIns="0" rtlCol="0" anchor="ctr"/>
          <a:lstStyle/>
          <a:p>
            <a:pPr marL="0" indent="0">
              <a:lnSpc>
                <a:spcPct val="110000"/>
              </a:lnSpc>
              <a:buNone/>
            </a:pPr>
            <a:r>
              <a:rPr lang="en-US" sz="950" i="1" dirty="0">
                <a:solidFill>
                  <a:srgbClr val="0D7B8A"/>
                </a:solidFill>
                <a:latin typeface="Calibri" pitchFamily="34" charset="0"/>
                <a:ea typeface="Calibri" pitchFamily="34" charset="-122"/>
                <a:cs typeface="Calibri" pitchFamily="34" charset="-120"/>
              </a:rPr>
              <a:t>"How many agents are actually running, and who authorized them?"</a:t>
            </a:r>
            <a:endParaRPr lang="en-US" sz="950" dirty="0"/>
          </a:p>
        </p:txBody>
      </p:sp>
      <p:sp>
        <p:nvSpPr>
          <p:cNvPr id="22" name="Shape 20"/>
          <p:cNvSpPr/>
          <p:nvPr/>
        </p:nvSpPr>
        <p:spPr>
          <a:xfrm>
            <a:off x="457200" y="3511296"/>
            <a:ext cx="8412480" cy="658368"/>
          </a:xfrm>
          <a:prstGeom prst="roundRect">
            <a:avLst>
              <a:gd name="adj" fmla="val 9722"/>
            </a:avLst>
          </a:prstGeom>
          <a:solidFill>
            <a:srgbClr val="FFFFFF"/>
          </a:solidFill>
          <a:ln w="12700">
            <a:solidFill>
              <a:srgbClr val="C9DDE8"/>
            </a:solidFill>
            <a:prstDash val="solid"/>
          </a:ln>
          <a:effectLst>
            <a:outerShdw blurRad="101600" dist="38100" dir="2700000" algn="bl" rotWithShape="0">
              <a:srgbClr val="000000">
                <a:alpha val="10000"/>
              </a:srgbClr>
            </a:outerShdw>
          </a:effectLst>
        </p:spPr>
        <p:txBody>
          <a:bodyPr/>
          <a:lstStyle/>
          <a:p>
            <a:endParaRPr lang="en-US"/>
          </a:p>
        </p:txBody>
      </p:sp>
      <p:sp>
        <p:nvSpPr>
          <p:cNvPr id="23" name="Shape 21"/>
          <p:cNvSpPr/>
          <p:nvPr/>
        </p:nvSpPr>
        <p:spPr>
          <a:xfrm>
            <a:off x="566928" y="3648456"/>
            <a:ext cx="685800" cy="384048"/>
          </a:xfrm>
          <a:prstGeom prst="roundRect">
            <a:avLst>
              <a:gd name="adj" fmla="val 11905"/>
            </a:avLst>
          </a:prstGeom>
          <a:solidFill>
            <a:srgbClr val="243557"/>
          </a:solidFill>
          <a:ln w="12700">
            <a:solidFill>
              <a:srgbClr val="243557"/>
            </a:solidFill>
            <a:prstDash val="solid"/>
          </a:ln>
        </p:spPr>
        <p:txBody>
          <a:bodyPr/>
          <a:lstStyle/>
          <a:p>
            <a:endParaRPr lang="en-US"/>
          </a:p>
        </p:txBody>
      </p:sp>
      <p:sp>
        <p:nvSpPr>
          <p:cNvPr id="24" name="Text 22"/>
          <p:cNvSpPr/>
          <p:nvPr/>
        </p:nvSpPr>
        <p:spPr>
          <a:xfrm>
            <a:off x="566928" y="3648456"/>
            <a:ext cx="68580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CTO</a:t>
            </a:r>
            <a:endParaRPr lang="en-US" sz="1100" dirty="0"/>
          </a:p>
        </p:txBody>
      </p:sp>
      <p:sp>
        <p:nvSpPr>
          <p:cNvPr id="25" name="Text 23"/>
          <p:cNvSpPr/>
          <p:nvPr/>
        </p:nvSpPr>
        <p:spPr>
          <a:xfrm>
            <a:off x="1325880" y="3602736"/>
            <a:ext cx="3108960" cy="237744"/>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Chief Technology Officer</a:t>
            </a:r>
            <a:endParaRPr lang="en-US" sz="1150" dirty="0"/>
          </a:p>
        </p:txBody>
      </p:sp>
      <p:sp>
        <p:nvSpPr>
          <p:cNvPr id="26" name="Text 24"/>
          <p:cNvSpPr/>
          <p:nvPr/>
        </p:nvSpPr>
        <p:spPr>
          <a:xfrm>
            <a:off x="1325880" y="3840480"/>
            <a:ext cx="4206240" cy="256032"/>
          </a:xfrm>
          <a:prstGeom prst="rect">
            <a:avLst/>
          </a:prstGeom>
          <a:noFill/>
          <a:ln/>
        </p:spPr>
        <p:txBody>
          <a:bodyPr wrap="square" lIns="0" tIns="0" rIns="0" bIns="0" rtlCol="0" anchor="ctr"/>
          <a:lstStyle/>
          <a:p>
            <a:pPr marL="0" indent="0">
              <a:lnSpc>
                <a:spcPct val="110000"/>
              </a:lnSpc>
              <a:buNone/>
            </a:pPr>
            <a:r>
              <a:rPr lang="en-US" sz="950" dirty="0">
                <a:solidFill>
                  <a:srgbClr val="4A5568"/>
                </a:solidFill>
                <a:latin typeface="Calibri" pitchFamily="34" charset="0"/>
                <a:ea typeface="Calibri" pitchFamily="34" charset="-122"/>
                <a:cs typeface="Calibri" pitchFamily="34" charset="-120"/>
              </a:rPr>
              <a:t>Performance degradation, incident response gaps, and the reliability of production agents at scale.</a:t>
            </a:r>
            <a:endParaRPr lang="en-US" sz="950" dirty="0"/>
          </a:p>
        </p:txBody>
      </p:sp>
      <p:sp>
        <p:nvSpPr>
          <p:cNvPr id="27" name="Text 25"/>
          <p:cNvSpPr/>
          <p:nvPr/>
        </p:nvSpPr>
        <p:spPr>
          <a:xfrm>
            <a:off x="5577840" y="3648456"/>
            <a:ext cx="3108960" cy="384048"/>
          </a:xfrm>
          <a:prstGeom prst="rect">
            <a:avLst/>
          </a:prstGeom>
          <a:noFill/>
          <a:ln/>
        </p:spPr>
        <p:txBody>
          <a:bodyPr wrap="square" lIns="0" tIns="0" rIns="0" bIns="0" rtlCol="0" anchor="ctr"/>
          <a:lstStyle/>
          <a:p>
            <a:pPr marL="0" indent="0">
              <a:lnSpc>
                <a:spcPct val="110000"/>
              </a:lnSpc>
              <a:buNone/>
            </a:pPr>
            <a:r>
              <a:rPr lang="en-US" sz="950" i="1" dirty="0">
                <a:solidFill>
                  <a:srgbClr val="0D7B8A"/>
                </a:solidFill>
                <a:latin typeface="Calibri" pitchFamily="34" charset="0"/>
                <a:ea typeface="Calibri" pitchFamily="34" charset="-122"/>
                <a:cs typeface="Calibri" pitchFamily="34" charset="-120"/>
              </a:rPr>
              <a:t>"What happens when an agent fails at 2am, and how do we know?"</a:t>
            </a:r>
            <a:endParaRPr lang="en-US" sz="950" dirty="0"/>
          </a:p>
        </p:txBody>
      </p:sp>
      <p:sp>
        <p:nvSpPr>
          <p:cNvPr id="28" name="Shape 26"/>
          <p:cNvSpPr/>
          <p:nvPr/>
        </p:nvSpPr>
        <p:spPr>
          <a:xfrm>
            <a:off x="457200" y="4261104"/>
            <a:ext cx="8412480" cy="658368"/>
          </a:xfrm>
          <a:prstGeom prst="roundRect">
            <a:avLst>
              <a:gd name="adj" fmla="val 9722"/>
            </a:avLst>
          </a:prstGeom>
          <a:solidFill>
            <a:srgbClr val="FFFFFF"/>
          </a:solidFill>
          <a:ln w="12700">
            <a:solidFill>
              <a:srgbClr val="C9DDE8"/>
            </a:solidFill>
            <a:prstDash val="solid"/>
          </a:ln>
          <a:effectLst>
            <a:outerShdw blurRad="101600" dist="38100" dir="2700000" algn="bl" rotWithShape="0">
              <a:srgbClr val="000000">
                <a:alpha val="10000"/>
              </a:srgbClr>
            </a:outerShdw>
          </a:effectLst>
        </p:spPr>
        <p:txBody>
          <a:bodyPr/>
          <a:lstStyle/>
          <a:p>
            <a:endParaRPr lang="en-US"/>
          </a:p>
        </p:txBody>
      </p:sp>
      <p:sp>
        <p:nvSpPr>
          <p:cNvPr id="29" name="Shape 27"/>
          <p:cNvSpPr/>
          <p:nvPr/>
        </p:nvSpPr>
        <p:spPr>
          <a:xfrm>
            <a:off x="566928" y="4398264"/>
            <a:ext cx="685800" cy="384048"/>
          </a:xfrm>
          <a:prstGeom prst="roundRect">
            <a:avLst>
              <a:gd name="adj" fmla="val 11905"/>
            </a:avLst>
          </a:prstGeom>
          <a:solidFill>
            <a:srgbClr val="243557"/>
          </a:solidFill>
          <a:ln w="12700">
            <a:solidFill>
              <a:srgbClr val="243557"/>
            </a:solidFill>
            <a:prstDash val="solid"/>
          </a:ln>
        </p:spPr>
        <p:txBody>
          <a:bodyPr/>
          <a:lstStyle/>
          <a:p>
            <a:endParaRPr lang="en-US"/>
          </a:p>
        </p:txBody>
      </p:sp>
      <p:sp>
        <p:nvSpPr>
          <p:cNvPr id="30" name="Text 28"/>
          <p:cNvSpPr/>
          <p:nvPr/>
        </p:nvSpPr>
        <p:spPr>
          <a:xfrm>
            <a:off x="566928" y="4398264"/>
            <a:ext cx="68580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CX</a:t>
            </a:r>
            <a:endParaRPr lang="en-US" sz="1100" dirty="0"/>
          </a:p>
        </p:txBody>
      </p:sp>
      <p:sp>
        <p:nvSpPr>
          <p:cNvPr id="31" name="Text 29"/>
          <p:cNvSpPr/>
          <p:nvPr/>
        </p:nvSpPr>
        <p:spPr>
          <a:xfrm>
            <a:off x="1325880" y="4352544"/>
            <a:ext cx="3108960" cy="237744"/>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Head of Customer Experience</a:t>
            </a:r>
            <a:endParaRPr lang="en-US" sz="1150" dirty="0"/>
          </a:p>
        </p:txBody>
      </p:sp>
      <p:sp>
        <p:nvSpPr>
          <p:cNvPr id="32" name="Text 30"/>
          <p:cNvSpPr/>
          <p:nvPr/>
        </p:nvSpPr>
        <p:spPr>
          <a:xfrm>
            <a:off x="1325880" y="4590288"/>
            <a:ext cx="4206240" cy="256032"/>
          </a:xfrm>
          <a:prstGeom prst="rect">
            <a:avLst/>
          </a:prstGeom>
          <a:noFill/>
          <a:ln/>
        </p:spPr>
        <p:txBody>
          <a:bodyPr wrap="square" lIns="0" tIns="0" rIns="0" bIns="0" rtlCol="0" anchor="ctr"/>
          <a:lstStyle/>
          <a:p>
            <a:pPr marL="0" indent="0">
              <a:lnSpc>
                <a:spcPct val="110000"/>
              </a:lnSpc>
              <a:buNone/>
            </a:pPr>
            <a:r>
              <a:rPr lang="en-US" sz="950" dirty="0">
                <a:solidFill>
                  <a:srgbClr val="4A5568"/>
                </a:solidFill>
                <a:latin typeface="Calibri" pitchFamily="34" charset="0"/>
                <a:ea typeface="Calibri" pitchFamily="34" charset="-122"/>
                <a:cs typeface="Calibri" pitchFamily="34" charset="-120"/>
              </a:rPr>
              <a:t>Hallucination risk, agent quality degradation, and brand reputation damage from customer-facing agent behavior.</a:t>
            </a:r>
            <a:endParaRPr lang="en-US" sz="950" dirty="0"/>
          </a:p>
        </p:txBody>
      </p:sp>
      <p:sp>
        <p:nvSpPr>
          <p:cNvPr id="33" name="Text 31"/>
          <p:cNvSpPr/>
          <p:nvPr/>
        </p:nvSpPr>
        <p:spPr>
          <a:xfrm>
            <a:off x="5577840" y="4398264"/>
            <a:ext cx="3108960" cy="384048"/>
          </a:xfrm>
          <a:prstGeom prst="rect">
            <a:avLst/>
          </a:prstGeom>
          <a:noFill/>
          <a:ln/>
        </p:spPr>
        <p:txBody>
          <a:bodyPr wrap="square" lIns="0" tIns="0" rIns="0" bIns="0" rtlCol="0" anchor="ctr"/>
          <a:lstStyle/>
          <a:p>
            <a:pPr marL="0" indent="0">
              <a:lnSpc>
                <a:spcPct val="110000"/>
              </a:lnSpc>
              <a:buNone/>
            </a:pPr>
            <a:r>
              <a:rPr lang="en-US" sz="950" i="1" dirty="0">
                <a:solidFill>
                  <a:srgbClr val="0D7B8A"/>
                </a:solidFill>
                <a:latin typeface="Calibri" pitchFamily="34" charset="0"/>
                <a:ea typeface="Calibri" pitchFamily="34" charset="-122"/>
                <a:cs typeface="Calibri" pitchFamily="34" charset="-120"/>
              </a:rPr>
              <a:t>"What's our exposure if a customer-facing agent says something wrong?"</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256032"/>
            <a:ext cx="7315200" cy="45720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Where We're Focused</a:t>
            </a:r>
            <a:endParaRPr lang="en-US" sz="2800" dirty="0"/>
          </a:p>
        </p:txBody>
      </p:sp>
      <p:sp>
        <p:nvSpPr>
          <p:cNvPr id="3" name="Text 1"/>
          <p:cNvSpPr/>
          <p:nvPr/>
        </p:nvSpPr>
        <p:spPr>
          <a:xfrm>
            <a:off x="502920" y="749808"/>
            <a:ext cx="7772400" cy="274320"/>
          </a:xfrm>
          <a:prstGeom prst="rect">
            <a:avLst/>
          </a:prstGeom>
          <a:noFill/>
          <a:ln/>
        </p:spPr>
        <p:txBody>
          <a:bodyPr wrap="square" lIns="0" tIns="0" rIns="0" bIns="0" rtlCol="0" anchor="ctr"/>
          <a:lstStyle/>
          <a:p>
            <a:pPr marL="0" indent="0">
              <a:buNone/>
            </a:pPr>
            <a:r>
              <a:rPr lang="en-US" sz="1300" i="1" dirty="0">
                <a:solidFill>
                  <a:srgbClr val="C9DDE8"/>
                </a:solidFill>
                <a:latin typeface="Calibri" pitchFamily="34" charset="0"/>
                <a:ea typeface="Calibri" pitchFamily="34" charset="-122"/>
                <a:cs typeface="Calibri" pitchFamily="34" charset="-120"/>
              </a:rPr>
              <a:t>Q1 target market: enterprise financial services with active AI programs and regulatory exposure</a:t>
            </a:r>
            <a:endParaRPr lang="en-US" sz="1300" dirty="0"/>
          </a:p>
        </p:txBody>
      </p:sp>
      <p:sp>
        <p:nvSpPr>
          <p:cNvPr id="4" name="Text 2"/>
          <p:cNvSpPr/>
          <p:nvPr/>
        </p:nvSpPr>
        <p:spPr>
          <a:xfrm>
            <a:off x="502920" y="1234440"/>
            <a:ext cx="4114800" cy="256032"/>
          </a:xfrm>
          <a:prstGeom prst="rect">
            <a:avLst/>
          </a:prstGeom>
          <a:noFill/>
          <a:ln/>
        </p:spPr>
        <p:txBody>
          <a:bodyPr wrap="square" lIns="0" tIns="0" rIns="0" bIns="0" rtlCol="0" anchor="ctr"/>
          <a:lstStyle/>
          <a:p>
            <a:pPr marL="0" indent="0">
              <a:buNone/>
            </a:pPr>
            <a:r>
              <a:rPr lang="en-US" sz="900" b="1" kern="0" spc="200" dirty="0">
                <a:solidFill>
                  <a:srgbClr val="C9DDE8"/>
                </a:solidFill>
                <a:latin typeface="Calibri" pitchFamily="34" charset="0"/>
                <a:ea typeface="Calibri" pitchFamily="34" charset="-122"/>
                <a:cs typeface="Calibri" pitchFamily="34" charset="-120"/>
              </a:rPr>
              <a:t>INDUSTRY FOCUS</a:t>
            </a:r>
            <a:endParaRPr lang="en-US" sz="900" dirty="0"/>
          </a:p>
        </p:txBody>
      </p:sp>
      <p:sp>
        <p:nvSpPr>
          <p:cNvPr id="5" name="Shape 3"/>
          <p:cNvSpPr/>
          <p:nvPr/>
        </p:nvSpPr>
        <p:spPr>
          <a:xfrm>
            <a:off x="502920" y="1600200"/>
            <a:ext cx="4023360" cy="658368"/>
          </a:xfrm>
          <a:prstGeom prst="roundRect">
            <a:avLst>
              <a:gd name="adj" fmla="val 9722"/>
            </a:avLst>
          </a:prstGeom>
          <a:solidFill>
            <a:srgbClr val="243557"/>
          </a:solidFill>
          <a:ln w="12700">
            <a:solidFill>
              <a:srgbClr val="3A5070"/>
            </a:solidFill>
            <a:prstDash val="solid"/>
          </a:ln>
        </p:spPr>
        <p:txBody>
          <a:bodyPr/>
          <a:lstStyle/>
          <a:p>
            <a:endParaRPr lang="en-US"/>
          </a:p>
        </p:txBody>
      </p:sp>
      <p:sp>
        <p:nvSpPr>
          <p:cNvPr id="6" name="Text 4"/>
          <p:cNvSpPr/>
          <p:nvPr/>
        </p:nvSpPr>
        <p:spPr>
          <a:xfrm>
            <a:off x="658368" y="1691640"/>
            <a:ext cx="3657600" cy="2286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Banking</a:t>
            </a:r>
            <a:endParaRPr lang="en-US" sz="1300" dirty="0"/>
          </a:p>
        </p:txBody>
      </p:sp>
      <p:sp>
        <p:nvSpPr>
          <p:cNvPr id="7" name="Text 5"/>
          <p:cNvSpPr/>
          <p:nvPr/>
        </p:nvSpPr>
        <p:spPr>
          <a:xfrm>
            <a:off x="658368" y="1938528"/>
            <a:ext cx="3657600" cy="237744"/>
          </a:xfrm>
          <a:prstGeom prst="rect">
            <a:avLst/>
          </a:prstGeom>
          <a:noFill/>
          <a:ln/>
        </p:spPr>
        <p:txBody>
          <a:bodyPr wrap="square" lIns="0" tIns="0" rIns="0" bIns="0" rtlCol="0" anchor="ctr"/>
          <a:lstStyle/>
          <a:p>
            <a:pPr marL="0" indent="0">
              <a:buNone/>
            </a:pPr>
            <a:r>
              <a:rPr lang="en-US" sz="950" dirty="0">
                <a:solidFill>
                  <a:srgbClr val="C9DDE8"/>
                </a:solidFill>
                <a:latin typeface="Calibri" pitchFamily="34" charset="0"/>
                <a:ea typeface="Calibri" pitchFamily="34" charset="-122"/>
                <a:cs typeface="Calibri" pitchFamily="34" charset="-120"/>
              </a:rPr>
              <a:t>Retail, Commercial, Investment, Private, Digital Banking</a:t>
            </a:r>
            <a:endParaRPr lang="en-US" sz="950" dirty="0"/>
          </a:p>
        </p:txBody>
      </p:sp>
      <p:sp>
        <p:nvSpPr>
          <p:cNvPr id="8" name="Shape 6"/>
          <p:cNvSpPr/>
          <p:nvPr/>
        </p:nvSpPr>
        <p:spPr>
          <a:xfrm>
            <a:off x="502920" y="2377440"/>
            <a:ext cx="4023360" cy="658368"/>
          </a:xfrm>
          <a:prstGeom prst="roundRect">
            <a:avLst>
              <a:gd name="adj" fmla="val 9722"/>
            </a:avLst>
          </a:prstGeom>
          <a:solidFill>
            <a:srgbClr val="243557"/>
          </a:solidFill>
          <a:ln w="12700">
            <a:solidFill>
              <a:srgbClr val="3A5070"/>
            </a:solidFill>
            <a:prstDash val="solid"/>
          </a:ln>
        </p:spPr>
        <p:txBody>
          <a:bodyPr/>
          <a:lstStyle/>
          <a:p>
            <a:endParaRPr lang="en-US"/>
          </a:p>
        </p:txBody>
      </p:sp>
      <p:sp>
        <p:nvSpPr>
          <p:cNvPr id="9" name="Text 7"/>
          <p:cNvSpPr/>
          <p:nvPr/>
        </p:nvSpPr>
        <p:spPr>
          <a:xfrm>
            <a:off x="658368" y="2468880"/>
            <a:ext cx="3657600" cy="2286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Insurance</a:t>
            </a:r>
            <a:endParaRPr lang="en-US" sz="1300" dirty="0"/>
          </a:p>
        </p:txBody>
      </p:sp>
      <p:sp>
        <p:nvSpPr>
          <p:cNvPr id="10" name="Text 8"/>
          <p:cNvSpPr/>
          <p:nvPr/>
        </p:nvSpPr>
        <p:spPr>
          <a:xfrm>
            <a:off x="658368" y="2715768"/>
            <a:ext cx="3657600" cy="237744"/>
          </a:xfrm>
          <a:prstGeom prst="rect">
            <a:avLst/>
          </a:prstGeom>
          <a:noFill/>
          <a:ln/>
        </p:spPr>
        <p:txBody>
          <a:bodyPr wrap="square" lIns="0" tIns="0" rIns="0" bIns="0" rtlCol="0" anchor="ctr"/>
          <a:lstStyle/>
          <a:p>
            <a:pPr marL="0" indent="0">
              <a:buNone/>
            </a:pPr>
            <a:r>
              <a:rPr lang="en-US" sz="950" dirty="0">
                <a:solidFill>
                  <a:srgbClr val="C9DDE8"/>
                </a:solidFill>
                <a:latin typeface="Calibri" pitchFamily="34" charset="0"/>
                <a:ea typeface="Calibri" pitchFamily="34" charset="-122"/>
                <a:cs typeface="Calibri" pitchFamily="34" charset="-120"/>
              </a:rPr>
              <a:t>P&amp;C, Life, Specialty, Reinsurance</a:t>
            </a:r>
            <a:endParaRPr lang="en-US" sz="950" dirty="0"/>
          </a:p>
        </p:txBody>
      </p:sp>
      <p:sp>
        <p:nvSpPr>
          <p:cNvPr id="11" name="Shape 9"/>
          <p:cNvSpPr/>
          <p:nvPr/>
        </p:nvSpPr>
        <p:spPr>
          <a:xfrm>
            <a:off x="502920" y="3154680"/>
            <a:ext cx="4023360" cy="658368"/>
          </a:xfrm>
          <a:prstGeom prst="roundRect">
            <a:avLst>
              <a:gd name="adj" fmla="val 9722"/>
            </a:avLst>
          </a:prstGeom>
          <a:solidFill>
            <a:srgbClr val="243557"/>
          </a:solidFill>
          <a:ln w="12700">
            <a:solidFill>
              <a:srgbClr val="3A5070"/>
            </a:solidFill>
            <a:prstDash val="solid"/>
          </a:ln>
        </p:spPr>
        <p:txBody>
          <a:bodyPr/>
          <a:lstStyle/>
          <a:p>
            <a:endParaRPr lang="en-US"/>
          </a:p>
        </p:txBody>
      </p:sp>
      <p:sp>
        <p:nvSpPr>
          <p:cNvPr id="12" name="Text 10"/>
          <p:cNvSpPr/>
          <p:nvPr/>
        </p:nvSpPr>
        <p:spPr>
          <a:xfrm>
            <a:off x="658368" y="3246120"/>
            <a:ext cx="3657600" cy="2286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Wealth Management</a:t>
            </a:r>
            <a:endParaRPr lang="en-US" sz="1300" dirty="0"/>
          </a:p>
        </p:txBody>
      </p:sp>
      <p:sp>
        <p:nvSpPr>
          <p:cNvPr id="13" name="Text 11"/>
          <p:cNvSpPr/>
          <p:nvPr/>
        </p:nvSpPr>
        <p:spPr>
          <a:xfrm>
            <a:off x="658368" y="3493008"/>
            <a:ext cx="3657600" cy="237744"/>
          </a:xfrm>
          <a:prstGeom prst="rect">
            <a:avLst/>
          </a:prstGeom>
          <a:noFill/>
          <a:ln/>
        </p:spPr>
        <p:txBody>
          <a:bodyPr wrap="square" lIns="0" tIns="0" rIns="0" bIns="0" rtlCol="0" anchor="ctr"/>
          <a:lstStyle/>
          <a:p>
            <a:pPr marL="0" indent="0">
              <a:buNone/>
            </a:pPr>
            <a:r>
              <a:rPr lang="en-US" sz="950" dirty="0">
                <a:solidFill>
                  <a:srgbClr val="C9DDE8"/>
                </a:solidFill>
                <a:latin typeface="Calibri" pitchFamily="34" charset="0"/>
                <a:ea typeface="Calibri" pitchFamily="34" charset="-122"/>
                <a:cs typeface="Calibri" pitchFamily="34" charset="-120"/>
              </a:rPr>
              <a:t>Asset Management, RIAs, Broker-Dealers, Family Offices</a:t>
            </a:r>
            <a:endParaRPr lang="en-US" sz="950" dirty="0"/>
          </a:p>
        </p:txBody>
      </p:sp>
      <p:sp>
        <p:nvSpPr>
          <p:cNvPr id="14" name="Shape 12"/>
          <p:cNvSpPr/>
          <p:nvPr/>
        </p:nvSpPr>
        <p:spPr>
          <a:xfrm>
            <a:off x="502920" y="3931920"/>
            <a:ext cx="4023360" cy="658368"/>
          </a:xfrm>
          <a:prstGeom prst="roundRect">
            <a:avLst>
              <a:gd name="adj" fmla="val 9722"/>
            </a:avLst>
          </a:prstGeom>
          <a:solidFill>
            <a:srgbClr val="243557"/>
          </a:solidFill>
          <a:ln w="12700">
            <a:solidFill>
              <a:srgbClr val="3A5070"/>
            </a:solidFill>
            <a:prstDash val="solid"/>
          </a:ln>
        </p:spPr>
        <p:txBody>
          <a:bodyPr/>
          <a:lstStyle/>
          <a:p>
            <a:endParaRPr lang="en-US"/>
          </a:p>
        </p:txBody>
      </p:sp>
      <p:sp>
        <p:nvSpPr>
          <p:cNvPr id="15" name="Text 13"/>
          <p:cNvSpPr/>
          <p:nvPr/>
        </p:nvSpPr>
        <p:spPr>
          <a:xfrm>
            <a:off x="658368" y="4023360"/>
            <a:ext cx="3657600" cy="2286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Fintech</a:t>
            </a:r>
            <a:endParaRPr lang="en-US" sz="1300" dirty="0"/>
          </a:p>
        </p:txBody>
      </p:sp>
      <p:sp>
        <p:nvSpPr>
          <p:cNvPr id="16" name="Text 14"/>
          <p:cNvSpPr/>
          <p:nvPr/>
        </p:nvSpPr>
        <p:spPr>
          <a:xfrm>
            <a:off x="658368" y="4270248"/>
            <a:ext cx="3657600" cy="237744"/>
          </a:xfrm>
          <a:prstGeom prst="rect">
            <a:avLst/>
          </a:prstGeom>
          <a:noFill/>
          <a:ln/>
        </p:spPr>
        <p:txBody>
          <a:bodyPr wrap="square" lIns="0" tIns="0" rIns="0" bIns="0" rtlCol="0" anchor="ctr"/>
          <a:lstStyle/>
          <a:p>
            <a:pPr marL="0" indent="0">
              <a:buNone/>
            </a:pPr>
            <a:r>
              <a:rPr lang="en-US" sz="950" dirty="0">
                <a:solidFill>
                  <a:srgbClr val="C9DDE8"/>
                </a:solidFill>
                <a:latin typeface="Calibri" pitchFamily="34" charset="0"/>
                <a:ea typeface="Calibri" pitchFamily="34" charset="-122"/>
                <a:cs typeface="Calibri" pitchFamily="34" charset="-120"/>
              </a:rPr>
              <a:t>Payments, Regtech, Digital Lending, Embedded Finance</a:t>
            </a:r>
            <a:endParaRPr lang="en-US" sz="950" dirty="0"/>
          </a:p>
        </p:txBody>
      </p:sp>
      <p:sp>
        <p:nvSpPr>
          <p:cNvPr id="17" name="Text 15"/>
          <p:cNvSpPr/>
          <p:nvPr/>
        </p:nvSpPr>
        <p:spPr>
          <a:xfrm>
            <a:off x="4754880" y="1234440"/>
            <a:ext cx="4114800" cy="256032"/>
          </a:xfrm>
          <a:prstGeom prst="rect">
            <a:avLst/>
          </a:prstGeom>
          <a:noFill/>
          <a:ln/>
        </p:spPr>
        <p:txBody>
          <a:bodyPr wrap="square" lIns="0" tIns="0" rIns="0" bIns="0" rtlCol="0" anchor="ctr"/>
          <a:lstStyle/>
          <a:p>
            <a:pPr marL="0" indent="0">
              <a:buNone/>
            </a:pPr>
            <a:r>
              <a:rPr lang="en-US" sz="900" b="1" kern="0" spc="200" dirty="0">
                <a:solidFill>
                  <a:srgbClr val="C9DDE8"/>
                </a:solidFill>
                <a:latin typeface="Calibri" pitchFamily="34" charset="0"/>
                <a:ea typeface="Calibri" pitchFamily="34" charset="-122"/>
                <a:cs typeface="Calibri" pitchFamily="34" charset="-120"/>
              </a:rPr>
              <a:t>GEOGRAPHY &amp; ACCOUNT PROFILE</a:t>
            </a:r>
            <a:endParaRPr lang="en-US" sz="900" dirty="0"/>
          </a:p>
        </p:txBody>
      </p:sp>
      <p:sp>
        <p:nvSpPr>
          <p:cNvPr id="18" name="Shape 16"/>
          <p:cNvSpPr/>
          <p:nvPr/>
        </p:nvSpPr>
        <p:spPr>
          <a:xfrm>
            <a:off x="4754880" y="1600200"/>
            <a:ext cx="4069080" cy="658368"/>
          </a:xfrm>
          <a:prstGeom prst="roundRect">
            <a:avLst>
              <a:gd name="adj" fmla="val 9722"/>
            </a:avLst>
          </a:prstGeom>
          <a:solidFill>
            <a:srgbClr val="243557"/>
          </a:solidFill>
          <a:ln w="12700">
            <a:solidFill>
              <a:srgbClr val="3A5070"/>
            </a:solidFill>
            <a:prstDash val="solid"/>
          </a:ln>
        </p:spPr>
        <p:txBody>
          <a:bodyPr/>
          <a:lstStyle/>
          <a:p>
            <a:endParaRPr lang="en-US"/>
          </a:p>
        </p:txBody>
      </p:sp>
      <p:sp>
        <p:nvSpPr>
          <p:cNvPr id="19" name="Text 17"/>
          <p:cNvSpPr/>
          <p:nvPr/>
        </p:nvSpPr>
        <p:spPr>
          <a:xfrm>
            <a:off x="4910328" y="1691640"/>
            <a:ext cx="3749040" cy="228600"/>
          </a:xfrm>
          <a:prstGeom prst="rect">
            <a:avLst/>
          </a:prstGeom>
          <a:noFill/>
          <a:ln/>
        </p:spPr>
        <p:txBody>
          <a:bodyPr wrap="square" lIns="0" tIns="0" rIns="0" bIns="0" rtlCol="0" anchor="ctr"/>
          <a:lstStyle/>
          <a:p>
            <a:pPr marL="0" indent="0">
              <a:buNone/>
            </a:pPr>
            <a:r>
              <a:rPr lang="en-US" sz="1200" b="1" dirty="0">
                <a:solidFill>
                  <a:srgbClr val="C9DDE8"/>
                </a:solidFill>
                <a:latin typeface="Calibri" pitchFamily="34" charset="0"/>
                <a:ea typeface="Calibri" pitchFamily="34" charset="-122"/>
                <a:cs typeface="Calibri" pitchFamily="34" charset="-120"/>
              </a:rPr>
              <a:t>North America  —  Primary</a:t>
            </a:r>
            <a:endParaRPr lang="en-US" sz="1200" dirty="0"/>
          </a:p>
        </p:txBody>
      </p:sp>
      <p:sp>
        <p:nvSpPr>
          <p:cNvPr id="20" name="Text 18"/>
          <p:cNvSpPr/>
          <p:nvPr/>
        </p:nvSpPr>
        <p:spPr>
          <a:xfrm>
            <a:off x="4910328" y="1938528"/>
            <a:ext cx="3749040" cy="237744"/>
          </a:xfrm>
          <a:prstGeom prst="rect">
            <a:avLst/>
          </a:prstGeom>
          <a:noFill/>
          <a:ln/>
        </p:spPr>
        <p:txBody>
          <a:bodyPr wrap="square" lIns="0" tIns="0" rIns="0" bIns="0" rtlCol="0" anchor="ctr"/>
          <a:lstStyle/>
          <a:p>
            <a:pPr marL="0" indent="0">
              <a:buNone/>
            </a:pPr>
            <a:r>
              <a:rPr lang="en-US" sz="950" dirty="0">
                <a:solidFill>
                  <a:srgbClr val="C9DDE8"/>
                </a:solidFill>
                <a:latin typeface="Calibri" pitchFamily="34" charset="0"/>
                <a:ea typeface="Calibri" pitchFamily="34" charset="-122"/>
                <a:cs typeface="Calibri" pitchFamily="34" charset="-120"/>
              </a:rPr>
              <a:t>US + Canada — OCC/CFPB regulatory environment</a:t>
            </a:r>
            <a:endParaRPr lang="en-US" sz="950" dirty="0"/>
          </a:p>
        </p:txBody>
      </p:sp>
      <p:sp>
        <p:nvSpPr>
          <p:cNvPr id="21" name="Shape 19"/>
          <p:cNvSpPr/>
          <p:nvPr/>
        </p:nvSpPr>
        <p:spPr>
          <a:xfrm>
            <a:off x="4754880" y="2377440"/>
            <a:ext cx="4069080" cy="658368"/>
          </a:xfrm>
          <a:prstGeom prst="roundRect">
            <a:avLst>
              <a:gd name="adj" fmla="val 9722"/>
            </a:avLst>
          </a:prstGeom>
          <a:solidFill>
            <a:srgbClr val="243557"/>
          </a:solidFill>
          <a:ln w="12700">
            <a:solidFill>
              <a:srgbClr val="3A5070"/>
            </a:solidFill>
            <a:prstDash val="solid"/>
          </a:ln>
        </p:spPr>
        <p:txBody>
          <a:bodyPr/>
          <a:lstStyle/>
          <a:p>
            <a:endParaRPr lang="en-US"/>
          </a:p>
        </p:txBody>
      </p:sp>
      <p:sp>
        <p:nvSpPr>
          <p:cNvPr id="22" name="Text 20"/>
          <p:cNvSpPr/>
          <p:nvPr/>
        </p:nvSpPr>
        <p:spPr>
          <a:xfrm>
            <a:off x="4910328" y="2468880"/>
            <a:ext cx="3749040" cy="228600"/>
          </a:xfrm>
          <a:prstGeom prst="rect">
            <a:avLst/>
          </a:prstGeom>
          <a:noFill/>
          <a:ln/>
        </p:spPr>
        <p:txBody>
          <a:bodyPr wrap="square" lIns="0" tIns="0" rIns="0" bIns="0" rtlCol="0" anchor="ctr"/>
          <a:lstStyle/>
          <a:p>
            <a:pPr marL="0" indent="0">
              <a:buNone/>
            </a:pPr>
            <a:r>
              <a:rPr lang="en-US" sz="1200" b="1" dirty="0">
                <a:solidFill>
                  <a:srgbClr val="C9DDE8"/>
                </a:solidFill>
                <a:latin typeface="Calibri" pitchFamily="34" charset="0"/>
                <a:ea typeface="Calibri" pitchFamily="34" charset="-122"/>
                <a:cs typeface="Calibri" pitchFamily="34" charset="-120"/>
              </a:rPr>
              <a:t>United Kingdom  —  Primary</a:t>
            </a:r>
            <a:endParaRPr lang="en-US" sz="1200" dirty="0"/>
          </a:p>
        </p:txBody>
      </p:sp>
      <p:sp>
        <p:nvSpPr>
          <p:cNvPr id="23" name="Text 21"/>
          <p:cNvSpPr/>
          <p:nvPr/>
        </p:nvSpPr>
        <p:spPr>
          <a:xfrm>
            <a:off x="4910328" y="2715768"/>
            <a:ext cx="3749040" cy="237744"/>
          </a:xfrm>
          <a:prstGeom prst="rect">
            <a:avLst/>
          </a:prstGeom>
          <a:noFill/>
          <a:ln/>
        </p:spPr>
        <p:txBody>
          <a:bodyPr wrap="square" lIns="0" tIns="0" rIns="0" bIns="0" rtlCol="0" anchor="ctr"/>
          <a:lstStyle/>
          <a:p>
            <a:pPr marL="0" indent="0">
              <a:buNone/>
            </a:pPr>
            <a:r>
              <a:rPr lang="en-US" sz="950" dirty="0">
                <a:solidFill>
                  <a:srgbClr val="C9DDE8"/>
                </a:solidFill>
                <a:latin typeface="Calibri" pitchFamily="34" charset="0"/>
                <a:ea typeface="Calibri" pitchFamily="34" charset="-122"/>
                <a:cs typeface="Calibri" pitchFamily="34" charset="-120"/>
              </a:rPr>
              <a:t>FCA AI Strategy + Consumer Duty</a:t>
            </a:r>
            <a:endParaRPr lang="en-US" sz="950" dirty="0"/>
          </a:p>
        </p:txBody>
      </p:sp>
      <p:sp>
        <p:nvSpPr>
          <p:cNvPr id="24" name="Shape 22"/>
          <p:cNvSpPr/>
          <p:nvPr/>
        </p:nvSpPr>
        <p:spPr>
          <a:xfrm>
            <a:off x="4754880" y="3154680"/>
            <a:ext cx="4069080" cy="658368"/>
          </a:xfrm>
          <a:prstGeom prst="roundRect">
            <a:avLst>
              <a:gd name="adj" fmla="val 9722"/>
            </a:avLst>
          </a:prstGeom>
          <a:solidFill>
            <a:srgbClr val="243557"/>
          </a:solidFill>
          <a:ln w="12700">
            <a:solidFill>
              <a:srgbClr val="3A5070"/>
            </a:solidFill>
            <a:prstDash val="solid"/>
          </a:ln>
        </p:spPr>
        <p:txBody>
          <a:bodyPr/>
          <a:lstStyle/>
          <a:p>
            <a:endParaRPr lang="en-US"/>
          </a:p>
        </p:txBody>
      </p:sp>
      <p:sp>
        <p:nvSpPr>
          <p:cNvPr id="25" name="Text 23"/>
          <p:cNvSpPr/>
          <p:nvPr/>
        </p:nvSpPr>
        <p:spPr>
          <a:xfrm>
            <a:off x="4910328" y="3246120"/>
            <a:ext cx="3749040" cy="228600"/>
          </a:xfrm>
          <a:prstGeom prst="rect">
            <a:avLst/>
          </a:prstGeom>
          <a:noFill/>
          <a:ln/>
        </p:spPr>
        <p:txBody>
          <a:bodyPr wrap="square" lIns="0" tIns="0" rIns="0" bIns="0" rtlCol="0" anchor="ctr"/>
          <a:lstStyle/>
          <a:p>
            <a:pPr marL="0" indent="0">
              <a:buNone/>
            </a:pPr>
            <a:r>
              <a:rPr lang="en-US" sz="1200" b="1" dirty="0">
                <a:solidFill>
                  <a:srgbClr val="C9DDE8"/>
                </a:solidFill>
                <a:latin typeface="Calibri" pitchFamily="34" charset="0"/>
                <a:ea typeface="Calibri" pitchFamily="34" charset="-122"/>
                <a:cs typeface="Calibri" pitchFamily="34" charset="-120"/>
              </a:rPr>
              <a:t>Western Europe  —  Primary</a:t>
            </a:r>
            <a:endParaRPr lang="en-US" sz="1200" dirty="0"/>
          </a:p>
        </p:txBody>
      </p:sp>
      <p:sp>
        <p:nvSpPr>
          <p:cNvPr id="26" name="Text 24"/>
          <p:cNvSpPr/>
          <p:nvPr/>
        </p:nvSpPr>
        <p:spPr>
          <a:xfrm>
            <a:off x="4910328" y="3493008"/>
            <a:ext cx="3749040" cy="237744"/>
          </a:xfrm>
          <a:prstGeom prst="rect">
            <a:avLst/>
          </a:prstGeom>
          <a:noFill/>
          <a:ln/>
        </p:spPr>
        <p:txBody>
          <a:bodyPr wrap="square" lIns="0" tIns="0" rIns="0" bIns="0" rtlCol="0" anchor="ctr"/>
          <a:lstStyle/>
          <a:p>
            <a:pPr marL="0" indent="0">
              <a:buNone/>
            </a:pPr>
            <a:r>
              <a:rPr lang="en-US" sz="950" dirty="0">
                <a:solidFill>
                  <a:srgbClr val="C9DDE8"/>
                </a:solidFill>
                <a:latin typeface="Calibri" pitchFamily="34" charset="0"/>
                <a:ea typeface="Calibri" pitchFamily="34" charset="-122"/>
                <a:cs typeface="Calibri" pitchFamily="34" charset="-120"/>
              </a:rPr>
              <a:t>EU AI Act compliance urgency — Germany, France, Netherlands, Nordics</a:t>
            </a:r>
            <a:endParaRPr lang="en-US" sz="950" dirty="0"/>
          </a:p>
        </p:txBody>
      </p:sp>
      <p:sp>
        <p:nvSpPr>
          <p:cNvPr id="27" name="Shape 25"/>
          <p:cNvSpPr/>
          <p:nvPr/>
        </p:nvSpPr>
        <p:spPr>
          <a:xfrm>
            <a:off x="4754880" y="3931920"/>
            <a:ext cx="4069080" cy="658368"/>
          </a:xfrm>
          <a:prstGeom prst="roundRect">
            <a:avLst>
              <a:gd name="adj" fmla="val 9722"/>
            </a:avLst>
          </a:prstGeom>
          <a:solidFill>
            <a:srgbClr val="243557"/>
          </a:solidFill>
          <a:ln w="12700">
            <a:solidFill>
              <a:srgbClr val="3A5070"/>
            </a:solidFill>
            <a:prstDash val="solid"/>
          </a:ln>
        </p:spPr>
        <p:txBody>
          <a:bodyPr/>
          <a:lstStyle/>
          <a:p>
            <a:endParaRPr lang="en-US"/>
          </a:p>
        </p:txBody>
      </p:sp>
      <p:sp>
        <p:nvSpPr>
          <p:cNvPr id="28" name="Text 26"/>
          <p:cNvSpPr/>
          <p:nvPr/>
        </p:nvSpPr>
        <p:spPr>
          <a:xfrm>
            <a:off x="4910328" y="4023360"/>
            <a:ext cx="3749040" cy="228600"/>
          </a:xfrm>
          <a:prstGeom prst="rect">
            <a:avLst/>
          </a:prstGeom>
          <a:noFill/>
          <a:ln/>
        </p:spPr>
        <p:txBody>
          <a:bodyPr wrap="square" lIns="0" tIns="0" rIns="0" bIns="0" rtlCol="0" anchor="ctr"/>
          <a:lstStyle/>
          <a:p>
            <a:pPr marL="0" indent="0">
              <a:buNone/>
            </a:pPr>
            <a:r>
              <a:rPr lang="en-US" sz="1200" b="1" dirty="0">
                <a:solidFill>
                  <a:srgbClr val="8FADC8"/>
                </a:solidFill>
                <a:latin typeface="Calibri" pitchFamily="34" charset="0"/>
                <a:ea typeface="Calibri" pitchFamily="34" charset="-122"/>
                <a:cs typeface="Calibri" pitchFamily="34" charset="-120"/>
              </a:rPr>
              <a:t>Singapore &amp; Australia  —  Secondary</a:t>
            </a:r>
            <a:endParaRPr lang="en-US" sz="1200" dirty="0"/>
          </a:p>
        </p:txBody>
      </p:sp>
      <p:sp>
        <p:nvSpPr>
          <p:cNvPr id="29" name="Text 27"/>
          <p:cNvSpPr/>
          <p:nvPr/>
        </p:nvSpPr>
        <p:spPr>
          <a:xfrm>
            <a:off x="4910328" y="4270248"/>
            <a:ext cx="3749040" cy="237744"/>
          </a:xfrm>
          <a:prstGeom prst="rect">
            <a:avLst/>
          </a:prstGeom>
          <a:noFill/>
          <a:ln/>
        </p:spPr>
        <p:txBody>
          <a:bodyPr wrap="square" lIns="0" tIns="0" rIns="0" bIns="0" rtlCol="0" anchor="ctr"/>
          <a:lstStyle/>
          <a:p>
            <a:pPr marL="0" indent="0">
              <a:buNone/>
            </a:pPr>
            <a:r>
              <a:rPr lang="en-US" sz="950" dirty="0">
                <a:solidFill>
                  <a:srgbClr val="C9DDE8"/>
                </a:solidFill>
                <a:latin typeface="Calibri" pitchFamily="34" charset="0"/>
                <a:ea typeface="Calibri" pitchFamily="34" charset="-122"/>
                <a:cs typeface="Calibri" pitchFamily="34" charset="-120"/>
              </a:rPr>
              <a:t>MAS + APRA frameworks, regional HQ accounts</a:t>
            </a:r>
            <a:endParaRPr lang="en-US" sz="950" dirty="0"/>
          </a:p>
        </p:txBody>
      </p:sp>
      <p:sp>
        <p:nvSpPr>
          <p:cNvPr id="30" name="Shape 28"/>
          <p:cNvSpPr/>
          <p:nvPr/>
        </p:nvSpPr>
        <p:spPr>
          <a:xfrm>
            <a:off x="502920" y="4709160"/>
            <a:ext cx="8321040" cy="310896"/>
          </a:xfrm>
          <a:prstGeom prst="rect">
            <a:avLst/>
          </a:prstGeom>
          <a:solidFill>
            <a:srgbClr val="0D7B8A"/>
          </a:solidFill>
          <a:ln w="12700">
            <a:solidFill>
              <a:srgbClr val="0D7B8A"/>
            </a:solidFill>
            <a:prstDash val="solid"/>
          </a:ln>
        </p:spPr>
        <p:txBody>
          <a:bodyPr/>
          <a:lstStyle/>
          <a:p>
            <a:endParaRPr lang="en-US"/>
          </a:p>
        </p:txBody>
      </p:sp>
      <p:sp>
        <p:nvSpPr>
          <p:cNvPr id="31" name="Text 29"/>
          <p:cNvSpPr/>
          <p:nvPr/>
        </p:nvSpPr>
        <p:spPr>
          <a:xfrm>
            <a:off x="594360" y="4727448"/>
            <a:ext cx="8138160" cy="27432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ACCOUNT THRESHOLD: $1B+ annual revenue  |  500+ employees  |  Active AI agent program in production  |  Tier 1 or Tier 2 accounts only</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Primary Buyer Profile</a:t>
            </a:r>
            <a:endParaRPr lang="en-US" sz="2800" dirty="0"/>
          </a:p>
        </p:txBody>
      </p:sp>
      <p:sp>
        <p:nvSpPr>
          <p:cNvPr id="3" name="Text 1"/>
          <p:cNvSpPr/>
          <p:nvPr/>
        </p:nvSpPr>
        <p:spPr>
          <a:xfrm>
            <a:off x="457200" y="749808"/>
            <a:ext cx="8229600" cy="274320"/>
          </a:xfrm>
          <a:prstGeom prst="rect">
            <a:avLst/>
          </a:prstGeom>
          <a:noFill/>
          <a:ln/>
        </p:spPr>
        <p:txBody>
          <a:bodyPr wrap="square" lIns="0" tIns="0" rIns="0" bIns="0" rtlCol="0" anchor="ctr"/>
          <a:lstStyle/>
          <a:p>
            <a:pPr marL="0" indent="0">
              <a:buNone/>
            </a:pPr>
            <a:r>
              <a:rPr lang="en-US" sz="1300" i="1" dirty="0">
                <a:solidFill>
                  <a:srgbClr val="6B7A8D"/>
                </a:solidFill>
                <a:latin typeface="Calibri" pitchFamily="34" charset="0"/>
                <a:ea typeface="Calibri" pitchFamily="34" charset="-122"/>
                <a:cs typeface="Calibri" pitchFamily="34" charset="-120"/>
              </a:rPr>
              <a:t>Chief Risk Officer &amp; Chief Compliance Officer — our primary entry point and strongest champion profile</a:t>
            </a:r>
            <a:endParaRPr lang="en-US" sz="1300" dirty="0"/>
          </a:p>
        </p:txBody>
      </p:sp>
      <p:sp>
        <p:nvSpPr>
          <p:cNvPr id="4" name="Shape 2"/>
          <p:cNvSpPr/>
          <p:nvPr/>
        </p:nvSpPr>
        <p:spPr>
          <a:xfrm>
            <a:off x="457200" y="1234440"/>
            <a:ext cx="4114800" cy="3703320"/>
          </a:xfrm>
          <a:prstGeom prst="roundRect">
            <a:avLst>
              <a:gd name="adj" fmla="val 2469"/>
            </a:avLst>
          </a:prstGeom>
          <a:solidFill>
            <a:srgbClr val="FFFFFF"/>
          </a:solidFill>
          <a:ln w="12700">
            <a:solidFill>
              <a:srgbClr val="0D7B8A"/>
            </a:solidFill>
            <a:prstDash val="solid"/>
          </a:ln>
          <a:effectLst>
            <a:outerShdw blurRad="101600" dist="38100" dir="2700000" algn="bl" rotWithShape="0">
              <a:srgbClr val="000000">
                <a:alpha val="10000"/>
              </a:srgbClr>
            </a:outerShdw>
          </a:effectLst>
        </p:spPr>
        <p:txBody>
          <a:bodyPr/>
          <a:lstStyle/>
          <a:p>
            <a:endParaRPr lang="en-US"/>
          </a:p>
        </p:txBody>
      </p:sp>
      <p:sp>
        <p:nvSpPr>
          <p:cNvPr id="5" name="Text 3"/>
          <p:cNvSpPr/>
          <p:nvPr/>
        </p:nvSpPr>
        <p:spPr>
          <a:xfrm>
            <a:off x="621792" y="1371600"/>
            <a:ext cx="3785616" cy="292608"/>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Chief Risk Officer (CRO)</a:t>
            </a:r>
            <a:endParaRPr lang="en-US" sz="1400" dirty="0"/>
          </a:p>
        </p:txBody>
      </p:sp>
      <p:sp>
        <p:nvSpPr>
          <p:cNvPr id="6" name="Text 4"/>
          <p:cNvSpPr/>
          <p:nvPr/>
        </p:nvSpPr>
        <p:spPr>
          <a:xfrm>
            <a:off x="621792" y="1673352"/>
            <a:ext cx="3785616" cy="201168"/>
          </a:xfrm>
          <a:prstGeom prst="rect">
            <a:avLst/>
          </a:prstGeom>
          <a:noFill/>
          <a:ln/>
        </p:spPr>
        <p:txBody>
          <a:bodyPr wrap="square" lIns="0" tIns="0" rIns="0" bIns="0" rtlCol="0" anchor="ctr"/>
          <a:lstStyle/>
          <a:p>
            <a:pPr marL="0" indent="0">
              <a:buNone/>
            </a:pPr>
            <a:r>
              <a:rPr lang="en-US" sz="900" dirty="0">
                <a:solidFill>
                  <a:srgbClr val="0D7B8A"/>
                </a:solidFill>
                <a:latin typeface="Calibri" pitchFamily="34" charset="0"/>
                <a:ea typeface="Calibri" pitchFamily="34" charset="-122"/>
                <a:cs typeface="Calibri" pitchFamily="34" charset="-120"/>
              </a:rPr>
              <a:t>Risk Management / Second Line of Defense  |  C-Suite</a:t>
            </a:r>
            <a:endParaRPr lang="en-US" sz="900" dirty="0"/>
          </a:p>
        </p:txBody>
      </p:sp>
      <p:sp>
        <p:nvSpPr>
          <p:cNvPr id="7" name="Text 5"/>
          <p:cNvSpPr/>
          <p:nvPr/>
        </p:nvSpPr>
        <p:spPr>
          <a:xfrm>
            <a:off x="621792" y="1938528"/>
            <a:ext cx="3785616" cy="182880"/>
          </a:xfrm>
          <a:prstGeom prst="rect">
            <a:avLst/>
          </a:prstGeom>
          <a:noFill/>
          <a:ln/>
        </p:spPr>
        <p:txBody>
          <a:bodyPr wrap="square" lIns="0" tIns="0" rIns="0" bIns="0" rtlCol="0" anchor="ctr"/>
          <a:lstStyle/>
          <a:p>
            <a:pPr marL="0" indent="0">
              <a:buNone/>
            </a:pPr>
            <a:r>
              <a:rPr lang="en-US" sz="800" b="1" kern="0" spc="150" dirty="0">
                <a:solidFill>
                  <a:srgbClr val="6B7A8D"/>
                </a:solidFill>
                <a:latin typeface="Calibri" pitchFamily="34" charset="0"/>
                <a:ea typeface="Calibri" pitchFamily="34" charset="-122"/>
                <a:cs typeface="Calibri" pitchFamily="34" charset="-120"/>
              </a:rPr>
              <a:t>TOP PAIN POINTS</a:t>
            </a:r>
            <a:endParaRPr lang="en-US" sz="800" dirty="0"/>
          </a:p>
        </p:txBody>
      </p:sp>
      <p:sp>
        <p:nvSpPr>
          <p:cNvPr id="8" name="Text 6"/>
          <p:cNvSpPr/>
          <p:nvPr/>
        </p:nvSpPr>
        <p:spPr>
          <a:xfrm>
            <a:off x="621792" y="2121408"/>
            <a:ext cx="3785616" cy="804672"/>
          </a:xfrm>
          <a:prstGeom prst="rect">
            <a:avLst/>
          </a:prstGeom>
          <a:noFill/>
          <a:ln/>
        </p:spPr>
        <p:txBody>
          <a:bodyPr wrap="square" lIns="0" tIns="0" rIns="0" bIns="0" rtlCol="0" anchor="ctr"/>
          <a:lstStyle/>
          <a:p>
            <a:pPr marL="342900" indent="-342900">
              <a:lnSpc>
                <a:spcPct val="110000"/>
              </a:lnSpc>
              <a:spcAft>
                <a:spcPts val="300"/>
              </a:spcAft>
              <a:buSzPct val="100000"/>
              <a:buChar char="•"/>
            </a:pPr>
            <a:r>
              <a:rPr lang="en-US" sz="950" dirty="0">
                <a:solidFill>
                  <a:srgbClr val="4A5568"/>
                </a:solidFill>
                <a:latin typeface="Calibri" pitchFamily="34" charset="0"/>
                <a:ea typeface="Calibri" pitchFamily="34" charset="-122"/>
                <a:cs typeface="Calibri" pitchFamily="34" charset="-120"/>
              </a:rPr>
              <a:t>AI agents making decisions outside approved model risk frameworks</a:t>
            </a:r>
            <a:endParaRPr lang="en-US" sz="950" dirty="0"/>
          </a:p>
          <a:p>
            <a:pPr marL="342900" indent="-342900">
              <a:lnSpc>
                <a:spcPct val="110000"/>
              </a:lnSpc>
              <a:spcAft>
                <a:spcPts val="300"/>
              </a:spcAft>
              <a:buSzPct val="100000"/>
              <a:buChar char="•"/>
            </a:pPr>
            <a:r>
              <a:rPr lang="en-US" sz="950" dirty="0">
                <a:solidFill>
                  <a:srgbClr val="4A5568"/>
                </a:solidFill>
                <a:latin typeface="Calibri" pitchFamily="34" charset="0"/>
                <a:ea typeface="Calibri" pitchFamily="34" charset="-122"/>
                <a:cs typeface="Calibri" pitchFamily="34" charset="-120"/>
              </a:rPr>
              <a:t>Inability to produce model validation evidence on demand</a:t>
            </a:r>
            <a:endParaRPr lang="en-US" sz="950" dirty="0"/>
          </a:p>
          <a:p>
            <a:pPr marL="342900" indent="-342900">
              <a:lnSpc>
                <a:spcPct val="110000"/>
              </a:lnSpc>
              <a:spcAft>
                <a:spcPts val="300"/>
              </a:spcAft>
              <a:buSzPct val="100000"/>
              <a:buChar char="•"/>
            </a:pPr>
            <a:r>
              <a:rPr lang="en-US" sz="950" dirty="0">
                <a:solidFill>
                  <a:srgbClr val="4A5568"/>
                </a:solidFill>
                <a:latin typeface="Calibri" pitchFamily="34" charset="0"/>
                <a:ea typeface="Calibri" pitchFamily="34" charset="-122"/>
                <a:cs typeface="Calibri" pitchFamily="34" charset="-120"/>
              </a:rPr>
              <a:t>Regulatory examination risk tied to undocumented AI behavior</a:t>
            </a:r>
            <a:endParaRPr lang="en-US" sz="950" dirty="0"/>
          </a:p>
          <a:p>
            <a:pPr marL="342900" indent="-342900">
              <a:lnSpc>
                <a:spcPct val="110000"/>
              </a:lnSpc>
              <a:spcAft>
                <a:spcPts val="300"/>
              </a:spcAft>
              <a:buSzPct val="100000"/>
              <a:buChar char="•"/>
            </a:pPr>
            <a:r>
              <a:rPr lang="en-US" sz="950" dirty="0">
                <a:solidFill>
                  <a:srgbClr val="4A5568"/>
                </a:solidFill>
                <a:latin typeface="Calibri" pitchFamily="34" charset="0"/>
                <a:ea typeface="Calibri" pitchFamily="34" charset="-122"/>
                <a:cs typeface="Calibri" pitchFamily="34" charset="-120"/>
              </a:rPr>
              <a:t>Board pressure to quantify AI risk exposure across the enterprise</a:t>
            </a:r>
            <a:endParaRPr lang="en-US" sz="950" dirty="0"/>
          </a:p>
        </p:txBody>
      </p:sp>
      <p:sp>
        <p:nvSpPr>
          <p:cNvPr id="9" name="Text 7"/>
          <p:cNvSpPr/>
          <p:nvPr/>
        </p:nvSpPr>
        <p:spPr>
          <a:xfrm>
            <a:off x="621792" y="2990088"/>
            <a:ext cx="3785616" cy="182880"/>
          </a:xfrm>
          <a:prstGeom prst="rect">
            <a:avLst/>
          </a:prstGeom>
          <a:noFill/>
          <a:ln/>
        </p:spPr>
        <p:txBody>
          <a:bodyPr wrap="square" lIns="0" tIns="0" rIns="0" bIns="0" rtlCol="0" anchor="ctr"/>
          <a:lstStyle/>
          <a:p>
            <a:pPr marL="0" indent="0">
              <a:buNone/>
            </a:pPr>
            <a:r>
              <a:rPr lang="en-US" sz="800" b="1" kern="0" spc="150" dirty="0">
                <a:solidFill>
                  <a:srgbClr val="6B7A8D"/>
                </a:solidFill>
                <a:latin typeface="Calibri" pitchFamily="34" charset="0"/>
                <a:ea typeface="Calibri" pitchFamily="34" charset="-122"/>
                <a:cs typeface="Calibri" pitchFamily="34" charset="-120"/>
              </a:rPr>
              <a:t>WHY AGENTOPS</a:t>
            </a:r>
            <a:endParaRPr lang="en-US" sz="800" dirty="0"/>
          </a:p>
        </p:txBody>
      </p:sp>
      <p:sp>
        <p:nvSpPr>
          <p:cNvPr id="10" name="Text 8"/>
          <p:cNvSpPr/>
          <p:nvPr/>
        </p:nvSpPr>
        <p:spPr>
          <a:xfrm>
            <a:off x="621792" y="3172968"/>
            <a:ext cx="3785616" cy="512064"/>
          </a:xfrm>
          <a:prstGeom prst="rect">
            <a:avLst/>
          </a:prstGeom>
          <a:noFill/>
          <a:ln/>
        </p:spPr>
        <p:txBody>
          <a:bodyPr wrap="square" lIns="0" tIns="0" rIns="0" bIns="0" rtlCol="0" anchor="ctr"/>
          <a:lstStyle/>
          <a:p>
            <a:pPr marL="0" indent="0">
              <a:lnSpc>
                <a:spcPct val="120000"/>
              </a:lnSpc>
              <a:buNone/>
            </a:pPr>
            <a:r>
              <a:rPr lang="en-US" sz="950" dirty="0">
                <a:solidFill>
                  <a:srgbClr val="4A5568"/>
                </a:solidFill>
                <a:latin typeface="Calibri" pitchFamily="34" charset="0"/>
                <a:ea typeface="Calibri" pitchFamily="34" charset="-122"/>
                <a:cs typeface="Calibri" pitchFamily="34" charset="-120"/>
              </a:rPr>
              <a:t>AgentOps gives the CRO a complete, always-current audit trail of every agent decision — with regulatory report templates pre-mapped to OCC, FCA, and MAS frameworks.</a:t>
            </a:r>
            <a:endParaRPr lang="en-US" sz="950" dirty="0"/>
          </a:p>
        </p:txBody>
      </p:sp>
      <p:sp>
        <p:nvSpPr>
          <p:cNvPr id="11" name="Text 9"/>
          <p:cNvSpPr/>
          <p:nvPr/>
        </p:nvSpPr>
        <p:spPr>
          <a:xfrm>
            <a:off x="621792" y="3749040"/>
            <a:ext cx="3785616" cy="182880"/>
          </a:xfrm>
          <a:prstGeom prst="rect">
            <a:avLst/>
          </a:prstGeom>
          <a:noFill/>
          <a:ln/>
        </p:spPr>
        <p:txBody>
          <a:bodyPr wrap="square" lIns="0" tIns="0" rIns="0" bIns="0" rtlCol="0" anchor="ctr"/>
          <a:lstStyle/>
          <a:p>
            <a:pPr marL="0" indent="0">
              <a:buNone/>
            </a:pPr>
            <a:r>
              <a:rPr lang="en-US" sz="800" b="1" kern="0" spc="150" dirty="0">
                <a:solidFill>
                  <a:srgbClr val="6B7A8D"/>
                </a:solidFill>
                <a:latin typeface="Calibri" pitchFamily="34" charset="0"/>
                <a:ea typeface="Calibri" pitchFamily="34" charset="-122"/>
                <a:cs typeface="Calibri" pitchFamily="34" charset="-120"/>
              </a:rPr>
              <a:t>HOW TO REACH THEM</a:t>
            </a:r>
            <a:endParaRPr lang="en-US" sz="800" dirty="0"/>
          </a:p>
        </p:txBody>
      </p:sp>
      <p:sp>
        <p:nvSpPr>
          <p:cNvPr id="12" name="Text 10"/>
          <p:cNvSpPr/>
          <p:nvPr/>
        </p:nvSpPr>
        <p:spPr>
          <a:xfrm>
            <a:off x="621792" y="3931920"/>
            <a:ext cx="3785616" cy="329184"/>
          </a:xfrm>
          <a:prstGeom prst="rect">
            <a:avLst/>
          </a:prstGeom>
          <a:noFill/>
          <a:ln/>
        </p:spPr>
        <p:txBody>
          <a:bodyPr wrap="square" lIns="0" tIns="0" rIns="0" bIns="0" rtlCol="0" anchor="ctr"/>
          <a:lstStyle/>
          <a:p>
            <a:pPr marL="0" indent="0">
              <a:lnSpc>
                <a:spcPct val="115000"/>
              </a:lnSpc>
              <a:buNone/>
            </a:pPr>
            <a:r>
              <a:rPr lang="en-US" sz="900" i="1" dirty="0">
                <a:solidFill>
                  <a:srgbClr val="4A5568"/>
                </a:solidFill>
                <a:latin typeface="Calibri" pitchFamily="34" charset="0"/>
                <a:ea typeface="Calibri" pitchFamily="34" charset="-122"/>
                <a:cs typeface="Calibri" pitchFamily="34" charset="-120"/>
              </a:rPr>
              <a:t>Executive roundtables, regulatory-focused conferences, GARP/RMA, direct peer outreach</a:t>
            </a:r>
            <a:endParaRPr lang="en-US" sz="900" dirty="0"/>
          </a:p>
        </p:txBody>
      </p:sp>
      <p:sp>
        <p:nvSpPr>
          <p:cNvPr id="13" name="Shape 11"/>
          <p:cNvSpPr/>
          <p:nvPr/>
        </p:nvSpPr>
        <p:spPr>
          <a:xfrm>
            <a:off x="4754880" y="1234440"/>
            <a:ext cx="4114800" cy="3703320"/>
          </a:xfrm>
          <a:prstGeom prst="roundRect">
            <a:avLst>
              <a:gd name="adj" fmla="val 2469"/>
            </a:avLst>
          </a:prstGeom>
          <a:solidFill>
            <a:srgbClr val="FFFFFF"/>
          </a:solidFill>
          <a:ln w="12700">
            <a:solidFill>
              <a:srgbClr val="0D7B8A"/>
            </a:solidFill>
            <a:prstDash val="solid"/>
          </a:ln>
          <a:effectLst>
            <a:outerShdw blurRad="101600" dist="38100" dir="2700000" algn="bl" rotWithShape="0">
              <a:srgbClr val="000000">
                <a:alpha val="10000"/>
              </a:srgbClr>
            </a:outerShdw>
          </a:effectLst>
        </p:spPr>
        <p:txBody>
          <a:bodyPr/>
          <a:lstStyle/>
          <a:p>
            <a:endParaRPr lang="en-US"/>
          </a:p>
        </p:txBody>
      </p:sp>
      <p:sp>
        <p:nvSpPr>
          <p:cNvPr id="14" name="Text 12"/>
          <p:cNvSpPr/>
          <p:nvPr/>
        </p:nvSpPr>
        <p:spPr>
          <a:xfrm>
            <a:off x="4919472" y="1371600"/>
            <a:ext cx="3785616" cy="292608"/>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Chief Compliance Officer (CCO)</a:t>
            </a:r>
            <a:endParaRPr lang="en-US" sz="1400" dirty="0"/>
          </a:p>
        </p:txBody>
      </p:sp>
      <p:sp>
        <p:nvSpPr>
          <p:cNvPr id="15" name="Text 13"/>
          <p:cNvSpPr/>
          <p:nvPr/>
        </p:nvSpPr>
        <p:spPr>
          <a:xfrm>
            <a:off x="4919472" y="1673352"/>
            <a:ext cx="3785616" cy="201168"/>
          </a:xfrm>
          <a:prstGeom prst="rect">
            <a:avLst/>
          </a:prstGeom>
          <a:noFill/>
          <a:ln/>
        </p:spPr>
        <p:txBody>
          <a:bodyPr wrap="square" lIns="0" tIns="0" rIns="0" bIns="0" rtlCol="0" anchor="ctr"/>
          <a:lstStyle/>
          <a:p>
            <a:pPr marL="0" indent="0">
              <a:buNone/>
            </a:pPr>
            <a:r>
              <a:rPr lang="en-US" sz="900" dirty="0">
                <a:solidFill>
                  <a:srgbClr val="0D7B8A"/>
                </a:solidFill>
                <a:latin typeface="Calibri" pitchFamily="34" charset="0"/>
                <a:ea typeface="Calibri" pitchFamily="34" charset="-122"/>
                <a:cs typeface="Calibri" pitchFamily="34" charset="-120"/>
              </a:rPr>
              <a:t>Compliance / Legal / Regulatory Affairs  |  C-Suite</a:t>
            </a:r>
            <a:endParaRPr lang="en-US" sz="900" dirty="0"/>
          </a:p>
        </p:txBody>
      </p:sp>
      <p:sp>
        <p:nvSpPr>
          <p:cNvPr id="16" name="Text 14"/>
          <p:cNvSpPr/>
          <p:nvPr/>
        </p:nvSpPr>
        <p:spPr>
          <a:xfrm>
            <a:off x="4919472" y="1938528"/>
            <a:ext cx="3785616" cy="182880"/>
          </a:xfrm>
          <a:prstGeom prst="rect">
            <a:avLst/>
          </a:prstGeom>
          <a:noFill/>
          <a:ln/>
        </p:spPr>
        <p:txBody>
          <a:bodyPr wrap="square" lIns="0" tIns="0" rIns="0" bIns="0" rtlCol="0" anchor="ctr"/>
          <a:lstStyle/>
          <a:p>
            <a:pPr marL="0" indent="0">
              <a:buNone/>
            </a:pPr>
            <a:r>
              <a:rPr lang="en-US" sz="800" b="1" kern="0" spc="150" dirty="0">
                <a:solidFill>
                  <a:srgbClr val="6B7A8D"/>
                </a:solidFill>
                <a:latin typeface="Calibri" pitchFamily="34" charset="0"/>
                <a:ea typeface="Calibri" pitchFamily="34" charset="-122"/>
                <a:cs typeface="Calibri" pitchFamily="34" charset="-120"/>
              </a:rPr>
              <a:t>TOP PAIN POINTS</a:t>
            </a:r>
            <a:endParaRPr lang="en-US" sz="800" dirty="0"/>
          </a:p>
        </p:txBody>
      </p:sp>
      <p:sp>
        <p:nvSpPr>
          <p:cNvPr id="17" name="Text 15"/>
          <p:cNvSpPr/>
          <p:nvPr/>
        </p:nvSpPr>
        <p:spPr>
          <a:xfrm>
            <a:off x="4919472" y="2121408"/>
            <a:ext cx="3785616" cy="804672"/>
          </a:xfrm>
          <a:prstGeom prst="rect">
            <a:avLst/>
          </a:prstGeom>
          <a:noFill/>
          <a:ln/>
        </p:spPr>
        <p:txBody>
          <a:bodyPr wrap="square" lIns="0" tIns="0" rIns="0" bIns="0" rtlCol="0" anchor="ctr"/>
          <a:lstStyle/>
          <a:p>
            <a:pPr marL="342900" indent="-342900">
              <a:lnSpc>
                <a:spcPct val="110000"/>
              </a:lnSpc>
              <a:spcAft>
                <a:spcPts val="300"/>
              </a:spcAft>
              <a:buSzPct val="100000"/>
              <a:buChar char="•"/>
            </a:pPr>
            <a:r>
              <a:rPr lang="en-US" sz="950" dirty="0">
                <a:solidFill>
                  <a:srgbClr val="4A5568"/>
                </a:solidFill>
                <a:latin typeface="Calibri" pitchFamily="34" charset="0"/>
                <a:ea typeface="Calibri" pitchFamily="34" charset="-122"/>
                <a:cs typeface="Calibri" pitchFamily="34" charset="-120"/>
              </a:rPr>
              <a:t>Audit requests for AI explainability documentation they cannot fulfill</a:t>
            </a:r>
            <a:endParaRPr lang="en-US" sz="950" dirty="0"/>
          </a:p>
          <a:p>
            <a:pPr marL="342900" indent="-342900">
              <a:lnSpc>
                <a:spcPct val="110000"/>
              </a:lnSpc>
              <a:spcAft>
                <a:spcPts val="300"/>
              </a:spcAft>
              <a:buSzPct val="100000"/>
              <a:buChar char="•"/>
            </a:pPr>
            <a:r>
              <a:rPr lang="en-US" sz="950" dirty="0">
                <a:solidFill>
                  <a:srgbClr val="4A5568"/>
                </a:solidFill>
                <a:latin typeface="Calibri" pitchFamily="34" charset="0"/>
                <a:ea typeface="Calibri" pitchFamily="34" charset="-122"/>
                <a:cs typeface="Calibri" pitchFamily="34" charset="-120"/>
              </a:rPr>
              <a:t>Growing regulatory examination scope now covering AI systems</a:t>
            </a:r>
            <a:endParaRPr lang="en-US" sz="950" dirty="0"/>
          </a:p>
          <a:p>
            <a:pPr marL="342900" indent="-342900">
              <a:lnSpc>
                <a:spcPct val="110000"/>
              </a:lnSpc>
              <a:spcAft>
                <a:spcPts val="300"/>
              </a:spcAft>
              <a:buSzPct val="100000"/>
              <a:buChar char="•"/>
            </a:pPr>
            <a:r>
              <a:rPr lang="en-US" sz="950" dirty="0">
                <a:solidFill>
                  <a:srgbClr val="4A5568"/>
                </a:solidFill>
                <a:latin typeface="Calibri" pitchFamily="34" charset="0"/>
                <a:ea typeface="Calibri" pitchFamily="34" charset="-122"/>
                <a:cs typeface="Calibri" pitchFamily="34" charset="-120"/>
              </a:rPr>
              <a:t>Manual evidence collection for AI compliance reviews</a:t>
            </a:r>
            <a:endParaRPr lang="en-US" sz="950" dirty="0"/>
          </a:p>
          <a:p>
            <a:pPr marL="342900" indent="-342900">
              <a:lnSpc>
                <a:spcPct val="110000"/>
              </a:lnSpc>
              <a:spcAft>
                <a:spcPts val="300"/>
              </a:spcAft>
              <a:buSzPct val="100000"/>
              <a:buChar char="•"/>
            </a:pPr>
            <a:r>
              <a:rPr lang="en-US" sz="950" dirty="0">
                <a:solidFill>
                  <a:srgbClr val="4A5568"/>
                </a:solidFill>
                <a:latin typeface="Calibri" pitchFamily="34" charset="0"/>
                <a:ea typeface="Calibri" pitchFamily="34" charset="-122"/>
                <a:cs typeface="Calibri" pitchFamily="34" charset="-120"/>
              </a:rPr>
              <a:t>No visibility into AI agent behavior changes over time</a:t>
            </a:r>
            <a:endParaRPr lang="en-US" sz="950" dirty="0"/>
          </a:p>
        </p:txBody>
      </p:sp>
      <p:sp>
        <p:nvSpPr>
          <p:cNvPr id="18" name="Text 16"/>
          <p:cNvSpPr/>
          <p:nvPr/>
        </p:nvSpPr>
        <p:spPr>
          <a:xfrm>
            <a:off x="4919472" y="2990088"/>
            <a:ext cx="3785616" cy="182880"/>
          </a:xfrm>
          <a:prstGeom prst="rect">
            <a:avLst/>
          </a:prstGeom>
          <a:noFill/>
          <a:ln/>
        </p:spPr>
        <p:txBody>
          <a:bodyPr wrap="square" lIns="0" tIns="0" rIns="0" bIns="0" rtlCol="0" anchor="ctr"/>
          <a:lstStyle/>
          <a:p>
            <a:pPr marL="0" indent="0">
              <a:buNone/>
            </a:pPr>
            <a:r>
              <a:rPr lang="en-US" sz="800" b="1" kern="0" spc="150" dirty="0">
                <a:solidFill>
                  <a:srgbClr val="6B7A8D"/>
                </a:solidFill>
                <a:latin typeface="Calibri" pitchFamily="34" charset="0"/>
                <a:ea typeface="Calibri" pitchFamily="34" charset="-122"/>
                <a:cs typeface="Calibri" pitchFamily="34" charset="-120"/>
              </a:rPr>
              <a:t>WHY AGENTOPS</a:t>
            </a:r>
            <a:endParaRPr lang="en-US" sz="800" dirty="0"/>
          </a:p>
        </p:txBody>
      </p:sp>
      <p:sp>
        <p:nvSpPr>
          <p:cNvPr id="19" name="Text 17"/>
          <p:cNvSpPr/>
          <p:nvPr/>
        </p:nvSpPr>
        <p:spPr>
          <a:xfrm>
            <a:off x="4919472" y="3172968"/>
            <a:ext cx="3785616" cy="512064"/>
          </a:xfrm>
          <a:prstGeom prst="rect">
            <a:avLst/>
          </a:prstGeom>
          <a:noFill/>
          <a:ln/>
        </p:spPr>
        <p:txBody>
          <a:bodyPr wrap="square" lIns="0" tIns="0" rIns="0" bIns="0" rtlCol="0" anchor="ctr"/>
          <a:lstStyle/>
          <a:p>
            <a:pPr marL="0" indent="0">
              <a:lnSpc>
                <a:spcPct val="120000"/>
              </a:lnSpc>
              <a:buNone/>
            </a:pPr>
            <a:r>
              <a:rPr lang="en-US" sz="950" dirty="0">
                <a:solidFill>
                  <a:srgbClr val="4A5568"/>
                </a:solidFill>
                <a:latin typeface="Calibri" pitchFamily="34" charset="0"/>
                <a:ea typeface="Calibri" pitchFamily="34" charset="-122"/>
                <a:cs typeface="Calibri" pitchFamily="34" charset="-120"/>
              </a:rPr>
              <a:t>AgentOps automates compliance evidence collection — turning a 6-week manual audit process into a 3-hour report generation exercise.</a:t>
            </a:r>
            <a:endParaRPr lang="en-US" sz="950" dirty="0"/>
          </a:p>
        </p:txBody>
      </p:sp>
      <p:sp>
        <p:nvSpPr>
          <p:cNvPr id="20" name="Text 18"/>
          <p:cNvSpPr/>
          <p:nvPr/>
        </p:nvSpPr>
        <p:spPr>
          <a:xfrm>
            <a:off x="4919472" y="3749040"/>
            <a:ext cx="3785616" cy="182880"/>
          </a:xfrm>
          <a:prstGeom prst="rect">
            <a:avLst/>
          </a:prstGeom>
          <a:noFill/>
          <a:ln/>
        </p:spPr>
        <p:txBody>
          <a:bodyPr wrap="square" lIns="0" tIns="0" rIns="0" bIns="0" rtlCol="0" anchor="ctr"/>
          <a:lstStyle/>
          <a:p>
            <a:pPr marL="0" indent="0">
              <a:buNone/>
            </a:pPr>
            <a:r>
              <a:rPr lang="en-US" sz="800" b="1" kern="0" spc="150" dirty="0">
                <a:solidFill>
                  <a:srgbClr val="6B7A8D"/>
                </a:solidFill>
                <a:latin typeface="Calibri" pitchFamily="34" charset="0"/>
                <a:ea typeface="Calibri" pitchFamily="34" charset="-122"/>
                <a:cs typeface="Calibri" pitchFamily="34" charset="-120"/>
              </a:rPr>
              <a:t>HOW TO REACH THEM</a:t>
            </a:r>
            <a:endParaRPr lang="en-US" sz="800" dirty="0"/>
          </a:p>
        </p:txBody>
      </p:sp>
      <p:sp>
        <p:nvSpPr>
          <p:cNvPr id="21" name="Text 19"/>
          <p:cNvSpPr/>
          <p:nvPr/>
        </p:nvSpPr>
        <p:spPr>
          <a:xfrm>
            <a:off x="4919472" y="3931920"/>
            <a:ext cx="3785616" cy="329184"/>
          </a:xfrm>
          <a:prstGeom prst="rect">
            <a:avLst/>
          </a:prstGeom>
          <a:noFill/>
          <a:ln/>
        </p:spPr>
        <p:txBody>
          <a:bodyPr wrap="square" lIns="0" tIns="0" rIns="0" bIns="0" rtlCol="0" anchor="ctr"/>
          <a:lstStyle/>
          <a:p>
            <a:pPr marL="0" indent="0">
              <a:lnSpc>
                <a:spcPct val="115000"/>
              </a:lnSpc>
              <a:buNone/>
            </a:pPr>
            <a:r>
              <a:rPr lang="en-US" sz="900" i="1" dirty="0">
                <a:solidFill>
                  <a:srgbClr val="4A5568"/>
                </a:solidFill>
                <a:latin typeface="Calibri" pitchFamily="34" charset="0"/>
                <a:ea typeface="Calibri" pitchFamily="34" charset="-122"/>
                <a:cs typeface="Calibri" pitchFamily="34" charset="-120"/>
              </a:rPr>
              <a:t>Compliance officer networks (ACAMS, SIFMA), RegTech conferences, peer-to-peer referrals, targeted ABM</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256032"/>
            <a:ext cx="7315200" cy="47548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Northstar AgentOps</a:t>
            </a:r>
            <a:endParaRPr lang="en-US" sz="3000" dirty="0"/>
          </a:p>
        </p:txBody>
      </p:sp>
      <p:sp>
        <p:nvSpPr>
          <p:cNvPr id="3" name="Text 1"/>
          <p:cNvSpPr/>
          <p:nvPr/>
        </p:nvSpPr>
        <p:spPr>
          <a:xfrm>
            <a:off x="502920" y="758952"/>
            <a:ext cx="7315200" cy="292608"/>
          </a:xfrm>
          <a:prstGeom prst="rect">
            <a:avLst/>
          </a:prstGeom>
          <a:noFill/>
          <a:ln/>
        </p:spPr>
        <p:txBody>
          <a:bodyPr wrap="square" lIns="0" tIns="0" rIns="0" bIns="0" rtlCol="0" anchor="ctr"/>
          <a:lstStyle/>
          <a:p>
            <a:pPr marL="0" indent="0">
              <a:buNone/>
            </a:pPr>
            <a:r>
              <a:rPr lang="en-US" sz="1500" i="1" dirty="0">
                <a:solidFill>
                  <a:srgbClr val="C9DDE8"/>
                </a:solidFill>
                <a:latin typeface="Calibri" pitchFamily="34" charset="0"/>
                <a:ea typeface="Calibri" pitchFamily="34" charset="-122"/>
                <a:cs typeface="Calibri" pitchFamily="34" charset="-120"/>
              </a:rPr>
              <a:t>The Operating System for Enterprise AI Agents</a:t>
            </a:r>
            <a:endParaRPr lang="en-US" sz="1500" dirty="0"/>
          </a:p>
        </p:txBody>
      </p:sp>
      <p:sp>
        <p:nvSpPr>
          <p:cNvPr id="4" name="Shape 2"/>
          <p:cNvSpPr/>
          <p:nvPr/>
        </p:nvSpPr>
        <p:spPr>
          <a:xfrm>
            <a:off x="457200" y="1203626"/>
            <a:ext cx="1993392" cy="3566160"/>
          </a:xfrm>
          <a:prstGeom prst="roundRect">
            <a:avLst>
              <a:gd name="adj" fmla="val 3670"/>
            </a:avLst>
          </a:prstGeom>
          <a:solidFill>
            <a:srgbClr val="243557"/>
          </a:solidFill>
          <a:ln w="12700">
            <a:solidFill>
              <a:srgbClr val="2D4060"/>
            </a:solidFill>
            <a:prstDash val="solid"/>
          </a:ln>
        </p:spPr>
        <p:txBody>
          <a:bodyPr/>
          <a:lstStyle/>
          <a:p>
            <a:endParaRPr lang="en-US"/>
          </a:p>
        </p:txBody>
      </p:sp>
      <p:sp>
        <p:nvSpPr>
          <p:cNvPr id="5" name="Text 3"/>
          <p:cNvSpPr/>
          <p:nvPr/>
        </p:nvSpPr>
        <p:spPr>
          <a:xfrm>
            <a:off x="594360" y="1368218"/>
            <a:ext cx="1645920" cy="411480"/>
          </a:xfrm>
          <a:prstGeom prst="rect">
            <a:avLst/>
          </a:prstGeom>
          <a:noFill/>
          <a:ln/>
        </p:spPr>
        <p:txBody>
          <a:bodyPr wrap="square" lIns="0" tIns="0" rIns="0" bIns="0" rtlCol="0" anchor="ctr"/>
          <a:lstStyle/>
          <a:p>
            <a:pPr marL="0" indent="0">
              <a:buNone/>
            </a:pPr>
            <a:r>
              <a:rPr lang="en-US" sz="2800" b="1" dirty="0">
                <a:solidFill>
                  <a:srgbClr val="0D7B8A"/>
                </a:solidFill>
                <a:latin typeface="Cambria" pitchFamily="34" charset="0"/>
                <a:ea typeface="Cambria" pitchFamily="34" charset="-122"/>
                <a:cs typeface="Cambria" pitchFamily="34" charset="-120"/>
              </a:rPr>
              <a:t>01</a:t>
            </a:r>
            <a:endParaRPr lang="en-US" sz="2800" dirty="0"/>
          </a:p>
        </p:txBody>
      </p:sp>
      <p:sp>
        <p:nvSpPr>
          <p:cNvPr id="6" name="Text 4"/>
          <p:cNvSpPr/>
          <p:nvPr/>
        </p:nvSpPr>
        <p:spPr>
          <a:xfrm>
            <a:off x="594360" y="1825418"/>
            <a:ext cx="1691640" cy="658368"/>
          </a:xfrm>
          <a:prstGeom prst="rect">
            <a:avLst/>
          </a:prstGeom>
          <a:noFill/>
          <a:ln/>
        </p:spPr>
        <p:txBody>
          <a:bodyPr wrap="square" lIns="0" tIns="0" rIns="0" bIns="0" rtlCol="0" anchor="ctr"/>
          <a:lstStyle/>
          <a:p>
            <a:pPr marL="0" indent="0">
              <a:lnSpc>
                <a:spcPct val="115000"/>
              </a:lnSpc>
              <a:buNone/>
            </a:pPr>
            <a:r>
              <a:rPr lang="en-US" sz="1300" b="1" dirty="0">
                <a:solidFill>
                  <a:srgbClr val="FFFFFF"/>
                </a:solidFill>
                <a:latin typeface="Calibri" pitchFamily="34" charset="0"/>
                <a:ea typeface="Calibri" pitchFamily="34" charset="-122"/>
                <a:cs typeface="Calibri" pitchFamily="34" charset="-120"/>
              </a:rPr>
              <a:t>Agent Inventory</a:t>
            </a:r>
            <a:endParaRPr lang="en-US" sz="1300" dirty="0"/>
          </a:p>
          <a:p>
            <a:pPr marL="0" indent="0">
              <a:lnSpc>
                <a:spcPct val="115000"/>
              </a:lnSpc>
              <a:buNone/>
            </a:pPr>
            <a:r>
              <a:rPr lang="en-US" sz="1300" b="1" dirty="0">
                <a:solidFill>
                  <a:srgbClr val="FFFFFF"/>
                </a:solidFill>
                <a:latin typeface="Calibri" pitchFamily="34" charset="0"/>
                <a:ea typeface="Calibri" pitchFamily="34" charset="-122"/>
                <a:cs typeface="Calibri" pitchFamily="34" charset="-120"/>
              </a:rPr>
              <a:t>&amp; Discovery</a:t>
            </a:r>
            <a:endParaRPr lang="en-US" sz="1300" dirty="0"/>
          </a:p>
        </p:txBody>
      </p:sp>
      <p:sp>
        <p:nvSpPr>
          <p:cNvPr id="7" name="Text 5"/>
          <p:cNvSpPr/>
          <p:nvPr/>
        </p:nvSpPr>
        <p:spPr>
          <a:xfrm>
            <a:off x="594360" y="2556938"/>
            <a:ext cx="1691640" cy="1920240"/>
          </a:xfrm>
          <a:prstGeom prst="rect">
            <a:avLst/>
          </a:prstGeom>
          <a:noFill/>
          <a:ln/>
        </p:spPr>
        <p:txBody>
          <a:bodyPr wrap="square" lIns="0" tIns="0" rIns="0" bIns="0" rtlCol="0" anchor="ctr"/>
          <a:lstStyle/>
          <a:p>
            <a:pPr marL="0" indent="0">
              <a:lnSpc>
                <a:spcPct val="130000"/>
              </a:lnSpc>
              <a:buNone/>
            </a:pPr>
            <a:r>
              <a:rPr lang="en-US" sz="1000" dirty="0">
                <a:solidFill>
                  <a:srgbClr val="C9DDE8"/>
                </a:solidFill>
                <a:latin typeface="Calibri" pitchFamily="34" charset="0"/>
                <a:ea typeface="Calibri" pitchFamily="34" charset="-122"/>
                <a:cs typeface="Calibri" pitchFamily="34" charset="-120"/>
              </a:rPr>
              <a:t>See every agent running across your organization — deployed, in development, and in shadow IT. Automated classification by risk tier.</a:t>
            </a:r>
            <a:endParaRPr lang="en-US" sz="1000" dirty="0"/>
          </a:p>
        </p:txBody>
      </p:sp>
      <p:sp>
        <p:nvSpPr>
          <p:cNvPr id="8" name="Shape 6"/>
          <p:cNvSpPr/>
          <p:nvPr/>
        </p:nvSpPr>
        <p:spPr>
          <a:xfrm>
            <a:off x="2587752" y="1203626"/>
            <a:ext cx="1993392" cy="3566160"/>
          </a:xfrm>
          <a:prstGeom prst="roundRect">
            <a:avLst>
              <a:gd name="adj" fmla="val 3670"/>
            </a:avLst>
          </a:prstGeom>
          <a:solidFill>
            <a:srgbClr val="243557"/>
          </a:solidFill>
          <a:ln w="12700">
            <a:solidFill>
              <a:srgbClr val="2D4060"/>
            </a:solidFill>
            <a:prstDash val="solid"/>
          </a:ln>
        </p:spPr>
        <p:txBody>
          <a:bodyPr/>
          <a:lstStyle/>
          <a:p>
            <a:endParaRPr lang="en-US"/>
          </a:p>
        </p:txBody>
      </p:sp>
      <p:sp>
        <p:nvSpPr>
          <p:cNvPr id="9" name="Text 7"/>
          <p:cNvSpPr/>
          <p:nvPr/>
        </p:nvSpPr>
        <p:spPr>
          <a:xfrm>
            <a:off x="2724912" y="1368218"/>
            <a:ext cx="1645920" cy="411480"/>
          </a:xfrm>
          <a:prstGeom prst="rect">
            <a:avLst/>
          </a:prstGeom>
          <a:noFill/>
          <a:ln/>
        </p:spPr>
        <p:txBody>
          <a:bodyPr wrap="square" lIns="0" tIns="0" rIns="0" bIns="0" rtlCol="0" anchor="ctr"/>
          <a:lstStyle/>
          <a:p>
            <a:pPr marL="0" indent="0">
              <a:buNone/>
            </a:pPr>
            <a:r>
              <a:rPr lang="en-US" sz="2800" b="1" dirty="0">
                <a:solidFill>
                  <a:srgbClr val="0D7B8A"/>
                </a:solidFill>
                <a:latin typeface="Cambria" pitchFamily="34" charset="0"/>
                <a:ea typeface="Cambria" pitchFamily="34" charset="-122"/>
                <a:cs typeface="Cambria" pitchFamily="34" charset="-120"/>
              </a:rPr>
              <a:t>02</a:t>
            </a:r>
            <a:endParaRPr lang="en-US" sz="2800" dirty="0"/>
          </a:p>
        </p:txBody>
      </p:sp>
      <p:sp>
        <p:nvSpPr>
          <p:cNvPr id="10" name="Text 8"/>
          <p:cNvSpPr/>
          <p:nvPr/>
        </p:nvSpPr>
        <p:spPr>
          <a:xfrm>
            <a:off x="2724912" y="1825418"/>
            <a:ext cx="1691640" cy="658368"/>
          </a:xfrm>
          <a:prstGeom prst="rect">
            <a:avLst/>
          </a:prstGeom>
          <a:noFill/>
          <a:ln/>
        </p:spPr>
        <p:txBody>
          <a:bodyPr wrap="square" lIns="0" tIns="0" rIns="0" bIns="0" rtlCol="0" anchor="ctr"/>
          <a:lstStyle/>
          <a:p>
            <a:pPr marL="0" indent="0">
              <a:lnSpc>
                <a:spcPct val="115000"/>
              </a:lnSpc>
              <a:buNone/>
            </a:pPr>
            <a:r>
              <a:rPr lang="en-US" sz="1300" b="1" dirty="0">
                <a:solidFill>
                  <a:srgbClr val="FFFFFF"/>
                </a:solidFill>
                <a:latin typeface="Calibri" pitchFamily="34" charset="0"/>
                <a:ea typeface="Calibri" pitchFamily="34" charset="-122"/>
                <a:cs typeface="Calibri" pitchFamily="34" charset="-120"/>
              </a:rPr>
              <a:t>Real-Time Monitoring</a:t>
            </a:r>
            <a:endParaRPr lang="en-US" sz="1300" dirty="0"/>
          </a:p>
          <a:p>
            <a:pPr marL="0" indent="0">
              <a:lnSpc>
                <a:spcPct val="115000"/>
              </a:lnSpc>
              <a:buNone/>
            </a:pPr>
            <a:r>
              <a:rPr lang="en-US" sz="1300" b="1" dirty="0">
                <a:solidFill>
                  <a:srgbClr val="FFFFFF"/>
                </a:solidFill>
                <a:latin typeface="Calibri" pitchFamily="34" charset="0"/>
                <a:ea typeface="Calibri" pitchFamily="34" charset="-122"/>
                <a:cs typeface="Calibri" pitchFamily="34" charset="-120"/>
              </a:rPr>
              <a:t>&amp; Observability</a:t>
            </a:r>
            <a:endParaRPr lang="en-US" sz="1300" dirty="0"/>
          </a:p>
        </p:txBody>
      </p:sp>
      <p:sp>
        <p:nvSpPr>
          <p:cNvPr id="11" name="Text 9"/>
          <p:cNvSpPr/>
          <p:nvPr/>
        </p:nvSpPr>
        <p:spPr>
          <a:xfrm>
            <a:off x="2724912" y="2556938"/>
            <a:ext cx="1691640" cy="1920240"/>
          </a:xfrm>
          <a:prstGeom prst="rect">
            <a:avLst/>
          </a:prstGeom>
          <a:noFill/>
          <a:ln/>
        </p:spPr>
        <p:txBody>
          <a:bodyPr wrap="square" lIns="0" tIns="0" rIns="0" bIns="0" rtlCol="0" anchor="ctr"/>
          <a:lstStyle/>
          <a:p>
            <a:pPr marL="0" indent="0">
              <a:lnSpc>
                <a:spcPct val="130000"/>
              </a:lnSpc>
              <a:buNone/>
            </a:pPr>
            <a:r>
              <a:rPr lang="en-US" sz="1000" dirty="0">
                <a:solidFill>
                  <a:srgbClr val="C9DDE8"/>
                </a:solidFill>
                <a:latin typeface="Calibri" pitchFamily="34" charset="0"/>
                <a:ea typeface="Calibri" pitchFamily="34" charset="-122"/>
                <a:cs typeface="Calibri" pitchFamily="34" charset="-120"/>
              </a:rPr>
              <a:t>Live performance dashboards, anomaly detection, behavioral drift alerts, and incident response playbooks for every agent.</a:t>
            </a:r>
            <a:endParaRPr lang="en-US" sz="1000" dirty="0"/>
          </a:p>
        </p:txBody>
      </p:sp>
      <p:sp>
        <p:nvSpPr>
          <p:cNvPr id="12" name="Shape 10"/>
          <p:cNvSpPr/>
          <p:nvPr/>
        </p:nvSpPr>
        <p:spPr>
          <a:xfrm>
            <a:off x="4718304" y="1203626"/>
            <a:ext cx="1993392" cy="3566160"/>
          </a:xfrm>
          <a:prstGeom prst="roundRect">
            <a:avLst>
              <a:gd name="adj" fmla="val 3670"/>
            </a:avLst>
          </a:prstGeom>
          <a:solidFill>
            <a:srgbClr val="0D7B8A"/>
          </a:solidFill>
          <a:ln w="12700">
            <a:solidFill>
              <a:srgbClr val="0D7B8A"/>
            </a:solidFill>
            <a:prstDash val="solid"/>
          </a:ln>
        </p:spPr>
        <p:txBody>
          <a:bodyPr/>
          <a:lstStyle/>
          <a:p>
            <a:endParaRPr lang="en-US"/>
          </a:p>
        </p:txBody>
      </p:sp>
      <p:sp>
        <p:nvSpPr>
          <p:cNvPr id="13" name="Text 11"/>
          <p:cNvSpPr/>
          <p:nvPr/>
        </p:nvSpPr>
        <p:spPr>
          <a:xfrm>
            <a:off x="4855464" y="1368218"/>
            <a:ext cx="1645920" cy="4114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03</a:t>
            </a:r>
            <a:endParaRPr lang="en-US" sz="2800" dirty="0"/>
          </a:p>
        </p:txBody>
      </p:sp>
      <p:sp>
        <p:nvSpPr>
          <p:cNvPr id="14" name="Text 12"/>
          <p:cNvSpPr/>
          <p:nvPr/>
        </p:nvSpPr>
        <p:spPr>
          <a:xfrm>
            <a:off x="4855464" y="1825418"/>
            <a:ext cx="1691640" cy="658368"/>
          </a:xfrm>
          <a:prstGeom prst="rect">
            <a:avLst/>
          </a:prstGeom>
          <a:noFill/>
          <a:ln/>
        </p:spPr>
        <p:txBody>
          <a:bodyPr wrap="square" lIns="0" tIns="0" rIns="0" bIns="0" rtlCol="0" anchor="ctr"/>
          <a:lstStyle/>
          <a:p>
            <a:pPr marL="0" indent="0">
              <a:lnSpc>
                <a:spcPct val="115000"/>
              </a:lnSpc>
              <a:buNone/>
            </a:pPr>
            <a:r>
              <a:rPr lang="en-US" sz="1300" b="1" dirty="0">
                <a:solidFill>
                  <a:srgbClr val="FFFFFF"/>
                </a:solidFill>
                <a:latin typeface="Calibri" pitchFamily="34" charset="0"/>
                <a:ea typeface="Calibri" pitchFamily="34" charset="-122"/>
                <a:cs typeface="Calibri" pitchFamily="34" charset="-120"/>
              </a:rPr>
              <a:t>Compliance &amp;</a:t>
            </a:r>
            <a:endParaRPr lang="en-US" sz="1300" dirty="0"/>
          </a:p>
          <a:p>
            <a:pPr marL="0" indent="0">
              <a:lnSpc>
                <a:spcPct val="115000"/>
              </a:lnSpc>
              <a:buNone/>
            </a:pPr>
            <a:r>
              <a:rPr lang="en-US" sz="1300" b="1" dirty="0">
                <a:solidFill>
                  <a:srgbClr val="FFFFFF"/>
                </a:solidFill>
                <a:latin typeface="Calibri" pitchFamily="34" charset="0"/>
                <a:ea typeface="Calibri" pitchFamily="34" charset="-122"/>
                <a:cs typeface="Calibri" pitchFamily="34" charset="-120"/>
              </a:rPr>
              <a:t>Audit Infrastructure</a:t>
            </a:r>
            <a:endParaRPr lang="en-US" sz="1300" dirty="0"/>
          </a:p>
        </p:txBody>
      </p:sp>
      <p:sp>
        <p:nvSpPr>
          <p:cNvPr id="15" name="Text 13"/>
          <p:cNvSpPr/>
          <p:nvPr/>
        </p:nvSpPr>
        <p:spPr>
          <a:xfrm>
            <a:off x="4855464" y="2556938"/>
            <a:ext cx="1691640" cy="1920240"/>
          </a:xfrm>
          <a:prstGeom prst="rect">
            <a:avLst/>
          </a:prstGeom>
          <a:noFill/>
          <a:ln/>
        </p:spPr>
        <p:txBody>
          <a:bodyPr wrap="square" lIns="0" tIns="0" rIns="0" bIns="0" rtlCol="0" anchor="ctr"/>
          <a:lstStyle/>
          <a:p>
            <a:pPr marL="0" indent="0">
              <a:lnSpc>
                <a:spcPct val="130000"/>
              </a:lnSpc>
              <a:buNone/>
            </a:pPr>
            <a:r>
              <a:rPr lang="en-US" sz="1000" dirty="0">
                <a:solidFill>
                  <a:srgbClr val="C9DDE8"/>
                </a:solidFill>
                <a:latin typeface="Calibri" pitchFamily="34" charset="0"/>
                <a:ea typeface="Calibri" pitchFamily="34" charset="-122"/>
                <a:cs typeface="Calibri" pitchFamily="34" charset="-120"/>
              </a:rPr>
              <a:t>Immutable audit logs, explainability reports, regulatory filing templates. One-click evidence packages for OCC, FCA, and MAS reviews.</a:t>
            </a:r>
            <a:endParaRPr lang="en-US" sz="1000" dirty="0"/>
          </a:p>
        </p:txBody>
      </p:sp>
      <p:sp>
        <p:nvSpPr>
          <p:cNvPr id="16" name="Shape 14"/>
          <p:cNvSpPr/>
          <p:nvPr/>
        </p:nvSpPr>
        <p:spPr>
          <a:xfrm>
            <a:off x="6848856" y="1203626"/>
            <a:ext cx="1993392" cy="3566160"/>
          </a:xfrm>
          <a:prstGeom prst="roundRect">
            <a:avLst>
              <a:gd name="adj" fmla="val 3670"/>
            </a:avLst>
          </a:prstGeom>
          <a:solidFill>
            <a:srgbClr val="243557"/>
          </a:solidFill>
          <a:ln w="12700">
            <a:solidFill>
              <a:srgbClr val="2D4060"/>
            </a:solidFill>
            <a:prstDash val="solid"/>
          </a:ln>
        </p:spPr>
        <p:txBody>
          <a:bodyPr/>
          <a:lstStyle/>
          <a:p>
            <a:endParaRPr lang="en-US"/>
          </a:p>
        </p:txBody>
      </p:sp>
      <p:sp>
        <p:nvSpPr>
          <p:cNvPr id="17" name="Text 15"/>
          <p:cNvSpPr/>
          <p:nvPr/>
        </p:nvSpPr>
        <p:spPr>
          <a:xfrm>
            <a:off x="6986016" y="1368218"/>
            <a:ext cx="1645920" cy="411480"/>
          </a:xfrm>
          <a:prstGeom prst="rect">
            <a:avLst/>
          </a:prstGeom>
          <a:noFill/>
          <a:ln/>
        </p:spPr>
        <p:txBody>
          <a:bodyPr wrap="square" lIns="0" tIns="0" rIns="0" bIns="0" rtlCol="0" anchor="ctr"/>
          <a:lstStyle/>
          <a:p>
            <a:pPr marL="0" indent="0">
              <a:buNone/>
            </a:pPr>
            <a:r>
              <a:rPr lang="en-US" sz="2800" b="1" dirty="0">
                <a:solidFill>
                  <a:srgbClr val="0D7B8A"/>
                </a:solidFill>
                <a:latin typeface="Cambria" pitchFamily="34" charset="0"/>
                <a:ea typeface="Cambria" pitchFamily="34" charset="-122"/>
                <a:cs typeface="Cambria" pitchFamily="34" charset="-120"/>
              </a:rPr>
              <a:t>04</a:t>
            </a:r>
            <a:endParaRPr lang="en-US" sz="2800" dirty="0"/>
          </a:p>
        </p:txBody>
      </p:sp>
      <p:sp>
        <p:nvSpPr>
          <p:cNvPr id="18" name="Text 16"/>
          <p:cNvSpPr/>
          <p:nvPr/>
        </p:nvSpPr>
        <p:spPr>
          <a:xfrm>
            <a:off x="6986016" y="1825418"/>
            <a:ext cx="1691640" cy="658368"/>
          </a:xfrm>
          <a:prstGeom prst="rect">
            <a:avLst/>
          </a:prstGeom>
          <a:noFill/>
          <a:ln/>
        </p:spPr>
        <p:txBody>
          <a:bodyPr wrap="square" lIns="0" tIns="0" rIns="0" bIns="0" rtlCol="0" anchor="ctr"/>
          <a:lstStyle/>
          <a:p>
            <a:pPr marL="0" indent="0">
              <a:lnSpc>
                <a:spcPct val="115000"/>
              </a:lnSpc>
              <a:buNone/>
            </a:pPr>
            <a:r>
              <a:rPr lang="en-US" sz="1300" b="1" dirty="0">
                <a:solidFill>
                  <a:srgbClr val="FFFFFF"/>
                </a:solidFill>
                <a:latin typeface="Calibri" pitchFamily="34" charset="0"/>
                <a:ea typeface="Calibri" pitchFamily="34" charset="-122"/>
                <a:cs typeface="Calibri" pitchFamily="34" charset="-120"/>
              </a:rPr>
              <a:t>ROI &amp; Business</a:t>
            </a:r>
            <a:endParaRPr lang="en-US" sz="1300" dirty="0"/>
          </a:p>
          <a:p>
            <a:pPr marL="0" indent="0">
              <a:lnSpc>
                <a:spcPct val="115000"/>
              </a:lnSpc>
              <a:buNone/>
            </a:pPr>
            <a:r>
              <a:rPr lang="en-US" sz="1300" b="1" dirty="0">
                <a:solidFill>
                  <a:srgbClr val="FFFFFF"/>
                </a:solidFill>
                <a:latin typeface="Calibri" pitchFamily="34" charset="0"/>
                <a:ea typeface="Calibri" pitchFamily="34" charset="-122"/>
                <a:cs typeface="Calibri" pitchFamily="34" charset="-120"/>
              </a:rPr>
              <a:t>Outcome Attribution</a:t>
            </a:r>
            <a:endParaRPr lang="en-US" sz="1300" dirty="0"/>
          </a:p>
        </p:txBody>
      </p:sp>
      <p:sp>
        <p:nvSpPr>
          <p:cNvPr id="19" name="Text 17"/>
          <p:cNvSpPr/>
          <p:nvPr/>
        </p:nvSpPr>
        <p:spPr>
          <a:xfrm>
            <a:off x="6986016" y="2556938"/>
            <a:ext cx="1691640" cy="1920240"/>
          </a:xfrm>
          <a:prstGeom prst="rect">
            <a:avLst/>
          </a:prstGeom>
          <a:noFill/>
          <a:ln/>
        </p:spPr>
        <p:txBody>
          <a:bodyPr wrap="square" lIns="0" tIns="0" rIns="0" bIns="0" rtlCol="0" anchor="ctr"/>
          <a:lstStyle/>
          <a:p>
            <a:pPr marL="0" indent="0">
              <a:lnSpc>
                <a:spcPct val="130000"/>
              </a:lnSpc>
              <a:buNone/>
            </a:pPr>
            <a:r>
              <a:rPr lang="en-US" sz="1000" dirty="0">
                <a:solidFill>
                  <a:srgbClr val="C9DDE8"/>
                </a:solidFill>
                <a:latin typeface="Calibri" pitchFamily="34" charset="0"/>
                <a:ea typeface="Calibri" pitchFamily="34" charset="-122"/>
                <a:cs typeface="Calibri" pitchFamily="34" charset="-120"/>
              </a:rPr>
              <a:t>Connect agent actions to business outcomes. Prove the value of your AI program to the board with metrics that aren't just engagement counts.</a:t>
            </a:r>
            <a:endParaRPr lang="en-US" sz="1000" dirty="0"/>
          </a:p>
        </p:txBody>
      </p:sp>
      <p:sp>
        <p:nvSpPr>
          <p:cNvPr id="20" name="Shape 18"/>
          <p:cNvSpPr/>
          <p:nvPr/>
        </p:nvSpPr>
        <p:spPr>
          <a:xfrm>
            <a:off x="457200" y="4842938"/>
            <a:ext cx="8412480" cy="204550"/>
          </a:xfrm>
          <a:prstGeom prst="roundRect">
            <a:avLst/>
          </a:prstGeom>
          <a:solidFill>
            <a:srgbClr val="0D7B8A"/>
          </a:solidFill>
          <a:ln w="12700">
            <a:solidFill>
              <a:srgbClr val="0D7B8A"/>
            </a:solidFill>
            <a:prstDash val="solid"/>
          </a:ln>
        </p:spPr>
        <p:txBody>
          <a:bodyPr/>
          <a:lstStyle/>
          <a:p>
            <a:endParaRPr lang="en-US"/>
          </a:p>
        </p:txBody>
      </p:sp>
      <p:sp>
        <p:nvSpPr>
          <p:cNvPr id="21" name="Text 19"/>
          <p:cNvSpPr/>
          <p:nvPr/>
        </p:nvSpPr>
        <p:spPr>
          <a:xfrm>
            <a:off x="457200" y="4810759"/>
            <a:ext cx="8412480" cy="256032"/>
          </a:xfrm>
          <a:prstGeom prst="rect">
            <a:avLst/>
          </a:prstGeom>
          <a:noFill/>
          <a:ln/>
        </p:spPr>
        <p:txBody>
          <a:bodyPr wrap="square" lIns="0" tIns="0" rIns="0" bIns="0" rtlCol="0" anchor="ctr"/>
          <a:lstStyle/>
          <a:p>
            <a:pPr marL="0" indent="0" algn="ctr">
              <a:buNone/>
            </a:pPr>
            <a:r>
              <a:rPr lang="en-US" sz="1300" i="1" dirty="0">
                <a:solidFill>
                  <a:srgbClr val="C9DDE8"/>
                </a:solidFill>
                <a:latin typeface="Calibri" pitchFamily="34" charset="0"/>
                <a:ea typeface="Calibri" pitchFamily="34" charset="-122"/>
                <a:cs typeface="Calibri" pitchFamily="34" charset="-120"/>
              </a:rPr>
              <a:t>One platform. One operating model. Complete governance.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A"/>
        </a:solidFill>
        <a:effectLst/>
      </p:bgPr>
    </p:bg>
    <p:spTree>
      <p:nvGrpSpPr>
        <p:cNvPr id="1" name=""/>
        <p:cNvGrpSpPr/>
        <p:nvPr/>
      </p:nvGrpSpPr>
      <p:grpSpPr>
        <a:xfrm>
          <a:off x="0" y="0"/>
          <a:ext cx="0" cy="0"/>
          <a:chOff x="0" y="0"/>
          <a:chExt cx="0" cy="0"/>
        </a:xfrm>
      </p:grpSpPr>
      <p:sp>
        <p:nvSpPr>
          <p:cNvPr id="6" name="Shape 4"/>
          <p:cNvSpPr/>
          <p:nvPr/>
        </p:nvSpPr>
        <p:spPr>
          <a:xfrm>
            <a:off x="681228" y="1718734"/>
            <a:ext cx="54864" cy="411480"/>
          </a:xfrm>
          <a:prstGeom prst="rect">
            <a:avLst/>
          </a:prstGeom>
          <a:solidFill>
            <a:srgbClr val="C9DDE8"/>
          </a:solidFill>
          <a:ln w="12700">
            <a:solidFill>
              <a:srgbClr val="C9DDE8"/>
            </a:solidFill>
            <a:prstDash val="solid"/>
          </a:ln>
        </p:spPr>
        <p:txBody>
          <a:bodyPr/>
          <a:lstStyle/>
          <a:p>
            <a:endParaRPr lang="en-US"/>
          </a:p>
        </p:txBody>
      </p:sp>
      <p:sp>
        <p:nvSpPr>
          <p:cNvPr id="12" name="Shape 10"/>
          <p:cNvSpPr/>
          <p:nvPr/>
        </p:nvSpPr>
        <p:spPr>
          <a:xfrm>
            <a:off x="681228" y="2651422"/>
            <a:ext cx="54864" cy="411480"/>
          </a:xfrm>
          <a:prstGeom prst="rect">
            <a:avLst/>
          </a:prstGeom>
          <a:solidFill>
            <a:srgbClr val="C9DDE8"/>
          </a:solidFill>
          <a:ln w="12700">
            <a:solidFill>
              <a:srgbClr val="C9DDE8"/>
            </a:solidFill>
            <a:prstDash val="solid"/>
          </a:ln>
        </p:spPr>
        <p:txBody>
          <a:bodyPr/>
          <a:lstStyle/>
          <a:p>
            <a:endParaRPr lang="en-US"/>
          </a:p>
        </p:txBody>
      </p:sp>
      <p:sp>
        <p:nvSpPr>
          <p:cNvPr id="18" name="Shape 16"/>
          <p:cNvSpPr/>
          <p:nvPr/>
        </p:nvSpPr>
        <p:spPr>
          <a:xfrm>
            <a:off x="681228" y="3584110"/>
            <a:ext cx="54864" cy="411480"/>
          </a:xfrm>
          <a:prstGeom prst="rect">
            <a:avLst/>
          </a:prstGeom>
          <a:solidFill>
            <a:srgbClr val="C9DDE8"/>
          </a:solidFill>
          <a:ln w="12700">
            <a:solidFill>
              <a:srgbClr val="C9DDE8"/>
            </a:solidFill>
            <a:prstDash val="solid"/>
          </a:ln>
        </p:spPr>
        <p:txBody>
          <a:bodyPr/>
          <a:lstStyle/>
          <a:p>
            <a:endParaRPr lang="en-US"/>
          </a:p>
        </p:txBody>
      </p:sp>
      <p:sp>
        <p:nvSpPr>
          <p:cNvPr id="2" name="Text 0"/>
          <p:cNvSpPr/>
          <p:nvPr/>
        </p:nvSpPr>
        <p:spPr>
          <a:xfrm>
            <a:off x="457200" y="256032"/>
            <a:ext cx="8229600" cy="475488"/>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Deploy Once. Govern Everything.</a:t>
            </a:r>
            <a:endParaRPr lang="en-US" sz="2800" dirty="0"/>
          </a:p>
        </p:txBody>
      </p:sp>
      <p:sp>
        <p:nvSpPr>
          <p:cNvPr id="3" name="Text 1"/>
          <p:cNvSpPr/>
          <p:nvPr/>
        </p:nvSpPr>
        <p:spPr>
          <a:xfrm>
            <a:off x="457200" y="758952"/>
            <a:ext cx="8229600" cy="274320"/>
          </a:xfrm>
          <a:prstGeom prst="rect">
            <a:avLst/>
          </a:prstGeom>
          <a:noFill/>
          <a:ln/>
        </p:spPr>
        <p:txBody>
          <a:bodyPr wrap="square" lIns="0" tIns="0" rIns="0" bIns="0" rtlCol="0" anchor="ctr"/>
          <a:lstStyle/>
          <a:p>
            <a:pPr marL="0" indent="0">
              <a:buNone/>
            </a:pPr>
            <a:r>
              <a:rPr lang="en-US" sz="1300" i="1" dirty="0">
                <a:solidFill>
                  <a:srgbClr val="6B7A8D"/>
                </a:solidFill>
                <a:latin typeface="Calibri" pitchFamily="34" charset="0"/>
                <a:ea typeface="Calibri" pitchFamily="34" charset="-122"/>
                <a:cs typeface="Calibri" pitchFamily="34" charset="-120"/>
              </a:rPr>
              <a:t>AgentOps integrates with your existing AI stack. No rip-and-replace. No 6-month implementation.</a:t>
            </a:r>
            <a:endParaRPr lang="en-US" sz="1300" dirty="0"/>
          </a:p>
        </p:txBody>
      </p:sp>
      <p:sp>
        <p:nvSpPr>
          <p:cNvPr id="4" name="Shape 2"/>
          <p:cNvSpPr/>
          <p:nvPr/>
        </p:nvSpPr>
        <p:spPr>
          <a:xfrm>
            <a:off x="457200" y="1215814"/>
            <a:ext cx="502920" cy="502920"/>
          </a:xfrm>
          <a:prstGeom prst="ellipse">
            <a:avLst/>
          </a:prstGeom>
          <a:solidFill>
            <a:srgbClr val="0D7B8A"/>
          </a:solidFill>
          <a:ln w="12700">
            <a:solidFill>
              <a:srgbClr val="0D7B8A"/>
            </a:solidFill>
            <a:prstDash val="solid"/>
          </a:ln>
        </p:spPr>
        <p:txBody>
          <a:bodyPr/>
          <a:lstStyle/>
          <a:p>
            <a:endParaRPr lang="en-US"/>
          </a:p>
        </p:txBody>
      </p:sp>
      <p:sp>
        <p:nvSpPr>
          <p:cNvPr id="5" name="Text 3"/>
          <p:cNvSpPr/>
          <p:nvPr/>
        </p:nvSpPr>
        <p:spPr>
          <a:xfrm>
            <a:off x="457200" y="1215814"/>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Shape 5"/>
          <p:cNvSpPr/>
          <p:nvPr/>
        </p:nvSpPr>
        <p:spPr>
          <a:xfrm>
            <a:off x="1097280" y="1106086"/>
            <a:ext cx="7680960" cy="804672"/>
          </a:xfrm>
          <a:prstGeom prst="roundRect">
            <a:avLst>
              <a:gd name="adj" fmla="val 7955"/>
            </a:avLst>
          </a:prstGeom>
          <a:solidFill>
            <a:srgbClr val="FFFFFF"/>
          </a:solidFill>
          <a:ln w="12700">
            <a:solidFill>
              <a:srgbClr val="C9DDE8"/>
            </a:solidFill>
            <a:prstDash val="solid"/>
          </a:ln>
          <a:effectLst>
            <a:outerShdw blurRad="101600" dist="38100" dir="2700000" algn="bl" rotWithShape="0">
              <a:srgbClr val="000000">
                <a:alpha val="10000"/>
              </a:srgbClr>
            </a:outerShdw>
          </a:effectLst>
        </p:spPr>
        <p:txBody>
          <a:bodyPr/>
          <a:lstStyle/>
          <a:p>
            <a:endParaRPr lang="en-US"/>
          </a:p>
        </p:txBody>
      </p:sp>
      <p:sp>
        <p:nvSpPr>
          <p:cNvPr id="8" name="Text 6"/>
          <p:cNvSpPr/>
          <p:nvPr/>
        </p:nvSpPr>
        <p:spPr>
          <a:xfrm>
            <a:off x="1261872" y="1197526"/>
            <a:ext cx="1371600" cy="274320"/>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Connect</a:t>
            </a:r>
            <a:endParaRPr lang="en-US" sz="1400" dirty="0"/>
          </a:p>
        </p:txBody>
      </p:sp>
      <p:sp>
        <p:nvSpPr>
          <p:cNvPr id="9" name="Text 7"/>
          <p:cNvSpPr/>
          <p:nvPr/>
        </p:nvSpPr>
        <p:spPr>
          <a:xfrm>
            <a:off x="1261872" y="1490134"/>
            <a:ext cx="7406640" cy="347472"/>
          </a:xfrm>
          <a:prstGeom prst="rect">
            <a:avLst/>
          </a:prstGeom>
          <a:noFill/>
          <a:ln/>
        </p:spPr>
        <p:txBody>
          <a:bodyPr wrap="square" lIns="0" tIns="0" rIns="0" bIns="0" rtlCol="0" anchor="ctr"/>
          <a:lstStyle/>
          <a:p>
            <a:pPr marL="0" indent="0">
              <a:lnSpc>
                <a:spcPct val="120000"/>
              </a:lnSpc>
              <a:buNone/>
            </a:pPr>
            <a:r>
              <a:rPr lang="en-US" sz="1050" dirty="0">
                <a:solidFill>
                  <a:srgbClr val="4A5568"/>
                </a:solidFill>
                <a:latin typeface="Calibri" pitchFamily="34" charset="0"/>
                <a:ea typeface="Calibri" pitchFamily="34" charset="-122"/>
                <a:cs typeface="Calibri" pitchFamily="34" charset="-120"/>
              </a:rPr>
              <a:t>Deploy the AgentOps SDK or API connector to your existing agent infrastructure. Supports LangChain, AutoGen, CrewAI, and proprietary frameworks. IT involvement minimal — typically a 1-day integration task.</a:t>
            </a:r>
            <a:endParaRPr lang="en-US" sz="1050" dirty="0"/>
          </a:p>
        </p:txBody>
      </p:sp>
      <p:sp>
        <p:nvSpPr>
          <p:cNvPr id="10" name="Shape 8"/>
          <p:cNvSpPr/>
          <p:nvPr/>
        </p:nvSpPr>
        <p:spPr>
          <a:xfrm>
            <a:off x="457200" y="2148502"/>
            <a:ext cx="502920" cy="502920"/>
          </a:xfrm>
          <a:prstGeom prst="ellipse">
            <a:avLst/>
          </a:prstGeom>
          <a:solidFill>
            <a:srgbClr val="0D7B8A"/>
          </a:solidFill>
          <a:ln w="12700">
            <a:solidFill>
              <a:srgbClr val="0D7B8A"/>
            </a:solidFill>
            <a:prstDash val="solid"/>
          </a:ln>
        </p:spPr>
        <p:txBody>
          <a:bodyPr/>
          <a:lstStyle/>
          <a:p>
            <a:endParaRPr lang="en-US"/>
          </a:p>
        </p:txBody>
      </p:sp>
      <p:sp>
        <p:nvSpPr>
          <p:cNvPr id="11" name="Text 9"/>
          <p:cNvSpPr/>
          <p:nvPr/>
        </p:nvSpPr>
        <p:spPr>
          <a:xfrm>
            <a:off x="457200" y="2148502"/>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Shape 11"/>
          <p:cNvSpPr/>
          <p:nvPr/>
        </p:nvSpPr>
        <p:spPr>
          <a:xfrm>
            <a:off x="1097280" y="2038774"/>
            <a:ext cx="7680960" cy="804672"/>
          </a:xfrm>
          <a:prstGeom prst="roundRect">
            <a:avLst>
              <a:gd name="adj" fmla="val 7955"/>
            </a:avLst>
          </a:prstGeom>
          <a:solidFill>
            <a:srgbClr val="FFFFFF"/>
          </a:solidFill>
          <a:ln w="12700">
            <a:solidFill>
              <a:srgbClr val="C9DDE8"/>
            </a:solidFill>
            <a:prstDash val="solid"/>
          </a:ln>
          <a:effectLst>
            <a:outerShdw blurRad="101600" dist="38100" dir="2700000" algn="bl" rotWithShape="0">
              <a:srgbClr val="000000">
                <a:alpha val="10000"/>
              </a:srgbClr>
            </a:outerShdw>
          </a:effectLst>
        </p:spPr>
        <p:txBody>
          <a:bodyPr/>
          <a:lstStyle/>
          <a:p>
            <a:endParaRPr lang="en-US"/>
          </a:p>
        </p:txBody>
      </p:sp>
      <p:sp>
        <p:nvSpPr>
          <p:cNvPr id="14" name="Text 12"/>
          <p:cNvSpPr/>
          <p:nvPr/>
        </p:nvSpPr>
        <p:spPr>
          <a:xfrm>
            <a:off x="1261872" y="2130214"/>
            <a:ext cx="1371600" cy="274320"/>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Discover</a:t>
            </a:r>
            <a:endParaRPr lang="en-US" sz="1400" dirty="0"/>
          </a:p>
        </p:txBody>
      </p:sp>
      <p:sp>
        <p:nvSpPr>
          <p:cNvPr id="15" name="Text 13"/>
          <p:cNvSpPr/>
          <p:nvPr/>
        </p:nvSpPr>
        <p:spPr>
          <a:xfrm>
            <a:off x="1261872" y="2422822"/>
            <a:ext cx="7406640" cy="347472"/>
          </a:xfrm>
          <a:prstGeom prst="rect">
            <a:avLst/>
          </a:prstGeom>
          <a:noFill/>
          <a:ln/>
        </p:spPr>
        <p:txBody>
          <a:bodyPr wrap="square" lIns="0" tIns="0" rIns="0" bIns="0" rtlCol="0" anchor="ctr"/>
          <a:lstStyle/>
          <a:p>
            <a:pPr marL="0" indent="0">
              <a:lnSpc>
                <a:spcPct val="120000"/>
              </a:lnSpc>
              <a:buNone/>
            </a:pPr>
            <a:r>
              <a:rPr lang="en-US" sz="1050" dirty="0">
                <a:solidFill>
                  <a:srgbClr val="4A5568"/>
                </a:solidFill>
                <a:latin typeface="Calibri" pitchFamily="34" charset="0"/>
                <a:ea typeface="Calibri" pitchFamily="34" charset="-122"/>
                <a:cs typeface="Calibri" pitchFamily="34" charset="-120"/>
              </a:rPr>
              <a:t>AgentOps automatically maps your complete agent inventory, classifies agents by risk tier, and identifies governance gaps. Shadow AI agents surface automatically.</a:t>
            </a:r>
            <a:endParaRPr lang="en-US" sz="1050" dirty="0"/>
          </a:p>
        </p:txBody>
      </p:sp>
      <p:sp>
        <p:nvSpPr>
          <p:cNvPr id="16" name="Shape 14"/>
          <p:cNvSpPr/>
          <p:nvPr/>
        </p:nvSpPr>
        <p:spPr>
          <a:xfrm>
            <a:off x="457200" y="3081190"/>
            <a:ext cx="502920" cy="502920"/>
          </a:xfrm>
          <a:prstGeom prst="ellipse">
            <a:avLst/>
          </a:prstGeom>
          <a:solidFill>
            <a:srgbClr val="0D7B8A"/>
          </a:solidFill>
          <a:ln w="12700">
            <a:solidFill>
              <a:srgbClr val="0D7B8A"/>
            </a:solidFill>
            <a:prstDash val="solid"/>
          </a:ln>
        </p:spPr>
        <p:txBody>
          <a:bodyPr/>
          <a:lstStyle/>
          <a:p>
            <a:endParaRPr lang="en-US"/>
          </a:p>
        </p:txBody>
      </p:sp>
      <p:sp>
        <p:nvSpPr>
          <p:cNvPr id="17" name="Text 15"/>
          <p:cNvSpPr/>
          <p:nvPr/>
        </p:nvSpPr>
        <p:spPr>
          <a:xfrm>
            <a:off x="457200" y="308119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Shape 17"/>
          <p:cNvSpPr/>
          <p:nvPr/>
        </p:nvSpPr>
        <p:spPr>
          <a:xfrm>
            <a:off x="1097280" y="2971462"/>
            <a:ext cx="7680960" cy="804672"/>
          </a:xfrm>
          <a:prstGeom prst="roundRect">
            <a:avLst>
              <a:gd name="adj" fmla="val 7955"/>
            </a:avLst>
          </a:prstGeom>
          <a:solidFill>
            <a:srgbClr val="FFFFFF"/>
          </a:solidFill>
          <a:ln w="12700">
            <a:solidFill>
              <a:srgbClr val="C9DDE8"/>
            </a:solidFill>
            <a:prstDash val="solid"/>
          </a:ln>
          <a:effectLst>
            <a:outerShdw blurRad="101600" dist="38100" dir="2700000" algn="bl" rotWithShape="0">
              <a:srgbClr val="000000">
                <a:alpha val="10000"/>
              </a:srgbClr>
            </a:outerShdw>
          </a:effectLst>
        </p:spPr>
        <p:txBody>
          <a:bodyPr/>
          <a:lstStyle/>
          <a:p>
            <a:endParaRPr lang="en-US"/>
          </a:p>
        </p:txBody>
      </p:sp>
      <p:sp>
        <p:nvSpPr>
          <p:cNvPr id="20" name="Text 18"/>
          <p:cNvSpPr/>
          <p:nvPr/>
        </p:nvSpPr>
        <p:spPr>
          <a:xfrm>
            <a:off x="1261872" y="3062902"/>
            <a:ext cx="1371600" cy="274320"/>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Monitor</a:t>
            </a:r>
            <a:endParaRPr lang="en-US" sz="1400" dirty="0"/>
          </a:p>
        </p:txBody>
      </p:sp>
      <p:sp>
        <p:nvSpPr>
          <p:cNvPr id="21" name="Text 19"/>
          <p:cNvSpPr/>
          <p:nvPr/>
        </p:nvSpPr>
        <p:spPr>
          <a:xfrm>
            <a:off x="1261872" y="3355510"/>
            <a:ext cx="7406640" cy="347472"/>
          </a:xfrm>
          <a:prstGeom prst="rect">
            <a:avLst/>
          </a:prstGeom>
          <a:noFill/>
          <a:ln/>
        </p:spPr>
        <p:txBody>
          <a:bodyPr wrap="square" lIns="0" tIns="0" rIns="0" bIns="0" rtlCol="0" anchor="ctr"/>
          <a:lstStyle/>
          <a:p>
            <a:pPr marL="0" indent="0">
              <a:lnSpc>
                <a:spcPct val="120000"/>
              </a:lnSpc>
              <a:buNone/>
            </a:pPr>
            <a:r>
              <a:rPr lang="en-US" sz="1050" dirty="0">
                <a:solidFill>
                  <a:srgbClr val="4A5568"/>
                </a:solidFill>
                <a:latin typeface="Calibri" pitchFamily="34" charset="0"/>
                <a:ea typeface="Calibri" pitchFamily="34" charset="-122"/>
                <a:cs typeface="Calibri" pitchFamily="34" charset="-120"/>
              </a:rPr>
              <a:t>Real-time dashboards surface performance metrics, compliance signals, and anomaly alerts across all agents. Alert routing via your existing incident management tools.</a:t>
            </a:r>
            <a:endParaRPr lang="en-US" sz="1050" dirty="0"/>
          </a:p>
        </p:txBody>
      </p:sp>
      <p:sp>
        <p:nvSpPr>
          <p:cNvPr id="22" name="Shape 20"/>
          <p:cNvSpPr/>
          <p:nvPr/>
        </p:nvSpPr>
        <p:spPr>
          <a:xfrm>
            <a:off x="457200" y="4013878"/>
            <a:ext cx="502920" cy="502920"/>
          </a:xfrm>
          <a:prstGeom prst="ellipse">
            <a:avLst/>
          </a:prstGeom>
          <a:solidFill>
            <a:srgbClr val="0D7B8A"/>
          </a:solidFill>
          <a:ln w="12700">
            <a:solidFill>
              <a:srgbClr val="0D7B8A"/>
            </a:solidFill>
            <a:prstDash val="solid"/>
          </a:ln>
        </p:spPr>
        <p:txBody>
          <a:bodyPr/>
          <a:lstStyle/>
          <a:p>
            <a:endParaRPr lang="en-US"/>
          </a:p>
        </p:txBody>
      </p:sp>
      <p:sp>
        <p:nvSpPr>
          <p:cNvPr id="23" name="Text 21"/>
          <p:cNvSpPr/>
          <p:nvPr/>
        </p:nvSpPr>
        <p:spPr>
          <a:xfrm>
            <a:off x="457200" y="4013878"/>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4" name="Shape 22"/>
          <p:cNvSpPr/>
          <p:nvPr/>
        </p:nvSpPr>
        <p:spPr>
          <a:xfrm>
            <a:off x="1097280" y="3904150"/>
            <a:ext cx="7680960" cy="804672"/>
          </a:xfrm>
          <a:prstGeom prst="roundRect">
            <a:avLst>
              <a:gd name="adj" fmla="val 7955"/>
            </a:avLst>
          </a:prstGeom>
          <a:solidFill>
            <a:srgbClr val="FFFFFF"/>
          </a:solidFill>
          <a:ln w="12700">
            <a:solidFill>
              <a:srgbClr val="C9DDE8"/>
            </a:solidFill>
            <a:prstDash val="solid"/>
          </a:ln>
          <a:effectLst>
            <a:outerShdw blurRad="101600" dist="38100" dir="2700000" algn="bl" rotWithShape="0">
              <a:srgbClr val="000000">
                <a:alpha val="10000"/>
              </a:srgbClr>
            </a:outerShdw>
          </a:effectLst>
        </p:spPr>
        <p:txBody>
          <a:bodyPr/>
          <a:lstStyle/>
          <a:p>
            <a:endParaRPr lang="en-US"/>
          </a:p>
        </p:txBody>
      </p:sp>
      <p:sp>
        <p:nvSpPr>
          <p:cNvPr id="25" name="Text 23"/>
          <p:cNvSpPr/>
          <p:nvPr/>
        </p:nvSpPr>
        <p:spPr>
          <a:xfrm>
            <a:off x="1261872" y="3995590"/>
            <a:ext cx="1371600" cy="274320"/>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Report</a:t>
            </a:r>
            <a:endParaRPr lang="en-US" sz="1400" dirty="0"/>
          </a:p>
        </p:txBody>
      </p:sp>
      <p:sp>
        <p:nvSpPr>
          <p:cNvPr id="26" name="Text 24"/>
          <p:cNvSpPr/>
          <p:nvPr/>
        </p:nvSpPr>
        <p:spPr>
          <a:xfrm>
            <a:off x="1261872" y="4288198"/>
            <a:ext cx="7406640" cy="347472"/>
          </a:xfrm>
          <a:prstGeom prst="rect">
            <a:avLst/>
          </a:prstGeom>
          <a:noFill/>
          <a:ln/>
        </p:spPr>
        <p:txBody>
          <a:bodyPr wrap="square" lIns="0" tIns="0" rIns="0" bIns="0" rtlCol="0" anchor="ctr"/>
          <a:lstStyle/>
          <a:p>
            <a:pPr marL="0" indent="0">
              <a:lnSpc>
                <a:spcPct val="120000"/>
              </a:lnSpc>
              <a:buNone/>
            </a:pPr>
            <a:r>
              <a:rPr lang="en-US" sz="1050" dirty="0">
                <a:solidFill>
                  <a:srgbClr val="4A5568"/>
                </a:solidFill>
                <a:latin typeface="Calibri" pitchFamily="34" charset="0"/>
                <a:ea typeface="Calibri" pitchFamily="34" charset="-122"/>
                <a:cs typeface="Calibri" pitchFamily="34" charset="-120"/>
              </a:rPr>
              <a:t>One-click regulatory reports, board-ready ROI summaries, and audit evidence packages — always current, always exportable. Mapped to OCC, FCA, MAS, and EU AI Act requirements.</a:t>
            </a:r>
            <a:endParaRPr lang="en-US" sz="1050" dirty="0"/>
          </a:p>
        </p:txBody>
      </p:sp>
      <p:sp>
        <p:nvSpPr>
          <p:cNvPr id="27" name="Shape 25"/>
          <p:cNvSpPr/>
          <p:nvPr/>
        </p:nvSpPr>
        <p:spPr>
          <a:xfrm>
            <a:off x="457200" y="4754880"/>
            <a:ext cx="4114800" cy="274320"/>
          </a:xfrm>
          <a:prstGeom prst="roundRect">
            <a:avLst>
              <a:gd name="adj" fmla="val 16667"/>
            </a:avLst>
          </a:prstGeom>
          <a:solidFill>
            <a:srgbClr val="E8F4F6"/>
          </a:solidFill>
          <a:ln w="12700">
            <a:solidFill>
              <a:srgbClr val="0D7B8A"/>
            </a:solidFill>
            <a:prstDash val="solid"/>
          </a:ln>
        </p:spPr>
        <p:txBody>
          <a:bodyPr/>
          <a:lstStyle/>
          <a:p>
            <a:endParaRPr lang="en-US"/>
          </a:p>
        </p:txBody>
      </p:sp>
      <p:sp>
        <p:nvSpPr>
          <p:cNvPr id="28" name="Text 26"/>
          <p:cNvSpPr/>
          <p:nvPr/>
        </p:nvSpPr>
        <p:spPr>
          <a:xfrm>
            <a:off x="594360" y="4773168"/>
            <a:ext cx="3840480" cy="237744"/>
          </a:xfrm>
          <a:prstGeom prst="rect">
            <a:avLst/>
          </a:prstGeom>
          <a:noFill/>
          <a:ln/>
        </p:spPr>
        <p:txBody>
          <a:bodyPr wrap="square" lIns="0" tIns="0" rIns="0" bIns="0" rtlCol="0" anchor="ctr"/>
          <a:lstStyle/>
          <a:p>
            <a:pPr marL="0" indent="0">
              <a:buNone/>
            </a:pPr>
            <a:r>
              <a:rPr lang="en-US" sz="1000" b="1" dirty="0">
                <a:solidFill>
                  <a:srgbClr val="0D7B8A"/>
                </a:solidFill>
                <a:latin typeface="Calibri" pitchFamily="34" charset="0"/>
                <a:ea typeface="Calibri" pitchFamily="34" charset="-122"/>
                <a:cs typeface="Calibri" pitchFamily="34" charset="-120"/>
              </a:rPr>
              <a:t>⚡  Average time to first governance insight: 48 hours</a:t>
            </a:r>
            <a:endParaRPr lang="en-US" sz="1000" dirty="0"/>
          </a:p>
        </p:txBody>
      </p:sp>
      <p:sp>
        <p:nvSpPr>
          <p:cNvPr id="29" name="Shape 27"/>
          <p:cNvSpPr/>
          <p:nvPr/>
        </p:nvSpPr>
        <p:spPr>
          <a:xfrm>
            <a:off x="4754880" y="4754880"/>
            <a:ext cx="4114800" cy="274320"/>
          </a:xfrm>
          <a:prstGeom prst="roundRect">
            <a:avLst>
              <a:gd name="adj" fmla="val 16667"/>
            </a:avLst>
          </a:prstGeom>
          <a:solidFill>
            <a:srgbClr val="E8F4F6"/>
          </a:solidFill>
          <a:ln w="12700">
            <a:solidFill>
              <a:srgbClr val="0D7B8A"/>
            </a:solidFill>
            <a:prstDash val="solid"/>
          </a:ln>
        </p:spPr>
        <p:txBody>
          <a:bodyPr/>
          <a:lstStyle/>
          <a:p>
            <a:endParaRPr lang="en-US"/>
          </a:p>
        </p:txBody>
      </p:sp>
      <p:sp>
        <p:nvSpPr>
          <p:cNvPr id="30" name="Text 28"/>
          <p:cNvSpPr/>
          <p:nvPr/>
        </p:nvSpPr>
        <p:spPr>
          <a:xfrm>
            <a:off x="4892040" y="4773168"/>
            <a:ext cx="3840480" cy="237744"/>
          </a:xfrm>
          <a:prstGeom prst="rect">
            <a:avLst/>
          </a:prstGeom>
          <a:noFill/>
          <a:ln/>
        </p:spPr>
        <p:txBody>
          <a:bodyPr wrap="square" lIns="0" tIns="0" rIns="0" bIns="0" rtlCol="0" anchor="ctr"/>
          <a:lstStyle/>
          <a:p>
            <a:pPr marL="0" indent="0">
              <a:buNone/>
            </a:pPr>
            <a:r>
              <a:rPr lang="en-US" sz="1000" b="1" dirty="0">
                <a:solidFill>
                  <a:srgbClr val="0D7B8A"/>
                </a:solidFill>
                <a:latin typeface="Calibri" pitchFamily="34" charset="0"/>
                <a:ea typeface="Calibri" pitchFamily="34" charset="-122"/>
                <a:cs typeface="Calibri" pitchFamily="34" charset="-120"/>
              </a:rPr>
              <a:t>✓  Average time to full deployment: 14 days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75488"/>
          </a:xfrm>
          <a:prstGeom prst="rect">
            <a:avLst/>
          </a:prstGeom>
          <a:noFill/>
          <a:ln/>
        </p:spPr>
        <p:txBody>
          <a:bodyPr wrap="square" lIns="0" tIns="0" rIns="0" bIns="0" rtlCol="0" anchor="ctr"/>
          <a:lstStyle/>
          <a:p>
            <a:pPr marL="0" indent="0">
              <a:buNone/>
            </a:pPr>
            <a:r>
              <a:rPr lang="en-US" sz="2600" b="1" dirty="0">
                <a:solidFill>
                  <a:srgbClr val="1B2A4A"/>
                </a:solidFill>
                <a:latin typeface="Cambria" pitchFamily="34" charset="0"/>
                <a:ea typeface="Cambria" pitchFamily="34" charset="-122"/>
                <a:cs typeface="Cambria" pitchFamily="34" charset="-120"/>
              </a:rPr>
              <a:t>Three Firms. One Quarter. Measurable Results.</a:t>
            </a:r>
            <a:endParaRPr lang="en-US" sz="2600" dirty="0"/>
          </a:p>
        </p:txBody>
      </p:sp>
      <p:sp>
        <p:nvSpPr>
          <p:cNvPr id="3" name="Text 1"/>
          <p:cNvSpPr/>
          <p:nvPr/>
        </p:nvSpPr>
        <p:spPr>
          <a:xfrm>
            <a:off x="457200" y="758952"/>
            <a:ext cx="8229600" cy="274320"/>
          </a:xfrm>
          <a:prstGeom prst="rect">
            <a:avLst/>
          </a:prstGeom>
          <a:noFill/>
          <a:ln/>
        </p:spPr>
        <p:txBody>
          <a:bodyPr wrap="square" lIns="0" tIns="0" rIns="0" bIns="0" rtlCol="0" anchor="ctr"/>
          <a:lstStyle/>
          <a:p>
            <a:pPr marL="0" indent="0">
              <a:buNone/>
            </a:pPr>
            <a:r>
              <a:rPr lang="en-US" sz="1300" i="1" dirty="0">
                <a:solidFill>
                  <a:srgbClr val="6B7A8D"/>
                </a:solidFill>
                <a:latin typeface="Calibri" pitchFamily="34" charset="0"/>
                <a:ea typeface="Calibri" pitchFamily="34" charset="-122"/>
                <a:cs typeface="Calibri" pitchFamily="34" charset="-120"/>
              </a:rPr>
              <a:t>Early adopters across banking, insurance, and wealth management — each solving a different governance challenge.</a:t>
            </a:r>
            <a:endParaRPr lang="en-US" sz="1300" dirty="0"/>
          </a:p>
        </p:txBody>
      </p:sp>
      <p:sp>
        <p:nvSpPr>
          <p:cNvPr id="4" name="Shape 2"/>
          <p:cNvSpPr/>
          <p:nvPr/>
        </p:nvSpPr>
        <p:spPr>
          <a:xfrm>
            <a:off x="457200" y="1234440"/>
            <a:ext cx="2715768" cy="3703320"/>
          </a:xfrm>
          <a:prstGeom prst="roundRect">
            <a:avLst>
              <a:gd name="adj" fmla="val 3367"/>
            </a:avLst>
          </a:prstGeom>
          <a:solidFill>
            <a:srgbClr val="FFFFFF"/>
          </a:solidFill>
          <a:ln w="12700">
            <a:solidFill>
              <a:srgbClr val="C9DDE8"/>
            </a:solidFill>
            <a:prstDash val="solid"/>
          </a:ln>
          <a:effectLst>
            <a:outerShdw blurRad="101600" dist="38100" dir="2700000" algn="bl" rotWithShape="0">
              <a:srgbClr val="000000">
                <a:alpha val="10000"/>
              </a:srgbClr>
            </a:outerShdw>
          </a:effectLst>
        </p:spPr>
        <p:txBody>
          <a:bodyPr/>
          <a:lstStyle/>
          <a:p>
            <a:endParaRPr lang="en-US"/>
          </a:p>
        </p:txBody>
      </p:sp>
      <p:sp>
        <p:nvSpPr>
          <p:cNvPr id="5" name="Shape 3"/>
          <p:cNvSpPr/>
          <p:nvPr/>
        </p:nvSpPr>
        <p:spPr>
          <a:xfrm>
            <a:off x="594360" y="1371600"/>
            <a:ext cx="914400" cy="237744"/>
          </a:xfrm>
          <a:prstGeom prst="roundRect">
            <a:avLst>
              <a:gd name="adj" fmla="val 19231"/>
            </a:avLst>
          </a:prstGeom>
          <a:solidFill>
            <a:srgbClr val="E8F4F6"/>
          </a:solidFill>
          <a:ln w="12700">
            <a:solidFill>
              <a:srgbClr val="E8F4F6"/>
            </a:solidFill>
            <a:prstDash val="solid"/>
          </a:ln>
        </p:spPr>
        <p:txBody>
          <a:bodyPr/>
          <a:lstStyle/>
          <a:p>
            <a:endParaRPr lang="en-US"/>
          </a:p>
        </p:txBody>
      </p:sp>
      <p:sp>
        <p:nvSpPr>
          <p:cNvPr id="6" name="Text 4"/>
          <p:cNvSpPr/>
          <p:nvPr/>
        </p:nvSpPr>
        <p:spPr>
          <a:xfrm>
            <a:off x="594360" y="1371600"/>
            <a:ext cx="914400" cy="237744"/>
          </a:xfrm>
          <a:prstGeom prst="rect">
            <a:avLst/>
          </a:prstGeom>
          <a:noFill/>
          <a:ln/>
        </p:spPr>
        <p:txBody>
          <a:bodyPr wrap="square" lIns="0" tIns="0" rIns="0" bIns="0" rtlCol="0" anchor="ctr"/>
          <a:lstStyle/>
          <a:p>
            <a:pPr marL="0" indent="0" algn="ctr">
              <a:buNone/>
            </a:pPr>
            <a:r>
              <a:rPr lang="en-US" sz="850" b="1" dirty="0">
                <a:solidFill>
                  <a:srgbClr val="0D7B8A"/>
                </a:solidFill>
                <a:latin typeface="Calibri" pitchFamily="34" charset="0"/>
                <a:ea typeface="Calibri" pitchFamily="34" charset="-122"/>
                <a:cs typeface="Calibri" pitchFamily="34" charset="-120"/>
              </a:rPr>
              <a:t>Banking</a:t>
            </a:r>
            <a:endParaRPr lang="en-US" sz="850" dirty="0"/>
          </a:p>
        </p:txBody>
      </p:sp>
      <p:sp>
        <p:nvSpPr>
          <p:cNvPr id="7" name="Text 5"/>
          <p:cNvSpPr/>
          <p:nvPr/>
        </p:nvSpPr>
        <p:spPr>
          <a:xfrm>
            <a:off x="594360" y="1673352"/>
            <a:ext cx="2468880" cy="320040"/>
          </a:xfrm>
          <a:prstGeom prst="rect">
            <a:avLst/>
          </a:prstGeom>
          <a:noFill/>
          <a:ln/>
        </p:spPr>
        <p:txBody>
          <a:bodyPr wrap="square" lIns="0" tIns="0" rIns="0" bIns="0" rtlCol="0" anchor="ctr"/>
          <a:lstStyle/>
          <a:p>
            <a:pPr marL="0" indent="0">
              <a:lnSpc>
                <a:spcPct val="110000"/>
              </a:lnSpc>
              <a:buNone/>
            </a:pPr>
            <a:r>
              <a:rPr lang="en-US" sz="1150" b="1" dirty="0">
                <a:solidFill>
                  <a:srgbClr val="1B2A4A"/>
                </a:solidFill>
                <a:latin typeface="Calibri" pitchFamily="34" charset="0"/>
                <a:ea typeface="Calibri" pitchFamily="34" charset="-122"/>
                <a:cs typeface="Calibri" pitchFamily="34" charset="-120"/>
              </a:rPr>
              <a:t>Regional Bank — Top 25 US</a:t>
            </a:r>
            <a:endParaRPr lang="en-US" sz="1150" dirty="0"/>
          </a:p>
        </p:txBody>
      </p:sp>
      <p:sp>
        <p:nvSpPr>
          <p:cNvPr id="8" name="Text 6"/>
          <p:cNvSpPr/>
          <p:nvPr/>
        </p:nvSpPr>
        <p:spPr>
          <a:xfrm>
            <a:off x="594360" y="2039112"/>
            <a:ext cx="2468880" cy="1325880"/>
          </a:xfrm>
          <a:prstGeom prst="rect">
            <a:avLst/>
          </a:prstGeom>
          <a:noFill/>
          <a:ln/>
        </p:spPr>
        <p:txBody>
          <a:bodyPr wrap="square" lIns="0" tIns="0" rIns="0" bIns="0" rtlCol="0" anchor="ctr"/>
          <a:lstStyle/>
          <a:p>
            <a:pPr marL="0" indent="0">
              <a:lnSpc>
                <a:spcPct val="130000"/>
              </a:lnSpc>
              <a:buNone/>
            </a:pPr>
            <a:r>
              <a:rPr lang="en-US" sz="950" i="1" dirty="0">
                <a:solidFill>
                  <a:srgbClr val="4A5568"/>
                </a:solidFill>
                <a:latin typeface="Calibri" pitchFamily="34" charset="0"/>
                <a:ea typeface="Calibri" pitchFamily="34" charset="-122"/>
                <a:cs typeface="Calibri" pitchFamily="34" charset="-120"/>
              </a:rPr>
              <a:t>"We discovered 47 AI agents we didn't know were running in production. Within 30 days, we had a complete governance framework and cleared our first OCC model risk review."</a:t>
            </a:r>
            <a:endParaRPr lang="en-US" sz="950" dirty="0"/>
          </a:p>
        </p:txBody>
      </p:sp>
      <p:sp>
        <p:nvSpPr>
          <p:cNvPr id="9" name="Text 7"/>
          <p:cNvSpPr/>
          <p:nvPr/>
        </p:nvSpPr>
        <p:spPr>
          <a:xfrm>
            <a:off x="594360" y="3401568"/>
            <a:ext cx="2468880" cy="201168"/>
          </a:xfrm>
          <a:prstGeom prst="rect">
            <a:avLst/>
          </a:prstGeom>
          <a:noFill/>
          <a:ln/>
        </p:spPr>
        <p:txBody>
          <a:bodyPr wrap="square" lIns="0" tIns="0" rIns="0" bIns="0" rtlCol="0" anchor="ctr"/>
          <a:lstStyle/>
          <a:p>
            <a:pPr marL="0" indent="0">
              <a:buNone/>
            </a:pPr>
            <a:r>
              <a:rPr lang="en-US" sz="900" dirty="0">
                <a:solidFill>
                  <a:srgbClr val="6B7A8D"/>
                </a:solidFill>
                <a:latin typeface="Calibri" pitchFamily="34" charset="0"/>
                <a:ea typeface="Calibri" pitchFamily="34" charset="-122"/>
                <a:cs typeface="Calibri" pitchFamily="34" charset="-120"/>
              </a:rPr>
              <a:t>— Chief Risk Officer</a:t>
            </a:r>
            <a:endParaRPr lang="en-US" sz="900" dirty="0"/>
          </a:p>
        </p:txBody>
      </p:sp>
      <p:sp>
        <p:nvSpPr>
          <p:cNvPr id="10" name="Shape 8"/>
          <p:cNvSpPr/>
          <p:nvPr/>
        </p:nvSpPr>
        <p:spPr>
          <a:xfrm>
            <a:off x="594360" y="3657600"/>
            <a:ext cx="2441448" cy="18288"/>
          </a:xfrm>
          <a:prstGeom prst="rect">
            <a:avLst/>
          </a:prstGeom>
          <a:solidFill>
            <a:srgbClr val="C9DDE8"/>
          </a:solidFill>
          <a:ln w="12700">
            <a:solidFill>
              <a:srgbClr val="C9DDE8"/>
            </a:solidFill>
            <a:prstDash val="solid"/>
          </a:ln>
        </p:spPr>
        <p:txBody>
          <a:bodyPr/>
          <a:lstStyle/>
          <a:p>
            <a:endParaRPr lang="en-US"/>
          </a:p>
        </p:txBody>
      </p:sp>
      <p:sp>
        <p:nvSpPr>
          <p:cNvPr id="11" name="Text 9"/>
          <p:cNvSpPr/>
          <p:nvPr/>
        </p:nvSpPr>
        <p:spPr>
          <a:xfrm>
            <a:off x="594360" y="3730752"/>
            <a:ext cx="2468880" cy="310896"/>
          </a:xfrm>
          <a:prstGeom prst="rect">
            <a:avLst/>
          </a:prstGeom>
          <a:noFill/>
          <a:ln/>
        </p:spPr>
        <p:txBody>
          <a:bodyPr wrap="square" lIns="0" tIns="0" rIns="0" bIns="0" rtlCol="0" anchor="ctr"/>
          <a:lstStyle/>
          <a:p>
            <a:pPr marL="0" indent="0">
              <a:lnSpc>
                <a:spcPct val="110000"/>
              </a:lnSpc>
              <a:buNone/>
            </a:pPr>
            <a:r>
              <a:rPr lang="en-US" sz="900" b="1" dirty="0">
                <a:solidFill>
                  <a:srgbClr val="0D7B8A"/>
                </a:solidFill>
                <a:latin typeface="Calibri" pitchFamily="34" charset="0"/>
                <a:ea typeface="Calibri" pitchFamily="34" charset="-122"/>
                <a:cs typeface="Calibri" pitchFamily="34" charset="-120"/>
              </a:rPr>
              <a:t>✓  </a:t>
            </a:r>
            <a:r>
              <a:rPr lang="en-US" sz="900" dirty="0">
                <a:solidFill>
                  <a:srgbClr val="4A5568"/>
                </a:solidFill>
                <a:latin typeface="Calibri" pitchFamily="34" charset="0"/>
                <a:ea typeface="Calibri" pitchFamily="34" charset="-122"/>
                <a:cs typeface="Calibri" pitchFamily="34" charset="-120"/>
              </a:rPr>
              <a:t>100% agent inventory coverage in 30 days</a:t>
            </a:r>
            <a:endParaRPr lang="en-US" sz="900" dirty="0"/>
          </a:p>
        </p:txBody>
      </p:sp>
      <p:sp>
        <p:nvSpPr>
          <p:cNvPr id="12" name="Text 10"/>
          <p:cNvSpPr/>
          <p:nvPr/>
        </p:nvSpPr>
        <p:spPr>
          <a:xfrm>
            <a:off x="594360" y="4078224"/>
            <a:ext cx="2468880" cy="310896"/>
          </a:xfrm>
          <a:prstGeom prst="rect">
            <a:avLst/>
          </a:prstGeom>
          <a:noFill/>
          <a:ln/>
        </p:spPr>
        <p:txBody>
          <a:bodyPr wrap="square" lIns="0" tIns="0" rIns="0" bIns="0" rtlCol="0" anchor="ctr"/>
          <a:lstStyle/>
          <a:p>
            <a:pPr marL="0" indent="0">
              <a:lnSpc>
                <a:spcPct val="110000"/>
              </a:lnSpc>
              <a:buNone/>
            </a:pPr>
            <a:r>
              <a:rPr lang="en-US" sz="900" b="1" dirty="0">
                <a:solidFill>
                  <a:srgbClr val="0D7B8A"/>
                </a:solidFill>
                <a:latin typeface="Calibri" pitchFamily="34" charset="0"/>
                <a:ea typeface="Calibri" pitchFamily="34" charset="-122"/>
                <a:cs typeface="Calibri" pitchFamily="34" charset="-120"/>
              </a:rPr>
              <a:t>✓  </a:t>
            </a:r>
            <a:r>
              <a:rPr lang="en-US" sz="900" dirty="0">
                <a:solidFill>
                  <a:srgbClr val="4A5568"/>
                </a:solidFill>
                <a:latin typeface="Calibri" pitchFamily="34" charset="0"/>
                <a:ea typeface="Calibri" pitchFamily="34" charset="-122"/>
                <a:cs typeface="Calibri" pitchFamily="34" charset="-120"/>
              </a:rPr>
              <a:t>OCC model risk review: passed</a:t>
            </a:r>
            <a:endParaRPr lang="en-US" sz="900" dirty="0"/>
          </a:p>
        </p:txBody>
      </p:sp>
      <p:sp>
        <p:nvSpPr>
          <p:cNvPr id="13" name="Text 11"/>
          <p:cNvSpPr/>
          <p:nvPr/>
        </p:nvSpPr>
        <p:spPr>
          <a:xfrm>
            <a:off x="594360" y="4425696"/>
            <a:ext cx="2468880" cy="310896"/>
          </a:xfrm>
          <a:prstGeom prst="rect">
            <a:avLst/>
          </a:prstGeom>
          <a:noFill/>
          <a:ln/>
        </p:spPr>
        <p:txBody>
          <a:bodyPr wrap="square" lIns="0" tIns="0" rIns="0" bIns="0" rtlCol="0" anchor="ctr"/>
          <a:lstStyle/>
          <a:p>
            <a:pPr marL="0" indent="0">
              <a:lnSpc>
                <a:spcPct val="110000"/>
              </a:lnSpc>
              <a:buNone/>
            </a:pPr>
            <a:r>
              <a:rPr lang="en-US" sz="900" b="1" dirty="0">
                <a:solidFill>
                  <a:srgbClr val="0D7B8A"/>
                </a:solidFill>
                <a:latin typeface="Calibri" pitchFamily="34" charset="0"/>
                <a:ea typeface="Calibri" pitchFamily="34" charset="-122"/>
                <a:cs typeface="Calibri" pitchFamily="34" charset="-120"/>
              </a:rPr>
              <a:t>✓  </a:t>
            </a:r>
            <a:r>
              <a:rPr lang="en-US" sz="900" dirty="0">
                <a:solidFill>
                  <a:srgbClr val="4A5568"/>
                </a:solidFill>
                <a:latin typeface="Calibri" pitchFamily="34" charset="0"/>
                <a:ea typeface="Calibri" pitchFamily="34" charset="-122"/>
                <a:cs typeface="Calibri" pitchFamily="34" charset="-120"/>
              </a:rPr>
              <a:t>$2.1M compliance cost avoidance</a:t>
            </a:r>
            <a:endParaRPr lang="en-US" sz="900" dirty="0"/>
          </a:p>
        </p:txBody>
      </p:sp>
      <p:sp>
        <p:nvSpPr>
          <p:cNvPr id="14" name="Shape 12"/>
          <p:cNvSpPr/>
          <p:nvPr/>
        </p:nvSpPr>
        <p:spPr>
          <a:xfrm>
            <a:off x="3310128" y="1234440"/>
            <a:ext cx="2715768" cy="3703320"/>
          </a:xfrm>
          <a:prstGeom prst="roundRect">
            <a:avLst>
              <a:gd name="adj" fmla="val 3367"/>
            </a:avLst>
          </a:prstGeom>
          <a:solidFill>
            <a:srgbClr val="FFFFFF"/>
          </a:solidFill>
          <a:ln w="12700">
            <a:solidFill>
              <a:srgbClr val="C9DDE8"/>
            </a:solidFill>
            <a:prstDash val="solid"/>
          </a:ln>
          <a:effectLst>
            <a:outerShdw blurRad="101600" dist="38100" dir="2700000" algn="bl" rotWithShape="0">
              <a:srgbClr val="000000">
                <a:alpha val="10000"/>
              </a:srgbClr>
            </a:outerShdw>
          </a:effectLst>
        </p:spPr>
        <p:txBody>
          <a:bodyPr/>
          <a:lstStyle/>
          <a:p>
            <a:endParaRPr lang="en-US"/>
          </a:p>
        </p:txBody>
      </p:sp>
      <p:sp>
        <p:nvSpPr>
          <p:cNvPr id="15" name="Shape 13"/>
          <p:cNvSpPr/>
          <p:nvPr/>
        </p:nvSpPr>
        <p:spPr>
          <a:xfrm>
            <a:off x="3447288" y="1371600"/>
            <a:ext cx="914400" cy="237744"/>
          </a:xfrm>
          <a:prstGeom prst="roundRect">
            <a:avLst>
              <a:gd name="adj" fmla="val 19231"/>
            </a:avLst>
          </a:prstGeom>
          <a:solidFill>
            <a:srgbClr val="E8F4F6"/>
          </a:solidFill>
          <a:ln w="12700">
            <a:solidFill>
              <a:srgbClr val="E8F4F6"/>
            </a:solidFill>
            <a:prstDash val="solid"/>
          </a:ln>
        </p:spPr>
        <p:txBody>
          <a:bodyPr/>
          <a:lstStyle/>
          <a:p>
            <a:endParaRPr lang="en-US"/>
          </a:p>
        </p:txBody>
      </p:sp>
      <p:sp>
        <p:nvSpPr>
          <p:cNvPr id="16" name="Text 14"/>
          <p:cNvSpPr/>
          <p:nvPr/>
        </p:nvSpPr>
        <p:spPr>
          <a:xfrm>
            <a:off x="3447288" y="1371600"/>
            <a:ext cx="914400" cy="237744"/>
          </a:xfrm>
          <a:prstGeom prst="rect">
            <a:avLst/>
          </a:prstGeom>
          <a:noFill/>
          <a:ln/>
        </p:spPr>
        <p:txBody>
          <a:bodyPr wrap="square" lIns="0" tIns="0" rIns="0" bIns="0" rtlCol="0" anchor="ctr"/>
          <a:lstStyle/>
          <a:p>
            <a:pPr marL="0" indent="0" algn="ctr">
              <a:buNone/>
            </a:pPr>
            <a:r>
              <a:rPr lang="en-US" sz="850" b="1" dirty="0">
                <a:solidFill>
                  <a:srgbClr val="0D7B8A"/>
                </a:solidFill>
                <a:latin typeface="Calibri" pitchFamily="34" charset="0"/>
                <a:ea typeface="Calibri" pitchFamily="34" charset="-122"/>
                <a:cs typeface="Calibri" pitchFamily="34" charset="-120"/>
              </a:rPr>
              <a:t>Insurance</a:t>
            </a:r>
            <a:endParaRPr lang="en-US" sz="850" dirty="0"/>
          </a:p>
        </p:txBody>
      </p:sp>
      <p:sp>
        <p:nvSpPr>
          <p:cNvPr id="17" name="Text 15"/>
          <p:cNvSpPr/>
          <p:nvPr/>
        </p:nvSpPr>
        <p:spPr>
          <a:xfrm>
            <a:off x="3447288" y="1673352"/>
            <a:ext cx="2468880" cy="320040"/>
          </a:xfrm>
          <a:prstGeom prst="rect">
            <a:avLst/>
          </a:prstGeom>
          <a:noFill/>
          <a:ln/>
        </p:spPr>
        <p:txBody>
          <a:bodyPr wrap="square" lIns="0" tIns="0" rIns="0" bIns="0" rtlCol="0" anchor="ctr"/>
          <a:lstStyle/>
          <a:p>
            <a:pPr marL="0" indent="0">
              <a:lnSpc>
                <a:spcPct val="110000"/>
              </a:lnSpc>
              <a:buNone/>
            </a:pPr>
            <a:r>
              <a:rPr lang="en-US" sz="1150" b="1" dirty="0">
                <a:solidFill>
                  <a:srgbClr val="1B2A4A"/>
                </a:solidFill>
                <a:latin typeface="Calibri" pitchFamily="34" charset="0"/>
                <a:ea typeface="Calibri" pitchFamily="34" charset="-122"/>
                <a:cs typeface="Calibri" pitchFamily="34" charset="-120"/>
              </a:rPr>
              <a:t>Global Insurance Carrier</a:t>
            </a:r>
            <a:endParaRPr lang="en-US" sz="1150" dirty="0"/>
          </a:p>
        </p:txBody>
      </p:sp>
      <p:sp>
        <p:nvSpPr>
          <p:cNvPr id="18" name="Text 16"/>
          <p:cNvSpPr/>
          <p:nvPr/>
        </p:nvSpPr>
        <p:spPr>
          <a:xfrm>
            <a:off x="3447288" y="2039112"/>
            <a:ext cx="2468880" cy="1325880"/>
          </a:xfrm>
          <a:prstGeom prst="rect">
            <a:avLst/>
          </a:prstGeom>
          <a:noFill/>
          <a:ln/>
        </p:spPr>
        <p:txBody>
          <a:bodyPr wrap="square" lIns="0" tIns="0" rIns="0" bIns="0" rtlCol="0" anchor="ctr"/>
          <a:lstStyle/>
          <a:p>
            <a:pPr marL="0" indent="0">
              <a:lnSpc>
                <a:spcPct val="130000"/>
              </a:lnSpc>
              <a:buNone/>
            </a:pPr>
            <a:r>
              <a:rPr lang="en-US" sz="950" i="1" dirty="0">
                <a:solidFill>
                  <a:srgbClr val="4A5568"/>
                </a:solidFill>
                <a:latin typeface="Calibri" pitchFamily="34" charset="0"/>
                <a:ea typeface="Calibri" pitchFamily="34" charset="-122"/>
                <a:cs typeface="Calibri" pitchFamily="34" charset="-120"/>
              </a:rPr>
              <a:t>"AgentOps gave our compliance team the audit trail they needed without slowing down our AI development roadmap. It's the first tool both teams actually use."</a:t>
            </a:r>
            <a:endParaRPr lang="en-US" sz="950" dirty="0"/>
          </a:p>
        </p:txBody>
      </p:sp>
      <p:sp>
        <p:nvSpPr>
          <p:cNvPr id="19" name="Text 17"/>
          <p:cNvSpPr/>
          <p:nvPr/>
        </p:nvSpPr>
        <p:spPr>
          <a:xfrm>
            <a:off x="3447288" y="3401568"/>
            <a:ext cx="2468880" cy="201168"/>
          </a:xfrm>
          <a:prstGeom prst="rect">
            <a:avLst/>
          </a:prstGeom>
          <a:noFill/>
          <a:ln/>
        </p:spPr>
        <p:txBody>
          <a:bodyPr wrap="square" lIns="0" tIns="0" rIns="0" bIns="0" rtlCol="0" anchor="ctr"/>
          <a:lstStyle/>
          <a:p>
            <a:pPr marL="0" indent="0">
              <a:buNone/>
            </a:pPr>
            <a:r>
              <a:rPr lang="en-US" sz="900" dirty="0">
                <a:solidFill>
                  <a:srgbClr val="6B7A8D"/>
                </a:solidFill>
                <a:latin typeface="Calibri" pitchFamily="34" charset="0"/>
                <a:ea typeface="Calibri" pitchFamily="34" charset="-122"/>
                <a:cs typeface="Calibri" pitchFamily="34" charset="-120"/>
              </a:rPr>
              <a:t>— Chief Compliance Officer</a:t>
            </a:r>
            <a:endParaRPr lang="en-US" sz="900" dirty="0"/>
          </a:p>
        </p:txBody>
      </p:sp>
      <p:sp>
        <p:nvSpPr>
          <p:cNvPr id="20" name="Shape 18"/>
          <p:cNvSpPr/>
          <p:nvPr/>
        </p:nvSpPr>
        <p:spPr>
          <a:xfrm>
            <a:off x="3447288" y="3657600"/>
            <a:ext cx="2441448" cy="18288"/>
          </a:xfrm>
          <a:prstGeom prst="rect">
            <a:avLst/>
          </a:prstGeom>
          <a:solidFill>
            <a:srgbClr val="C9DDE8"/>
          </a:solidFill>
          <a:ln w="12700">
            <a:solidFill>
              <a:srgbClr val="C9DDE8"/>
            </a:solidFill>
            <a:prstDash val="solid"/>
          </a:ln>
        </p:spPr>
        <p:txBody>
          <a:bodyPr/>
          <a:lstStyle/>
          <a:p>
            <a:endParaRPr lang="en-US"/>
          </a:p>
        </p:txBody>
      </p:sp>
      <p:sp>
        <p:nvSpPr>
          <p:cNvPr id="21" name="Text 19"/>
          <p:cNvSpPr/>
          <p:nvPr/>
        </p:nvSpPr>
        <p:spPr>
          <a:xfrm>
            <a:off x="3447288" y="3730752"/>
            <a:ext cx="2468880" cy="310896"/>
          </a:xfrm>
          <a:prstGeom prst="rect">
            <a:avLst/>
          </a:prstGeom>
          <a:noFill/>
          <a:ln/>
        </p:spPr>
        <p:txBody>
          <a:bodyPr wrap="square" lIns="0" tIns="0" rIns="0" bIns="0" rtlCol="0" anchor="ctr"/>
          <a:lstStyle/>
          <a:p>
            <a:pPr marL="0" indent="0">
              <a:lnSpc>
                <a:spcPct val="110000"/>
              </a:lnSpc>
              <a:buNone/>
            </a:pPr>
            <a:r>
              <a:rPr lang="en-US" sz="900" b="1" dirty="0">
                <a:solidFill>
                  <a:srgbClr val="0D7B8A"/>
                </a:solidFill>
                <a:latin typeface="Calibri" pitchFamily="34" charset="0"/>
                <a:ea typeface="Calibri" pitchFamily="34" charset="-122"/>
                <a:cs typeface="Calibri" pitchFamily="34" charset="-120"/>
              </a:rPr>
              <a:t>✓  </a:t>
            </a:r>
            <a:r>
              <a:rPr lang="en-US" sz="900" dirty="0">
                <a:solidFill>
                  <a:srgbClr val="4A5568"/>
                </a:solidFill>
                <a:latin typeface="Calibri" pitchFamily="34" charset="0"/>
                <a:ea typeface="Calibri" pitchFamily="34" charset="-122"/>
                <a:cs typeface="Calibri" pitchFamily="34" charset="-120"/>
              </a:rPr>
              <a:t>6-week audit prep reduced to 3 hours</a:t>
            </a:r>
            <a:endParaRPr lang="en-US" sz="900" dirty="0"/>
          </a:p>
        </p:txBody>
      </p:sp>
      <p:sp>
        <p:nvSpPr>
          <p:cNvPr id="22" name="Text 20"/>
          <p:cNvSpPr/>
          <p:nvPr/>
        </p:nvSpPr>
        <p:spPr>
          <a:xfrm>
            <a:off x="3447288" y="4078224"/>
            <a:ext cx="2468880" cy="310896"/>
          </a:xfrm>
          <a:prstGeom prst="rect">
            <a:avLst/>
          </a:prstGeom>
          <a:noFill/>
          <a:ln/>
        </p:spPr>
        <p:txBody>
          <a:bodyPr wrap="square" lIns="0" tIns="0" rIns="0" bIns="0" rtlCol="0" anchor="ctr"/>
          <a:lstStyle/>
          <a:p>
            <a:pPr marL="0" indent="0">
              <a:lnSpc>
                <a:spcPct val="110000"/>
              </a:lnSpc>
              <a:buNone/>
            </a:pPr>
            <a:r>
              <a:rPr lang="en-US" sz="900" b="1" dirty="0">
                <a:solidFill>
                  <a:srgbClr val="0D7B8A"/>
                </a:solidFill>
                <a:latin typeface="Calibri" pitchFamily="34" charset="0"/>
                <a:ea typeface="Calibri" pitchFamily="34" charset="-122"/>
                <a:cs typeface="Calibri" pitchFamily="34" charset="-120"/>
              </a:rPr>
              <a:t>✓  </a:t>
            </a:r>
            <a:r>
              <a:rPr lang="en-US" sz="900" dirty="0">
                <a:solidFill>
                  <a:srgbClr val="4A5568"/>
                </a:solidFill>
                <a:latin typeface="Calibri" pitchFamily="34" charset="0"/>
                <a:ea typeface="Calibri" pitchFamily="34" charset="-122"/>
                <a:cs typeface="Calibri" pitchFamily="34" charset="-120"/>
              </a:rPr>
              <a:t>0 compliance findings in annual review</a:t>
            </a:r>
            <a:endParaRPr lang="en-US" sz="900" dirty="0"/>
          </a:p>
        </p:txBody>
      </p:sp>
      <p:sp>
        <p:nvSpPr>
          <p:cNvPr id="23" name="Text 21"/>
          <p:cNvSpPr/>
          <p:nvPr/>
        </p:nvSpPr>
        <p:spPr>
          <a:xfrm>
            <a:off x="3447288" y="4425696"/>
            <a:ext cx="2468880" cy="310896"/>
          </a:xfrm>
          <a:prstGeom prst="rect">
            <a:avLst/>
          </a:prstGeom>
          <a:noFill/>
          <a:ln/>
        </p:spPr>
        <p:txBody>
          <a:bodyPr wrap="square" lIns="0" tIns="0" rIns="0" bIns="0" rtlCol="0" anchor="ctr"/>
          <a:lstStyle/>
          <a:p>
            <a:pPr marL="0" indent="0">
              <a:lnSpc>
                <a:spcPct val="110000"/>
              </a:lnSpc>
              <a:buNone/>
            </a:pPr>
            <a:r>
              <a:rPr lang="en-US" sz="900" b="1" dirty="0">
                <a:solidFill>
                  <a:srgbClr val="0D7B8A"/>
                </a:solidFill>
                <a:latin typeface="Calibri" pitchFamily="34" charset="0"/>
                <a:ea typeface="Calibri" pitchFamily="34" charset="-122"/>
                <a:cs typeface="Calibri" pitchFamily="34" charset="-120"/>
              </a:rPr>
              <a:t>✓  </a:t>
            </a:r>
            <a:r>
              <a:rPr lang="en-US" sz="900" dirty="0">
                <a:solidFill>
                  <a:srgbClr val="4A5568"/>
                </a:solidFill>
                <a:latin typeface="Calibri" pitchFamily="34" charset="0"/>
                <a:ea typeface="Calibri" pitchFamily="34" charset="-122"/>
                <a:cs typeface="Calibri" pitchFamily="34" charset="-120"/>
              </a:rPr>
              <a:t>35% reduction in compliance team AI oversight hours</a:t>
            </a:r>
            <a:endParaRPr lang="en-US" sz="900" dirty="0"/>
          </a:p>
        </p:txBody>
      </p:sp>
      <p:sp>
        <p:nvSpPr>
          <p:cNvPr id="24" name="Shape 22"/>
          <p:cNvSpPr/>
          <p:nvPr/>
        </p:nvSpPr>
        <p:spPr>
          <a:xfrm>
            <a:off x="6163056" y="1234440"/>
            <a:ext cx="2715768" cy="3703320"/>
          </a:xfrm>
          <a:prstGeom prst="roundRect">
            <a:avLst>
              <a:gd name="adj" fmla="val 3367"/>
            </a:avLst>
          </a:prstGeom>
          <a:solidFill>
            <a:srgbClr val="FFFFFF"/>
          </a:solidFill>
          <a:ln w="12700">
            <a:solidFill>
              <a:srgbClr val="C9DDE8"/>
            </a:solidFill>
            <a:prstDash val="solid"/>
          </a:ln>
          <a:effectLst>
            <a:outerShdw blurRad="101600" dist="38100" dir="2700000" algn="bl" rotWithShape="0">
              <a:srgbClr val="000000">
                <a:alpha val="10000"/>
              </a:srgbClr>
            </a:outerShdw>
          </a:effectLst>
        </p:spPr>
        <p:txBody>
          <a:bodyPr/>
          <a:lstStyle/>
          <a:p>
            <a:endParaRPr lang="en-US"/>
          </a:p>
        </p:txBody>
      </p:sp>
      <p:sp>
        <p:nvSpPr>
          <p:cNvPr id="25" name="Shape 23"/>
          <p:cNvSpPr/>
          <p:nvPr/>
        </p:nvSpPr>
        <p:spPr>
          <a:xfrm>
            <a:off x="6300216" y="1371600"/>
            <a:ext cx="914400" cy="237744"/>
          </a:xfrm>
          <a:prstGeom prst="roundRect">
            <a:avLst>
              <a:gd name="adj" fmla="val 19231"/>
            </a:avLst>
          </a:prstGeom>
          <a:solidFill>
            <a:srgbClr val="E8F4F6"/>
          </a:solidFill>
          <a:ln w="12700">
            <a:solidFill>
              <a:srgbClr val="E8F4F6"/>
            </a:solidFill>
            <a:prstDash val="solid"/>
          </a:ln>
        </p:spPr>
        <p:txBody>
          <a:bodyPr/>
          <a:lstStyle/>
          <a:p>
            <a:endParaRPr lang="en-US"/>
          </a:p>
        </p:txBody>
      </p:sp>
      <p:sp>
        <p:nvSpPr>
          <p:cNvPr id="26" name="Text 24"/>
          <p:cNvSpPr/>
          <p:nvPr/>
        </p:nvSpPr>
        <p:spPr>
          <a:xfrm>
            <a:off x="6300216" y="1371600"/>
            <a:ext cx="914400" cy="237744"/>
          </a:xfrm>
          <a:prstGeom prst="rect">
            <a:avLst/>
          </a:prstGeom>
          <a:noFill/>
          <a:ln/>
        </p:spPr>
        <p:txBody>
          <a:bodyPr wrap="square" lIns="0" tIns="0" rIns="0" bIns="0" rtlCol="0" anchor="ctr"/>
          <a:lstStyle/>
          <a:p>
            <a:pPr marL="0" indent="0" algn="ctr">
              <a:buNone/>
            </a:pPr>
            <a:r>
              <a:rPr lang="en-US" sz="850" b="1" dirty="0">
                <a:solidFill>
                  <a:srgbClr val="0D7B8A"/>
                </a:solidFill>
                <a:latin typeface="Calibri" pitchFamily="34" charset="0"/>
                <a:ea typeface="Calibri" pitchFamily="34" charset="-122"/>
                <a:cs typeface="Calibri" pitchFamily="34" charset="-120"/>
              </a:rPr>
              <a:t>Wealth Management</a:t>
            </a:r>
            <a:endParaRPr lang="en-US" sz="850" dirty="0"/>
          </a:p>
        </p:txBody>
      </p:sp>
      <p:sp>
        <p:nvSpPr>
          <p:cNvPr id="27" name="Text 25"/>
          <p:cNvSpPr/>
          <p:nvPr/>
        </p:nvSpPr>
        <p:spPr>
          <a:xfrm>
            <a:off x="6300216" y="1673352"/>
            <a:ext cx="2468880" cy="320040"/>
          </a:xfrm>
          <a:prstGeom prst="rect">
            <a:avLst/>
          </a:prstGeom>
          <a:noFill/>
          <a:ln/>
        </p:spPr>
        <p:txBody>
          <a:bodyPr wrap="square" lIns="0" tIns="0" rIns="0" bIns="0" rtlCol="0" anchor="ctr"/>
          <a:lstStyle/>
          <a:p>
            <a:pPr marL="0" indent="0">
              <a:lnSpc>
                <a:spcPct val="110000"/>
              </a:lnSpc>
              <a:buNone/>
            </a:pPr>
            <a:r>
              <a:rPr lang="en-US" sz="1150" b="1" dirty="0">
                <a:solidFill>
                  <a:srgbClr val="1B2A4A"/>
                </a:solidFill>
                <a:latin typeface="Calibri" pitchFamily="34" charset="0"/>
                <a:ea typeface="Calibri" pitchFamily="34" charset="-122"/>
                <a:cs typeface="Calibri" pitchFamily="34" charset="-120"/>
              </a:rPr>
              <a:t>Wealth Management Platform (Series C)</a:t>
            </a:r>
            <a:endParaRPr lang="en-US" sz="1150" dirty="0"/>
          </a:p>
        </p:txBody>
      </p:sp>
      <p:sp>
        <p:nvSpPr>
          <p:cNvPr id="28" name="Text 26"/>
          <p:cNvSpPr/>
          <p:nvPr/>
        </p:nvSpPr>
        <p:spPr>
          <a:xfrm>
            <a:off x="6300216" y="2039112"/>
            <a:ext cx="2468880" cy="1325880"/>
          </a:xfrm>
          <a:prstGeom prst="rect">
            <a:avLst/>
          </a:prstGeom>
          <a:noFill/>
          <a:ln/>
        </p:spPr>
        <p:txBody>
          <a:bodyPr wrap="square" lIns="0" tIns="0" rIns="0" bIns="0" rtlCol="0" anchor="ctr"/>
          <a:lstStyle/>
          <a:p>
            <a:pPr marL="0" indent="0">
              <a:lnSpc>
                <a:spcPct val="130000"/>
              </a:lnSpc>
              <a:buNone/>
            </a:pPr>
            <a:r>
              <a:rPr lang="en-US" sz="950" i="1" dirty="0">
                <a:solidFill>
                  <a:srgbClr val="4A5568"/>
                </a:solidFill>
                <a:latin typeface="Calibri" pitchFamily="34" charset="0"/>
                <a:ea typeface="Calibri" pitchFamily="34" charset="-122"/>
                <a:cs typeface="Calibri" pitchFamily="34" charset="-120"/>
              </a:rPr>
              <a:t>"We needed to prove AI ROI to our board. AgentOps was the only tool that connected our agent activity to AUM growth and client retention metrics."</a:t>
            </a:r>
            <a:endParaRPr lang="en-US" sz="950" dirty="0"/>
          </a:p>
        </p:txBody>
      </p:sp>
      <p:sp>
        <p:nvSpPr>
          <p:cNvPr id="29" name="Text 27"/>
          <p:cNvSpPr/>
          <p:nvPr/>
        </p:nvSpPr>
        <p:spPr>
          <a:xfrm>
            <a:off x="6300216" y="3401568"/>
            <a:ext cx="2468880" cy="201168"/>
          </a:xfrm>
          <a:prstGeom prst="rect">
            <a:avLst/>
          </a:prstGeom>
          <a:noFill/>
          <a:ln/>
        </p:spPr>
        <p:txBody>
          <a:bodyPr wrap="square" lIns="0" tIns="0" rIns="0" bIns="0" rtlCol="0" anchor="ctr"/>
          <a:lstStyle/>
          <a:p>
            <a:pPr marL="0" indent="0">
              <a:buNone/>
            </a:pPr>
            <a:r>
              <a:rPr lang="en-US" sz="900" dirty="0">
                <a:solidFill>
                  <a:srgbClr val="6B7A8D"/>
                </a:solidFill>
                <a:latin typeface="Calibri" pitchFamily="34" charset="0"/>
                <a:ea typeface="Calibri" pitchFamily="34" charset="-122"/>
                <a:cs typeface="Calibri" pitchFamily="34" charset="-120"/>
              </a:rPr>
              <a:t>— CTO</a:t>
            </a:r>
            <a:endParaRPr lang="en-US" sz="900" dirty="0"/>
          </a:p>
        </p:txBody>
      </p:sp>
      <p:sp>
        <p:nvSpPr>
          <p:cNvPr id="30" name="Shape 28"/>
          <p:cNvSpPr/>
          <p:nvPr/>
        </p:nvSpPr>
        <p:spPr>
          <a:xfrm>
            <a:off x="6300216" y="3657600"/>
            <a:ext cx="2441448" cy="18288"/>
          </a:xfrm>
          <a:prstGeom prst="rect">
            <a:avLst/>
          </a:prstGeom>
          <a:solidFill>
            <a:srgbClr val="C9DDE8"/>
          </a:solidFill>
          <a:ln w="12700">
            <a:solidFill>
              <a:srgbClr val="C9DDE8"/>
            </a:solidFill>
            <a:prstDash val="solid"/>
          </a:ln>
        </p:spPr>
        <p:txBody>
          <a:bodyPr/>
          <a:lstStyle/>
          <a:p>
            <a:endParaRPr lang="en-US"/>
          </a:p>
        </p:txBody>
      </p:sp>
      <p:sp>
        <p:nvSpPr>
          <p:cNvPr id="31" name="Text 29"/>
          <p:cNvSpPr/>
          <p:nvPr/>
        </p:nvSpPr>
        <p:spPr>
          <a:xfrm>
            <a:off x="6300216" y="3730752"/>
            <a:ext cx="2468880" cy="310896"/>
          </a:xfrm>
          <a:prstGeom prst="rect">
            <a:avLst/>
          </a:prstGeom>
          <a:noFill/>
          <a:ln/>
        </p:spPr>
        <p:txBody>
          <a:bodyPr wrap="square" lIns="0" tIns="0" rIns="0" bIns="0" rtlCol="0" anchor="ctr"/>
          <a:lstStyle/>
          <a:p>
            <a:pPr marL="0" indent="0">
              <a:lnSpc>
                <a:spcPct val="110000"/>
              </a:lnSpc>
              <a:buNone/>
            </a:pPr>
            <a:r>
              <a:rPr lang="en-US" sz="900" b="1" dirty="0">
                <a:solidFill>
                  <a:srgbClr val="0D7B8A"/>
                </a:solidFill>
                <a:latin typeface="Calibri" pitchFamily="34" charset="0"/>
                <a:ea typeface="Calibri" pitchFamily="34" charset="-122"/>
                <a:cs typeface="Calibri" pitchFamily="34" charset="-120"/>
              </a:rPr>
              <a:t>✓  </a:t>
            </a:r>
            <a:r>
              <a:rPr lang="en-US" sz="900" dirty="0">
                <a:solidFill>
                  <a:srgbClr val="4A5568"/>
                </a:solidFill>
                <a:latin typeface="Calibri" pitchFamily="34" charset="0"/>
                <a:ea typeface="Calibri" pitchFamily="34" charset="-122"/>
                <a:cs typeface="Calibri" pitchFamily="34" charset="-120"/>
              </a:rPr>
              <a:t>340% measured ROI on AI agent program</a:t>
            </a:r>
            <a:endParaRPr lang="en-US" sz="900" dirty="0"/>
          </a:p>
        </p:txBody>
      </p:sp>
      <p:sp>
        <p:nvSpPr>
          <p:cNvPr id="32" name="Text 30"/>
          <p:cNvSpPr/>
          <p:nvPr/>
        </p:nvSpPr>
        <p:spPr>
          <a:xfrm>
            <a:off x="6300216" y="4078224"/>
            <a:ext cx="2468880" cy="310896"/>
          </a:xfrm>
          <a:prstGeom prst="rect">
            <a:avLst/>
          </a:prstGeom>
          <a:noFill/>
          <a:ln/>
        </p:spPr>
        <p:txBody>
          <a:bodyPr wrap="square" lIns="0" tIns="0" rIns="0" bIns="0" rtlCol="0" anchor="ctr"/>
          <a:lstStyle/>
          <a:p>
            <a:pPr marL="0" indent="0">
              <a:lnSpc>
                <a:spcPct val="110000"/>
              </a:lnSpc>
              <a:buNone/>
            </a:pPr>
            <a:r>
              <a:rPr lang="en-US" sz="900" b="1" dirty="0">
                <a:solidFill>
                  <a:srgbClr val="0D7B8A"/>
                </a:solidFill>
                <a:latin typeface="Calibri" pitchFamily="34" charset="0"/>
                <a:ea typeface="Calibri" pitchFamily="34" charset="-122"/>
                <a:cs typeface="Calibri" pitchFamily="34" charset="-120"/>
              </a:rPr>
              <a:t>✓  </a:t>
            </a:r>
            <a:r>
              <a:rPr lang="en-US" sz="900" dirty="0">
                <a:solidFill>
                  <a:srgbClr val="4A5568"/>
                </a:solidFill>
                <a:latin typeface="Calibri" pitchFamily="34" charset="0"/>
                <a:ea typeface="Calibri" pitchFamily="34" charset="-122"/>
                <a:cs typeface="Calibri" pitchFamily="34" charset="-120"/>
              </a:rPr>
              <a:t>Board approval for 3x AI budget expansion</a:t>
            </a:r>
            <a:endParaRPr lang="en-US" sz="900" dirty="0"/>
          </a:p>
        </p:txBody>
      </p:sp>
      <p:sp>
        <p:nvSpPr>
          <p:cNvPr id="33" name="Text 31"/>
          <p:cNvSpPr/>
          <p:nvPr/>
        </p:nvSpPr>
        <p:spPr>
          <a:xfrm>
            <a:off x="6300216" y="4425696"/>
            <a:ext cx="2468880" cy="310896"/>
          </a:xfrm>
          <a:prstGeom prst="rect">
            <a:avLst/>
          </a:prstGeom>
          <a:noFill/>
          <a:ln/>
        </p:spPr>
        <p:txBody>
          <a:bodyPr wrap="square" lIns="0" tIns="0" rIns="0" bIns="0" rtlCol="0" anchor="ctr"/>
          <a:lstStyle/>
          <a:p>
            <a:pPr marL="0" indent="0">
              <a:lnSpc>
                <a:spcPct val="110000"/>
              </a:lnSpc>
              <a:buNone/>
            </a:pPr>
            <a:r>
              <a:rPr lang="en-US" sz="900" b="1" dirty="0">
                <a:solidFill>
                  <a:srgbClr val="0D7B8A"/>
                </a:solidFill>
                <a:latin typeface="Calibri" pitchFamily="34" charset="0"/>
                <a:ea typeface="Calibri" pitchFamily="34" charset="-122"/>
                <a:cs typeface="Calibri" pitchFamily="34" charset="-120"/>
              </a:rPr>
              <a:t>✓  </a:t>
            </a:r>
            <a:r>
              <a:rPr lang="en-US" sz="900" dirty="0">
                <a:solidFill>
                  <a:srgbClr val="4A5568"/>
                </a:solidFill>
                <a:latin typeface="Calibri" pitchFamily="34" charset="0"/>
                <a:ea typeface="Calibri" pitchFamily="34" charset="-122"/>
                <a:cs typeface="Calibri" pitchFamily="34" charset="-120"/>
              </a:rPr>
              <a:t>NPS impact attributed to agent improvements: +18pts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749808"/>
          </a:xfrm>
          <a:prstGeom prst="rect">
            <a:avLst/>
          </a:prstGeom>
          <a:noFill/>
          <a:ln/>
        </p:spPr>
        <p:txBody>
          <a:bodyPr wrap="square" lIns="0" tIns="0" rIns="0" bIns="0" rtlCol="0" anchor="ctr"/>
          <a:lstStyle/>
          <a:p>
            <a:pPr marL="0" indent="0">
              <a:lnSpc>
                <a:spcPct val="115000"/>
              </a:lnSpc>
              <a:buNone/>
            </a:pPr>
            <a:r>
              <a:rPr lang="en-US" sz="2600" b="1" dirty="0">
                <a:solidFill>
                  <a:srgbClr val="1B2A4A"/>
                </a:solidFill>
                <a:latin typeface="Cambria" pitchFamily="34" charset="0"/>
                <a:ea typeface="Cambria" pitchFamily="34" charset="-122"/>
                <a:cs typeface="Cambria" pitchFamily="34" charset="-120"/>
              </a:rPr>
              <a:t>The Market Has Point Solutions.</a:t>
            </a:r>
            <a:endParaRPr lang="en-US" sz="2600" dirty="0"/>
          </a:p>
          <a:p>
            <a:pPr marL="0" indent="0">
              <a:lnSpc>
                <a:spcPct val="115000"/>
              </a:lnSpc>
              <a:buNone/>
            </a:pPr>
            <a:r>
              <a:rPr lang="en-US" sz="2600" b="1" dirty="0">
                <a:solidFill>
                  <a:srgbClr val="1B2A4A"/>
                </a:solidFill>
                <a:latin typeface="Cambria" pitchFamily="34" charset="0"/>
                <a:ea typeface="Cambria" pitchFamily="34" charset="-122"/>
                <a:cs typeface="Cambria" pitchFamily="34" charset="-120"/>
              </a:rPr>
              <a:t>We Built the Platform.</a:t>
            </a:r>
            <a:endParaRPr lang="en-US" sz="2600" dirty="0"/>
          </a:p>
        </p:txBody>
      </p:sp>
      <p:sp>
        <p:nvSpPr>
          <p:cNvPr id="3" name="Text 1"/>
          <p:cNvSpPr/>
          <p:nvPr/>
        </p:nvSpPr>
        <p:spPr>
          <a:xfrm>
            <a:off x="457200" y="1005840"/>
            <a:ext cx="8229600" cy="256032"/>
          </a:xfrm>
          <a:prstGeom prst="rect">
            <a:avLst/>
          </a:prstGeom>
          <a:noFill/>
          <a:ln/>
        </p:spPr>
        <p:txBody>
          <a:bodyPr wrap="square" lIns="0" tIns="0" rIns="0" bIns="0" rtlCol="0" anchor="ctr"/>
          <a:lstStyle/>
          <a:p>
            <a:pPr marL="0" indent="0">
              <a:buNone/>
            </a:pPr>
            <a:r>
              <a:rPr lang="en-US" sz="1300" i="1" dirty="0">
                <a:solidFill>
                  <a:srgbClr val="6B7A8D"/>
                </a:solidFill>
                <a:latin typeface="Calibri" pitchFamily="34" charset="0"/>
                <a:ea typeface="Calibri" pitchFamily="34" charset="-122"/>
                <a:cs typeface="Calibri" pitchFamily="34" charset="-120"/>
              </a:rPr>
              <a:t>Most enterprises are running 3-5 tools to approximate what AgentOps delivers natively.</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412480" cy="3409404"/>
        </p:xfrm>
        <a:graphic>
          <a:graphicData uri="http://schemas.openxmlformats.org/drawingml/2006/table">
            <a:tbl>
              <a:tblPr/>
              <a:tblGrid>
                <a:gridCol w="274320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tblGrid>
              <a:tr h="476794">
                <a:tc>
                  <a:txBody>
                    <a:bodyPr/>
                    <a:lstStyle/>
                    <a:p>
                      <a:pPr marL="0" indent="0">
                        <a:buNone/>
                      </a:pPr>
                      <a:r>
                        <a:rPr lang="en-US" sz="1000" b="1" dirty="0">
                          <a:solidFill>
                            <a:srgbClr val="FFFFFF"/>
                          </a:solidFill>
                        </a:rPr>
                        <a:t>Capability</a:t>
                      </a:r>
                      <a:endParaRPr lang="en-US" sz="10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rPr>
                        <a:t>MLOps Tools</a:t>
                      </a:r>
                      <a:endParaRPr lang="en-US" sz="1000" dirty="0"/>
                    </a:p>
                    <a:p>
                      <a:pPr marL="0" indent="0" algn="ctr">
                        <a:buNone/>
                      </a:pPr>
                      <a:r>
                        <a:rPr lang="en-US" sz="1000" b="1" dirty="0">
                          <a:solidFill>
                            <a:srgbClr val="FFFFFF"/>
                          </a:solidFill>
                        </a:rPr>
                        <a:t>(e.g. Weights &amp; Biases,</a:t>
                      </a:r>
                      <a:endParaRPr lang="en-US" sz="1000" dirty="0"/>
                    </a:p>
                    <a:p>
                      <a:pPr marL="0" indent="0" algn="ctr">
                        <a:buNone/>
                      </a:pPr>
                      <a:r>
                        <a:rPr lang="en-US" sz="1000" b="1" dirty="0">
                          <a:solidFill>
                            <a:srgbClr val="FFFFFF"/>
                          </a:solidFill>
                        </a:rPr>
                        <a:t>Arize AI)</a:t>
                      </a:r>
                      <a:endParaRPr lang="en-US" sz="10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rPr>
                        <a:t>Observability</a:t>
                      </a:r>
                      <a:endParaRPr lang="en-US" sz="1000" dirty="0"/>
                    </a:p>
                    <a:p>
                      <a:pPr marL="0" indent="0" algn="ctr">
                        <a:buNone/>
                      </a:pPr>
                      <a:r>
                        <a:rPr lang="en-US" sz="1000" b="1" dirty="0">
                          <a:solidFill>
                            <a:srgbClr val="FFFFFF"/>
                          </a:solidFill>
                        </a:rPr>
                        <a:t>Vendors</a:t>
                      </a:r>
                      <a:endParaRPr lang="en-US" sz="1000" dirty="0"/>
                    </a:p>
                    <a:p>
                      <a:pPr marL="0" indent="0" algn="ctr">
                        <a:buNone/>
                      </a:pPr>
                      <a:r>
                        <a:rPr lang="en-US" sz="1000" b="1" dirty="0">
                          <a:solidFill>
                            <a:srgbClr val="FFFFFF"/>
                          </a:solidFill>
                        </a:rPr>
                        <a:t>(e.g. Fiddler, Arthur)</a:t>
                      </a:r>
                      <a:endParaRPr lang="en-US" sz="10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rPr>
                        <a:t>Compliance</a:t>
                      </a:r>
                      <a:endParaRPr lang="en-US" sz="1000" dirty="0"/>
                    </a:p>
                    <a:p>
                      <a:pPr marL="0" indent="0" algn="ctr">
                        <a:buNone/>
                      </a:pPr>
                      <a:r>
                        <a:rPr lang="en-US" sz="1000" b="1" dirty="0">
                          <a:solidFill>
                            <a:srgbClr val="FFFFFF"/>
                          </a:solidFill>
                        </a:rPr>
                        <a:t>Point Solutions</a:t>
                      </a:r>
                      <a:endParaRPr lang="en-US" sz="1000" dirty="0"/>
                    </a:p>
                    <a:p>
                      <a:pPr marL="0" indent="0" algn="ctr">
                        <a:buNone/>
                      </a:pPr>
                      <a:r>
                        <a:rPr lang="en-US" sz="1000" b="1" dirty="0">
                          <a:solidFill>
                            <a:srgbClr val="FFFFFF"/>
                          </a:solidFill>
                        </a:rPr>
                        <a:t>(e.g. Aporia)</a:t>
                      </a:r>
                      <a:endParaRPr lang="en-US" sz="10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rPr>
                        <a:t>Northstar</a:t>
                      </a:r>
                      <a:endParaRPr lang="en-US" sz="1000" dirty="0"/>
                    </a:p>
                    <a:p>
                      <a:pPr marL="0" indent="0" algn="ctr">
                        <a:buNone/>
                      </a:pPr>
                      <a:r>
                        <a:rPr lang="en-US" sz="1000" b="1" dirty="0">
                          <a:solidFill>
                            <a:srgbClr val="FFFFFF"/>
                          </a:solidFill>
                        </a:rPr>
                        <a:t>AgentOps</a:t>
                      </a:r>
                      <a:endParaRPr lang="en-US" sz="10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solidFill>
                      <a:srgbClr val="0D7B8A"/>
                    </a:solidFill>
                  </a:tcPr>
                </a:tc>
                <a:extLst>
                  <a:ext uri="{0D108BD9-81ED-4DB2-BD59-A6C34878D82A}">
                    <a16:rowId xmlns:a16="http://schemas.microsoft.com/office/drawing/2014/main" val="10000"/>
                  </a:ext>
                </a:extLst>
              </a:tr>
              <a:tr h="476794">
                <a:tc>
                  <a:txBody>
                    <a:bodyPr/>
                    <a:lstStyle/>
                    <a:p>
                      <a:pPr marL="0" indent="0">
                        <a:buNone/>
                      </a:pPr>
                      <a:r>
                        <a:rPr lang="en-US" sz="1000" dirty="0">
                          <a:solidFill>
                            <a:srgbClr val="4A5568"/>
                          </a:solidFill>
                        </a:rPr>
                        <a:t>Agent Inventory &amp; Discovery</a:t>
                      </a:r>
                      <a:endParaRPr lang="en-US" sz="10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marL="0" indent="0" algn="ctr">
                        <a:buNone/>
                      </a:pPr>
                      <a:r>
                        <a:rPr lang="en-US" sz="1300" dirty="0">
                          <a:solidFill>
                            <a:srgbClr val="C0392B"/>
                          </a:solidFill>
                        </a:rPr>
                        <a:t>✕</a:t>
                      </a:r>
                      <a:endParaRPr lang="en-US" sz="13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marL="0" indent="0" algn="ctr">
                        <a:buNone/>
                      </a:pPr>
                      <a:r>
                        <a:rPr lang="en-US" sz="1000" dirty="0">
                          <a:solidFill>
                            <a:srgbClr val="D97706"/>
                          </a:solidFill>
                        </a:rPr>
                        <a:t>Partial</a:t>
                      </a:r>
                      <a:endParaRPr lang="en-US" sz="10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marL="0" indent="0" algn="ctr">
                        <a:buNone/>
                      </a:pPr>
                      <a:r>
                        <a:rPr lang="en-US" sz="1300" dirty="0">
                          <a:solidFill>
                            <a:srgbClr val="C0392B"/>
                          </a:solidFill>
                        </a:rPr>
                        <a:t>✕</a:t>
                      </a:r>
                      <a:endParaRPr lang="en-US" sz="13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marL="0" indent="0" algn="ctr">
                        <a:buNone/>
                      </a:pPr>
                      <a:r>
                        <a:rPr lang="en-US" sz="1300" b="1" dirty="0">
                          <a:solidFill>
                            <a:srgbClr val="166534"/>
                          </a:solidFill>
                        </a:rPr>
                        <a:t>✓</a:t>
                      </a:r>
                      <a:endParaRPr lang="en-US" sz="13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extLst>
                  <a:ext uri="{0D108BD9-81ED-4DB2-BD59-A6C34878D82A}">
                    <a16:rowId xmlns:a16="http://schemas.microsoft.com/office/drawing/2014/main" val="10001"/>
                  </a:ext>
                </a:extLst>
              </a:tr>
              <a:tr h="476794">
                <a:tc>
                  <a:txBody>
                    <a:bodyPr/>
                    <a:lstStyle/>
                    <a:p>
                      <a:pPr marL="0" indent="0">
                        <a:buNone/>
                      </a:pPr>
                      <a:r>
                        <a:rPr lang="en-US" sz="1000" dirty="0">
                          <a:solidFill>
                            <a:srgbClr val="4A5568"/>
                          </a:solidFill>
                        </a:rPr>
                        <a:t>Real-Time Monitoring</a:t>
                      </a:r>
                      <a:endParaRPr lang="en-US" sz="10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marL="0" indent="0" algn="ctr">
                        <a:buNone/>
                      </a:pPr>
                      <a:r>
                        <a:rPr lang="en-US" sz="1300" dirty="0">
                          <a:solidFill>
                            <a:srgbClr val="166534"/>
                          </a:solidFill>
                        </a:rPr>
                        <a:t>✓</a:t>
                      </a:r>
                      <a:endParaRPr lang="en-US" sz="13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marL="0" indent="0" algn="ctr">
                        <a:buNone/>
                      </a:pPr>
                      <a:r>
                        <a:rPr lang="en-US" sz="1300" dirty="0">
                          <a:solidFill>
                            <a:srgbClr val="166534"/>
                          </a:solidFill>
                        </a:rPr>
                        <a:t>✓</a:t>
                      </a:r>
                      <a:endParaRPr lang="en-US" sz="13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marL="0" indent="0" algn="ctr">
                        <a:buNone/>
                      </a:pPr>
                      <a:r>
                        <a:rPr lang="en-US" sz="1300" dirty="0">
                          <a:solidFill>
                            <a:srgbClr val="C0392B"/>
                          </a:solidFill>
                        </a:rPr>
                        <a:t>✕</a:t>
                      </a:r>
                      <a:endParaRPr lang="en-US" sz="13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marL="0" indent="0" algn="ctr">
                        <a:buNone/>
                      </a:pPr>
                      <a:r>
                        <a:rPr lang="en-US" sz="1300" b="1" dirty="0">
                          <a:solidFill>
                            <a:srgbClr val="166534"/>
                          </a:solidFill>
                        </a:rPr>
                        <a:t>✓</a:t>
                      </a:r>
                      <a:endParaRPr lang="en-US" sz="13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extLst>
                  <a:ext uri="{0D108BD9-81ED-4DB2-BD59-A6C34878D82A}">
                    <a16:rowId xmlns:a16="http://schemas.microsoft.com/office/drawing/2014/main" val="10002"/>
                  </a:ext>
                </a:extLst>
              </a:tr>
              <a:tr h="476794">
                <a:tc>
                  <a:txBody>
                    <a:bodyPr/>
                    <a:lstStyle/>
                    <a:p>
                      <a:pPr marL="0" indent="0">
                        <a:buNone/>
                      </a:pPr>
                      <a:r>
                        <a:rPr lang="en-US" sz="1000" dirty="0">
                          <a:solidFill>
                            <a:srgbClr val="4A5568"/>
                          </a:solidFill>
                        </a:rPr>
                        <a:t>Compliance Audit Trails</a:t>
                      </a:r>
                      <a:endParaRPr lang="en-US" sz="10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marL="0" indent="0" algn="ctr">
                        <a:buNone/>
                      </a:pPr>
                      <a:r>
                        <a:rPr lang="en-US" sz="1300" dirty="0">
                          <a:solidFill>
                            <a:srgbClr val="C0392B"/>
                          </a:solidFill>
                        </a:rPr>
                        <a:t>✕</a:t>
                      </a:r>
                      <a:endParaRPr lang="en-US" sz="13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marL="0" indent="0" algn="ctr">
                        <a:buNone/>
                      </a:pPr>
                      <a:r>
                        <a:rPr lang="en-US" sz="1300" dirty="0">
                          <a:solidFill>
                            <a:srgbClr val="C0392B"/>
                          </a:solidFill>
                        </a:rPr>
                        <a:t>✕</a:t>
                      </a:r>
                      <a:endParaRPr lang="en-US" sz="13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marL="0" indent="0" algn="ctr">
                        <a:buNone/>
                      </a:pPr>
                      <a:r>
                        <a:rPr lang="en-US" sz="1300" dirty="0">
                          <a:solidFill>
                            <a:srgbClr val="166534"/>
                          </a:solidFill>
                        </a:rPr>
                        <a:t>✓</a:t>
                      </a:r>
                      <a:endParaRPr lang="en-US" sz="13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marL="0" indent="0" algn="ctr">
                        <a:buNone/>
                      </a:pPr>
                      <a:r>
                        <a:rPr lang="en-US" sz="1300" b="1" dirty="0">
                          <a:solidFill>
                            <a:srgbClr val="166534"/>
                          </a:solidFill>
                        </a:rPr>
                        <a:t>✓</a:t>
                      </a:r>
                      <a:endParaRPr lang="en-US" sz="13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extLst>
                  <a:ext uri="{0D108BD9-81ED-4DB2-BD59-A6C34878D82A}">
                    <a16:rowId xmlns:a16="http://schemas.microsoft.com/office/drawing/2014/main" val="10003"/>
                  </a:ext>
                </a:extLst>
              </a:tr>
              <a:tr h="476794">
                <a:tc>
                  <a:txBody>
                    <a:bodyPr/>
                    <a:lstStyle/>
                    <a:p>
                      <a:pPr marL="0" indent="0">
                        <a:buNone/>
                      </a:pPr>
                      <a:r>
                        <a:rPr lang="en-US" sz="1000" dirty="0">
                          <a:solidFill>
                            <a:srgbClr val="4A5568"/>
                          </a:solidFill>
                        </a:rPr>
                        <a:t>Regulatory Report Generation</a:t>
                      </a:r>
                      <a:endParaRPr lang="en-US" sz="10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marL="0" indent="0" algn="ctr">
                        <a:buNone/>
                      </a:pPr>
                      <a:r>
                        <a:rPr lang="en-US" sz="1300" dirty="0">
                          <a:solidFill>
                            <a:srgbClr val="C0392B"/>
                          </a:solidFill>
                        </a:rPr>
                        <a:t>✕</a:t>
                      </a:r>
                      <a:endParaRPr lang="en-US" sz="13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marL="0" indent="0" algn="ctr">
                        <a:buNone/>
                      </a:pPr>
                      <a:r>
                        <a:rPr lang="en-US" sz="1300" dirty="0">
                          <a:solidFill>
                            <a:srgbClr val="C0392B"/>
                          </a:solidFill>
                        </a:rPr>
                        <a:t>✕</a:t>
                      </a:r>
                      <a:endParaRPr lang="en-US" sz="13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marL="0" indent="0" algn="ctr">
                        <a:buNone/>
                      </a:pPr>
                      <a:r>
                        <a:rPr lang="en-US" sz="1000" dirty="0">
                          <a:solidFill>
                            <a:srgbClr val="D97706"/>
                          </a:solidFill>
                        </a:rPr>
                        <a:t>Partial</a:t>
                      </a:r>
                      <a:endParaRPr lang="en-US" sz="10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marL="0" indent="0" algn="ctr">
                        <a:buNone/>
                      </a:pPr>
                      <a:r>
                        <a:rPr lang="en-US" sz="1300" b="1" dirty="0">
                          <a:solidFill>
                            <a:srgbClr val="166534"/>
                          </a:solidFill>
                        </a:rPr>
                        <a:t>✓</a:t>
                      </a:r>
                      <a:endParaRPr lang="en-US" sz="13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extLst>
                  <a:ext uri="{0D108BD9-81ED-4DB2-BD59-A6C34878D82A}">
                    <a16:rowId xmlns:a16="http://schemas.microsoft.com/office/drawing/2014/main" val="10004"/>
                  </a:ext>
                </a:extLst>
              </a:tr>
              <a:tr h="476794">
                <a:tc>
                  <a:txBody>
                    <a:bodyPr/>
                    <a:lstStyle/>
                    <a:p>
                      <a:pPr marL="0" indent="0">
                        <a:buNone/>
                      </a:pPr>
                      <a:r>
                        <a:rPr lang="en-US" sz="1000" dirty="0">
                          <a:solidFill>
                            <a:srgbClr val="4A5568"/>
                          </a:solidFill>
                        </a:rPr>
                        <a:t>ROI &amp; Business Outcome Attribution</a:t>
                      </a:r>
                      <a:endParaRPr lang="en-US" sz="10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marL="0" indent="0" algn="ctr">
                        <a:buNone/>
                      </a:pPr>
                      <a:r>
                        <a:rPr lang="en-US" sz="1300" dirty="0">
                          <a:solidFill>
                            <a:srgbClr val="C0392B"/>
                          </a:solidFill>
                        </a:rPr>
                        <a:t>✕</a:t>
                      </a:r>
                      <a:endParaRPr lang="en-US" sz="13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marL="0" indent="0" algn="ctr">
                        <a:buNone/>
                      </a:pPr>
                      <a:r>
                        <a:rPr lang="en-US" sz="1300" dirty="0">
                          <a:solidFill>
                            <a:srgbClr val="C0392B"/>
                          </a:solidFill>
                        </a:rPr>
                        <a:t>✕</a:t>
                      </a:r>
                      <a:endParaRPr lang="en-US" sz="13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marL="0" indent="0" algn="ctr">
                        <a:buNone/>
                      </a:pPr>
                      <a:r>
                        <a:rPr lang="en-US" sz="1300" dirty="0">
                          <a:solidFill>
                            <a:srgbClr val="C0392B"/>
                          </a:solidFill>
                        </a:rPr>
                        <a:t>✕</a:t>
                      </a:r>
                      <a:endParaRPr lang="en-US" sz="13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marL="0" indent="0" algn="ctr">
                        <a:buNone/>
                      </a:pPr>
                      <a:r>
                        <a:rPr lang="en-US" sz="1300" b="1" dirty="0">
                          <a:solidFill>
                            <a:srgbClr val="166534"/>
                          </a:solidFill>
                        </a:rPr>
                        <a:t>✓</a:t>
                      </a:r>
                      <a:endParaRPr lang="en-US" sz="13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extLst>
                  <a:ext uri="{0D108BD9-81ED-4DB2-BD59-A6C34878D82A}">
                    <a16:rowId xmlns:a16="http://schemas.microsoft.com/office/drawing/2014/main" val="10005"/>
                  </a:ext>
                </a:extLst>
              </a:tr>
              <a:tr h="476794">
                <a:tc>
                  <a:txBody>
                    <a:bodyPr/>
                    <a:lstStyle/>
                    <a:p>
                      <a:pPr marL="0" indent="0">
                        <a:buNone/>
                      </a:pPr>
                      <a:r>
                        <a:rPr lang="en-US" sz="1000" dirty="0">
                          <a:solidFill>
                            <a:srgbClr val="4A5568"/>
                          </a:solidFill>
                        </a:rPr>
                        <a:t>Financial Services Compliance Templates</a:t>
                      </a:r>
                      <a:endParaRPr lang="en-US" sz="10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marL="0" indent="0" algn="ctr">
                        <a:buNone/>
                      </a:pPr>
                      <a:r>
                        <a:rPr lang="en-US" sz="1300" dirty="0">
                          <a:solidFill>
                            <a:srgbClr val="C0392B"/>
                          </a:solidFill>
                        </a:rPr>
                        <a:t>✕</a:t>
                      </a:r>
                      <a:endParaRPr lang="en-US" sz="13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marL="0" indent="0" algn="ctr">
                        <a:buNone/>
                      </a:pPr>
                      <a:r>
                        <a:rPr lang="en-US" sz="1300" dirty="0">
                          <a:solidFill>
                            <a:srgbClr val="C0392B"/>
                          </a:solidFill>
                        </a:rPr>
                        <a:t>✕</a:t>
                      </a:r>
                      <a:endParaRPr lang="en-US" sz="13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marL="0" indent="0" algn="ctr">
                        <a:buNone/>
                      </a:pPr>
                      <a:r>
                        <a:rPr lang="en-US" sz="1000" dirty="0">
                          <a:solidFill>
                            <a:srgbClr val="D97706"/>
                          </a:solidFill>
                        </a:rPr>
                        <a:t>Partial</a:t>
                      </a:r>
                      <a:endParaRPr lang="en-US" sz="10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tc>
                  <a:txBody>
                    <a:bodyPr/>
                    <a:lstStyle/>
                    <a:p>
                      <a:pPr marL="0" indent="0" algn="ctr">
                        <a:buNone/>
                      </a:pPr>
                      <a:r>
                        <a:rPr lang="en-US" sz="1300" b="1" dirty="0">
                          <a:solidFill>
                            <a:srgbClr val="166534"/>
                          </a:solidFill>
                        </a:rPr>
                        <a:t>✓</a:t>
                      </a:r>
                      <a:endParaRPr lang="en-US" sz="1300" dirty="0"/>
                    </a:p>
                  </a:txBody>
                  <a:tcPr>
                    <a:lnL w="9525" cap="flat" cmpd="sng" algn="ctr">
                      <a:solidFill>
                        <a:srgbClr val="C9DDE8"/>
                      </a:solidFill>
                      <a:prstDash val="solid"/>
                      <a:round/>
                      <a:headEnd type="none" w="med" len="med"/>
                      <a:tailEnd type="none" w="med" len="med"/>
                    </a:lnL>
                    <a:lnR w="9525" cap="flat" cmpd="sng" algn="ctr">
                      <a:solidFill>
                        <a:srgbClr val="C9DDE8"/>
                      </a:solidFill>
                      <a:prstDash val="solid"/>
                      <a:round/>
                      <a:headEnd type="none" w="med" len="med"/>
                      <a:tailEnd type="none" w="med" len="med"/>
                    </a:lnR>
                    <a:lnT w="9525" cap="flat" cmpd="sng" algn="ctr">
                      <a:solidFill>
                        <a:srgbClr val="C9DDE8"/>
                      </a:solidFill>
                      <a:prstDash val="solid"/>
                      <a:round/>
                      <a:headEnd type="none" w="med" len="med"/>
                      <a:tailEnd type="none" w="med" len="med"/>
                    </a:lnT>
                    <a:lnB w="9525" cap="flat" cmpd="sng" algn="ctr">
                      <a:solidFill>
                        <a:srgbClr val="C9DDE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457200" y="4818888"/>
            <a:ext cx="8412480" cy="228600"/>
          </a:xfrm>
          <a:prstGeom prst="rect">
            <a:avLst/>
          </a:prstGeom>
          <a:noFill/>
          <a:ln/>
        </p:spPr>
        <p:txBody>
          <a:bodyPr wrap="square" lIns="0" tIns="0" rIns="0" bIns="0" rtlCol="0" anchor="ctr"/>
          <a:lstStyle/>
          <a:p>
            <a:pPr marL="0" indent="0" algn="ctr">
              <a:buNone/>
            </a:pPr>
            <a:r>
              <a:rPr lang="en-US" sz="1050" i="1" dirty="0">
                <a:solidFill>
                  <a:srgbClr val="6B7A8D"/>
                </a:solidFill>
                <a:latin typeface="Calibri" pitchFamily="34" charset="0"/>
                <a:ea typeface="Calibri" pitchFamily="34" charset="-122"/>
                <a:cs typeface="Calibri" pitchFamily="34" charset="-120"/>
              </a:rPr>
              <a:t>The consolidation story alone justifies the ROI — most enterprises are paying for 3-5 tools to get partial coverage.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75488"/>
          </a:xfrm>
          <a:prstGeom prst="rect">
            <a:avLst/>
          </a:prstGeom>
          <a:noFill/>
          <a:ln/>
        </p:spPr>
        <p:txBody>
          <a:bodyPr wrap="square" lIns="0" tIns="0" rIns="0" bIns="0" rtlCol="0" anchor="ctr"/>
          <a:lstStyle/>
          <a:p>
            <a:pPr marL="0" indent="0">
              <a:buNone/>
            </a:pPr>
            <a:r>
              <a:rPr lang="en-US" sz="2600" b="1" dirty="0">
                <a:solidFill>
                  <a:srgbClr val="1B2A4A"/>
                </a:solidFill>
                <a:latin typeface="Cambria" pitchFamily="34" charset="0"/>
                <a:ea typeface="Cambria" pitchFamily="34" charset="-122"/>
                <a:cs typeface="Cambria" pitchFamily="34" charset="-120"/>
              </a:rPr>
              <a:t>Campaign Messaging Architecture</a:t>
            </a:r>
            <a:endParaRPr lang="en-US" sz="2600" dirty="0"/>
          </a:p>
        </p:txBody>
      </p:sp>
      <p:sp>
        <p:nvSpPr>
          <p:cNvPr id="3" name="Text 1"/>
          <p:cNvSpPr/>
          <p:nvPr/>
        </p:nvSpPr>
        <p:spPr>
          <a:xfrm>
            <a:off x="457200" y="758952"/>
            <a:ext cx="8229600" cy="274320"/>
          </a:xfrm>
          <a:prstGeom prst="rect">
            <a:avLst/>
          </a:prstGeom>
          <a:noFill/>
          <a:ln/>
        </p:spPr>
        <p:txBody>
          <a:bodyPr wrap="square" lIns="0" tIns="0" rIns="0" bIns="0" rtlCol="0" anchor="ctr"/>
          <a:lstStyle/>
          <a:p>
            <a:pPr marL="0" indent="0">
              <a:buNone/>
            </a:pPr>
            <a:r>
              <a:rPr lang="en-US" sz="1300" i="1" dirty="0">
                <a:solidFill>
                  <a:srgbClr val="6B7A8D"/>
                </a:solidFill>
                <a:latin typeface="Calibri" pitchFamily="34" charset="0"/>
                <a:ea typeface="Calibri" pitchFamily="34" charset="-122"/>
                <a:cs typeface="Calibri" pitchFamily="34" charset="-120"/>
              </a:rPr>
              <a:t>"Govern What You've Built" — message framework by persona and channel</a:t>
            </a:r>
            <a:endParaRPr lang="en-US" sz="1300" dirty="0"/>
          </a:p>
        </p:txBody>
      </p:sp>
      <p:sp>
        <p:nvSpPr>
          <p:cNvPr id="4" name="Shape 2"/>
          <p:cNvSpPr/>
          <p:nvPr/>
        </p:nvSpPr>
        <p:spPr>
          <a:xfrm>
            <a:off x="2560320" y="1170432"/>
            <a:ext cx="4023360" cy="749808"/>
          </a:xfrm>
          <a:prstGeom prst="roundRect">
            <a:avLst>
              <a:gd name="adj" fmla="val 9756"/>
            </a:avLst>
          </a:prstGeom>
          <a:solidFill>
            <a:srgbClr val="1B2A4A"/>
          </a:solidFill>
          <a:ln w="12700">
            <a:solidFill>
              <a:srgbClr val="1B2A4A"/>
            </a:solidFill>
            <a:prstDash val="solid"/>
          </a:ln>
        </p:spPr>
        <p:txBody>
          <a:bodyPr/>
          <a:lstStyle/>
          <a:p>
            <a:endParaRPr lang="en-US"/>
          </a:p>
        </p:txBody>
      </p:sp>
      <p:sp>
        <p:nvSpPr>
          <p:cNvPr id="5" name="Text 3"/>
          <p:cNvSpPr/>
          <p:nvPr/>
        </p:nvSpPr>
        <p:spPr>
          <a:xfrm>
            <a:off x="2560320" y="1216152"/>
            <a:ext cx="4023360" cy="201168"/>
          </a:xfrm>
          <a:prstGeom prst="rect">
            <a:avLst/>
          </a:prstGeom>
          <a:noFill/>
          <a:ln/>
        </p:spPr>
        <p:txBody>
          <a:bodyPr wrap="square" lIns="0" tIns="0" rIns="0" bIns="0" rtlCol="0" anchor="ctr"/>
          <a:lstStyle/>
          <a:p>
            <a:pPr marL="0" indent="0" algn="ctr">
              <a:buNone/>
            </a:pPr>
            <a:r>
              <a:rPr lang="en-US" sz="800" b="1" kern="0" spc="200" dirty="0">
                <a:solidFill>
                  <a:srgbClr val="0D7B8A"/>
                </a:solidFill>
                <a:latin typeface="Calibri" pitchFamily="34" charset="0"/>
                <a:ea typeface="Calibri" pitchFamily="34" charset="-122"/>
                <a:cs typeface="Calibri" pitchFamily="34" charset="-120"/>
              </a:rPr>
              <a:t>CORE CAMPAIGN MESSAGE</a:t>
            </a:r>
            <a:endParaRPr lang="en-US" sz="800" dirty="0"/>
          </a:p>
        </p:txBody>
      </p:sp>
      <p:sp>
        <p:nvSpPr>
          <p:cNvPr id="6" name="Text 4"/>
          <p:cNvSpPr/>
          <p:nvPr/>
        </p:nvSpPr>
        <p:spPr>
          <a:xfrm>
            <a:off x="2560320" y="1417320"/>
            <a:ext cx="4023360"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"Govern What You've Built"</a:t>
            </a:r>
            <a:endParaRPr lang="en-US" sz="1700" dirty="0"/>
          </a:p>
        </p:txBody>
      </p:sp>
      <p:sp>
        <p:nvSpPr>
          <p:cNvPr id="9" name="Shape 7"/>
          <p:cNvSpPr/>
          <p:nvPr/>
        </p:nvSpPr>
        <p:spPr>
          <a:xfrm>
            <a:off x="365760" y="2194560"/>
            <a:ext cx="4206240" cy="1325880"/>
          </a:xfrm>
          <a:prstGeom prst="roundRect">
            <a:avLst>
              <a:gd name="adj" fmla="val 5517"/>
            </a:avLst>
          </a:prstGeom>
          <a:solidFill>
            <a:srgbClr val="FFFFFF"/>
          </a:solidFill>
          <a:ln w="12700">
            <a:solidFill>
              <a:srgbClr val="C9DDE8"/>
            </a:solidFill>
            <a:prstDash val="solid"/>
          </a:ln>
          <a:effectLst>
            <a:outerShdw blurRad="101600" dist="38100" dir="2700000" algn="bl" rotWithShape="0">
              <a:srgbClr val="000000">
                <a:alpha val="10000"/>
              </a:srgbClr>
            </a:outerShdw>
          </a:effectLst>
        </p:spPr>
        <p:txBody>
          <a:bodyPr/>
          <a:lstStyle/>
          <a:p>
            <a:endParaRPr lang="en-US"/>
          </a:p>
        </p:txBody>
      </p:sp>
      <p:sp>
        <p:nvSpPr>
          <p:cNvPr id="10" name="Shape 8"/>
          <p:cNvSpPr/>
          <p:nvPr/>
        </p:nvSpPr>
        <p:spPr>
          <a:xfrm>
            <a:off x="502920" y="2304288"/>
            <a:ext cx="566928" cy="237744"/>
          </a:xfrm>
          <a:prstGeom prst="roundRect">
            <a:avLst>
              <a:gd name="adj" fmla="val 15385"/>
            </a:avLst>
          </a:prstGeom>
          <a:solidFill>
            <a:srgbClr val="0D7B8A"/>
          </a:solidFill>
          <a:ln w="12700">
            <a:solidFill>
              <a:srgbClr val="0D7B8A"/>
            </a:solidFill>
            <a:prstDash val="solid"/>
          </a:ln>
        </p:spPr>
        <p:txBody>
          <a:bodyPr/>
          <a:lstStyle/>
          <a:p>
            <a:endParaRPr lang="en-US"/>
          </a:p>
        </p:txBody>
      </p:sp>
      <p:sp>
        <p:nvSpPr>
          <p:cNvPr id="11" name="Text 9"/>
          <p:cNvSpPr/>
          <p:nvPr/>
        </p:nvSpPr>
        <p:spPr>
          <a:xfrm>
            <a:off x="502920" y="2304288"/>
            <a:ext cx="566928"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CRO</a:t>
            </a:r>
            <a:endParaRPr lang="en-US" sz="850" dirty="0"/>
          </a:p>
        </p:txBody>
      </p:sp>
      <p:sp>
        <p:nvSpPr>
          <p:cNvPr id="12" name="Text 10"/>
          <p:cNvSpPr/>
          <p:nvPr/>
        </p:nvSpPr>
        <p:spPr>
          <a:xfrm>
            <a:off x="1143000" y="2286000"/>
            <a:ext cx="3291840" cy="457200"/>
          </a:xfrm>
          <a:prstGeom prst="rect">
            <a:avLst/>
          </a:prstGeom>
          <a:noFill/>
          <a:ln/>
        </p:spPr>
        <p:txBody>
          <a:bodyPr wrap="square" lIns="0" tIns="0" rIns="0" bIns="0" rtlCol="0" anchor="ctr"/>
          <a:lstStyle/>
          <a:p>
            <a:pPr marL="0" indent="0">
              <a:lnSpc>
                <a:spcPct val="110000"/>
              </a:lnSpc>
              <a:buNone/>
            </a:pPr>
            <a:r>
              <a:rPr lang="en-US" sz="1100" b="1" dirty="0">
                <a:solidFill>
                  <a:srgbClr val="1B2A4A"/>
                </a:solidFill>
                <a:latin typeface="Cambria" pitchFamily="34" charset="0"/>
                <a:ea typeface="Cambria" pitchFamily="34" charset="-122"/>
                <a:cs typeface="Cambria" pitchFamily="34" charset="-120"/>
              </a:rPr>
              <a:t>"The Regulatory Clock</a:t>
            </a:r>
            <a:endParaRPr lang="en-US" sz="1100" dirty="0"/>
          </a:p>
          <a:p>
            <a:pPr marL="0" indent="0">
              <a:lnSpc>
                <a:spcPct val="110000"/>
              </a:lnSpc>
              <a:buNone/>
            </a:pPr>
            <a:r>
              <a:rPr lang="en-US" sz="1100" b="1" dirty="0">
                <a:solidFill>
                  <a:srgbClr val="1B2A4A"/>
                </a:solidFill>
                <a:latin typeface="Cambria" pitchFamily="34" charset="0"/>
                <a:ea typeface="Cambria" pitchFamily="34" charset="-122"/>
                <a:cs typeface="Cambria" pitchFamily="34" charset="-120"/>
              </a:rPr>
              <a:t>Is Already Ticking"</a:t>
            </a:r>
            <a:endParaRPr lang="en-US" sz="1100" dirty="0"/>
          </a:p>
        </p:txBody>
      </p:sp>
      <p:sp>
        <p:nvSpPr>
          <p:cNvPr id="13" name="Text 11"/>
          <p:cNvSpPr/>
          <p:nvPr/>
        </p:nvSpPr>
        <p:spPr>
          <a:xfrm>
            <a:off x="502920" y="2816352"/>
            <a:ext cx="3931920" cy="384048"/>
          </a:xfrm>
          <a:prstGeom prst="rect">
            <a:avLst/>
          </a:prstGeom>
          <a:noFill/>
          <a:ln/>
        </p:spPr>
        <p:txBody>
          <a:bodyPr wrap="square" lIns="0" tIns="0" rIns="0" bIns="0" rtlCol="0" anchor="ctr"/>
          <a:lstStyle/>
          <a:p>
            <a:pPr marL="0" indent="0">
              <a:lnSpc>
                <a:spcPct val="120000"/>
              </a:lnSpc>
              <a:buNone/>
            </a:pPr>
            <a:r>
              <a:rPr lang="en-US" sz="950" dirty="0">
                <a:solidFill>
                  <a:srgbClr val="4A5568"/>
                </a:solidFill>
                <a:latin typeface="Calibri" pitchFamily="34" charset="0"/>
                <a:ea typeface="Calibri" pitchFamily="34" charset="-122"/>
                <a:cs typeface="Calibri" pitchFamily="34" charset="-120"/>
              </a:rPr>
              <a:t>Your agents are running. Your regulator will ask for the audit trail. Will you have it?</a:t>
            </a:r>
            <a:endParaRPr lang="en-US" sz="950" dirty="0"/>
          </a:p>
        </p:txBody>
      </p:sp>
      <p:sp>
        <p:nvSpPr>
          <p:cNvPr id="14" name="Text 12"/>
          <p:cNvSpPr/>
          <p:nvPr/>
        </p:nvSpPr>
        <p:spPr>
          <a:xfrm>
            <a:off x="502920" y="3264408"/>
            <a:ext cx="3931920" cy="182880"/>
          </a:xfrm>
          <a:prstGeom prst="rect">
            <a:avLst/>
          </a:prstGeom>
          <a:noFill/>
          <a:ln/>
        </p:spPr>
        <p:txBody>
          <a:bodyPr wrap="square" lIns="0" tIns="0" rIns="0" bIns="0" rtlCol="0" anchor="ctr"/>
          <a:lstStyle/>
          <a:p>
            <a:pPr marL="0" indent="0">
              <a:buNone/>
            </a:pPr>
            <a:r>
              <a:rPr lang="en-US" sz="800" i="1" dirty="0">
                <a:solidFill>
                  <a:srgbClr val="0D7B8A"/>
                </a:solidFill>
                <a:latin typeface="Calibri" pitchFamily="34" charset="0"/>
                <a:ea typeface="Calibri" pitchFamily="34" charset="-122"/>
                <a:cs typeface="Calibri" pitchFamily="34" charset="-120"/>
              </a:rPr>
              <a:t>CTA: Book a Readiness Assessment  |  Executive events, GARP, direct outreach</a:t>
            </a:r>
            <a:endParaRPr lang="en-US" sz="800" dirty="0"/>
          </a:p>
        </p:txBody>
      </p:sp>
      <p:sp>
        <p:nvSpPr>
          <p:cNvPr id="15" name="Shape 13"/>
          <p:cNvSpPr/>
          <p:nvPr/>
        </p:nvSpPr>
        <p:spPr>
          <a:xfrm>
            <a:off x="365760" y="3749040"/>
            <a:ext cx="4206240" cy="1325880"/>
          </a:xfrm>
          <a:prstGeom prst="roundRect">
            <a:avLst>
              <a:gd name="adj" fmla="val 5517"/>
            </a:avLst>
          </a:prstGeom>
          <a:solidFill>
            <a:srgbClr val="FFFFFF"/>
          </a:solidFill>
          <a:ln w="12700">
            <a:solidFill>
              <a:srgbClr val="C9DDE8"/>
            </a:solidFill>
            <a:prstDash val="solid"/>
          </a:ln>
          <a:effectLst>
            <a:outerShdw blurRad="101600" dist="38100" dir="2700000" algn="bl" rotWithShape="0">
              <a:srgbClr val="000000">
                <a:alpha val="10000"/>
              </a:srgbClr>
            </a:outerShdw>
          </a:effectLst>
        </p:spPr>
        <p:txBody>
          <a:bodyPr/>
          <a:lstStyle/>
          <a:p>
            <a:endParaRPr lang="en-US"/>
          </a:p>
        </p:txBody>
      </p:sp>
      <p:sp>
        <p:nvSpPr>
          <p:cNvPr id="16" name="Shape 14"/>
          <p:cNvSpPr/>
          <p:nvPr/>
        </p:nvSpPr>
        <p:spPr>
          <a:xfrm>
            <a:off x="502920" y="3858768"/>
            <a:ext cx="566928" cy="237744"/>
          </a:xfrm>
          <a:prstGeom prst="roundRect">
            <a:avLst>
              <a:gd name="adj" fmla="val 15385"/>
            </a:avLst>
          </a:prstGeom>
          <a:solidFill>
            <a:srgbClr val="0D7B8A"/>
          </a:solidFill>
          <a:ln w="12700">
            <a:solidFill>
              <a:srgbClr val="0D7B8A"/>
            </a:solidFill>
            <a:prstDash val="solid"/>
          </a:ln>
        </p:spPr>
        <p:txBody>
          <a:bodyPr/>
          <a:lstStyle/>
          <a:p>
            <a:endParaRPr lang="en-US"/>
          </a:p>
        </p:txBody>
      </p:sp>
      <p:sp>
        <p:nvSpPr>
          <p:cNvPr id="17" name="Text 15"/>
          <p:cNvSpPr/>
          <p:nvPr/>
        </p:nvSpPr>
        <p:spPr>
          <a:xfrm>
            <a:off x="502920" y="3858768"/>
            <a:ext cx="566928"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CCO</a:t>
            </a:r>
            <a:endParaRPr lang="en-US" sz="850" dirty="0"/>
          </a:p>
        </p:txBody>
      </p:sp>
      <p:sp>
        <p:nvSpPr>
          <p:cNvPr id="18" name="Text 16"/>
          <p:cNvSpPr/>
          <p:nvPr/>
        </p:nvSpPr>
        <p:spPr>
          <a:xfrm>
            <a:off x="1143000" y="3840480"/>
            <a:ext cx="3291840" cy="457200"/>
          </a:xfrm>
          <a:prstGeom prst="rect">
            <a:avLst/>
          </a:prstGeom>
          <a:noFill/>
          <a:ln/>
        </p:spPr>
        <p:txBody>
          <a:bodyPr wrap="square" lIns="0" tIns="0" rIns="0" bIns="0" rtlCol="0" anchor="ctr"/>
          <a:lstStyle/>
          <a:p>
            <a:pPr marL="0" indent="0">
              <a:lnSpc>
                <a:spcPct val="110000"/>
              </a:lnSpc>
              <a:buNone/>
            </a:pPr>
            <a:r>
              <a:rPr lang="en-US" sz="1100" b="1" dirty="0">
                <a:solidFill>
                  <a:srgbClr val="1B2A4A"/>
                </a:solidFill>
                <a:latin typeface="Cambria" pitchFamily="34" charset="0"/>
                <a:ea typeface="Cambria" pitchFamily="34" charset="-122"/>
                <a:cs typeface="Cambria" pitchFamily="34" charset="-120"/>
              </a:rPr>
              <a:t>"Turn a 6-Week Audit</a:t>
            </a:r>
            <a:endParaRPr lang="en-US" sz="1100" dirty="0"/>
          </a:p>
          <a:p>
            <a:pPr marL="0" indent="0">
              <a:lnSpc>
                <a:spcPct val="110000"/>
              </a:lnSpc>
              <a:buNone/>
            </a:pPr>
            <a:r>
              <a:rPr lang="en-US" sz="1100" b="1" dirty="0">
                <a:solidFill>
                  <a:srgbClr val="1B2A4A"/>
                </a:solidFill>
                <a:latin typeface="Cambria" pitchFamily="34" charset="0"/>
                <a:ea typeface="Cambria" pitchFamily="34" charset="-122"/>
                <a:cs typeface="Cambria" pitchFamily="34" charset="-120"/>
              </a:rPr>
              <a:t>Into 3 Hours"</a:t>
            </a:r>
            <a:endParaRPr lang="en-US" sz="1100" dirty="0"/>
          </a:p>
        </p:txBody>
      </p:sp>
      <p:sp>
        <p:nvSpPr>
          <p:cNvPr id="19" name="Text 17"/>
          <p:cNvSpPr/>
          <p:nvPr/>
        </p:nvSpPr>
        <p:spPr>
          <a:xfrm>
            <a:off x="502920" y="4370832"/>
            <a:ext cx="3931920" cy="384048"/>
          </a:xfrm>
          <a:prstGeom prst="rect">
            <a:avLst/>
          </a:prstGeom>
          <a:noFill/>
          <a:ln/>
        </p:spPr>
        <p:txBody>
          <a:bodyPr wrap="square" lIns="0" tIns="0" rIns="0" bIns="0" rtlCol="0" anchor="ctr"/>
          <a:lstStyle/>
          <a:p>
            <a:pPr marL="0" indent="0">
              <a:lnSpc>
                <a:spcPct val="120000"/>
              </a:lnSpc>
              <a:buNone/>
            </a:pPr>
            <a:r>
              <a:rPr lang="en-US" sz="950" dirty="0">
                <a:solidFill>
                  <a:srgbClr val="4A5568"/>
                </a:solidFill>
                <a:latin typeface="Calibri" pitchFamily="34" charset="0"/>
                <a:ea typeface="Calibri" pitchFamily="34" charset="-122"/>
                <a:cs typeface="Calibri" pitchFamily="34" charset="-120"/>
              </a:rPr>
              <a:t>Compliance teams shouldn't be building audit infrastructure manually. AgentOps automates the evidence collection.</a:t>
            </a:r>
            <a:endParaRPr lang="en-US" sz="950" dirty="0"/>
          </a:p>
        </p:txBody>
      </p:sp>
      <p:sp>
        <p:nvSpPr>
          <p:cNvPr id="20" name="Text 18"/>
          <p:cNvSpPr/>
          <p:nvPr/>
        </p:nvSpPr>
        <p:spPr>
          <a:xfrm>
            <a:off x="502920" y="4818888"/>
            <a:ext cx="3931920" cy="182880"/>
          </a:xfrm>
          <a:prstGeom prst="rect">
            <a:avLst/>
          </a:prstGeom>
          <a:noFill/>
          <a:ln/>
        </p:spPr>
        <p:txBody>
          <a:bodyPr wrap="square" lIns="0" tIns="0" rIns="0" bIns="0" rtlCol="0" anchor="ctr"/>
          <a:lstStyle/>
          <a:p>
            <a:pPr marL="0" indent="0">
              <a:buNone/>
            </a:pPr>
            <a:r>
              <a:rPr lang="en-US" sz="800" i="1" dirty="0">
                <a:solidFill>
                  <a:srgbClr val="0D7B8A"/>
                </a:solidFill>
                <a:latin typeface="Calibri" pitchFamily="34" charset="0"/>
                <a:ea typeface="Calibri" pitchFamily="34" charset="-122"/>
                <a:cs typeface="Calibri" pitchFamily="34" charset="-120"/>
              </a:rPr>
              <a:t>CTA: See the Compliance Dashboard  |  ACAMS, SIFMA, ABM sequences</a:t>
            </a:r>
            <a:endParaRPr lang="en-US" sz="800" dirty="0"/>
          </a:p>
        </p:txBody>
      </p:sp>
      <p:sp>
        <p:nvSpPr>
          <p:cNvPr id="21" name="Shape 19"/>
          <p:cNvSpPr/>
          <p:nvPr/>
        </p:nvSpPr>
        <p:spPr>
          <a:xfrm>
            <a:off x="4846320" y="2194560"/>
            <a:ext cx="4206240" cy="1325880"/>
          </a:xfrm>
          <a:prstGeom prst="roundRect">
            <a:avLst>
              <a:gd name="adj" fmla="val 5517"/>
            </a:avLst>
          </a:prstGeom>
          <a:solidFill>
            <a:srgbClr val="FFFFFF"/>
          </a:solidFill>
          <a:ln w="12700">
            <a:solidFill>
              <a:srgbClr val="C9DDE8"/>
            </a:solidFill>
            <a:prstDash val="solid"/>
          </a:ln>
          <a:effectLst>
            <a:outerShdw blurRad="101600" dist="38100" dir="2700000" algn="bl" rotWithShape="0">
              <a:srgbClr val="000000">
                <a:alpha val="10000"/>
              </a:srgbClr>
            </a:outerShdw>
          </a:effectLst>
        </p:spPr>
        <p:txBody>
          <a:bodyPr/>
          <a:lstStyle/>
          <a:p>
            <a:endParaRPr lang="en-US"/>
          </a:p>
        </p:txBody>
      </p:sp>
      <p:sp>
        <p:nvSpPr>
          <p:cNvPr id="22" name="Shape 20"/>
          <p:cNvSpPr/>
          <p:nvPr/>
        </p:nvSpPr>
        <p:spPr>
          <a:xfrm>
            <a:off x="4983480" y="2304288"/>
            <a:ext cx="566928" cy="237744"/>
          </a:xfrm>
          <a:prstGeom prst="roundRect">
            <a:avLst>
              <a:gd name="adj" fmla="val 15385"/>
            </a:avLst>
          </a:prstGeom>
          <a:solidFill>
            <a:srgbClr val="0D7B8A"/>
          </a:solidFill>
          <a:ln w="12700">
            <a:solidFill>
              <a:srgbClr val="0D7B8A"/>
            </a:solidFill>
            <a:prstDash val="solid"/>
          </a:ln>
        </p:spPr>
        <p:txBody>
          <a:bodyPr/>
          <a:lstStyle/>
          <a:p>
            <a:endParaRPr lang="en-US"/>
          </a:p>
        </p:txBody>
      </p:sp>
      <p:sp>
        <p:nvSpPr>
          <p:cNvPr id="23" name="Text 21"/>
          <p:cNvSpPr/>
          <p:nvPr/>
        </p:nvSpPr>
        <p:spPr>
          <a:xfrm>
            <a:off x="4983480" y="2304288"/>
            <a:ext cx="566928"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CIO</a:t>
            </a:r>
            <a:endParaRPr lang="en-US" sz="850" dirty="0"/>
          </a:p>
        </p:txBody>
      </p:sp>
      <p:sp>
        <p:nvSpPr>
          <p:cNvPr id="24" name="Text 22"/>
          <p:cNvSpPr/>
          <p:nvPr/>
        </p:nvSpPr>
        <p:spPr>
          <a:xfrm>
            <a:off x="5623560" y="2286000"/>
            <a:ext cx="3291840" cy="457200"/>
          </a:xfrm>
          <a:prstGeom prst="rect">
            <a:avLst/>
          </a:prstGeom>
          <a:noFill/>
          <a:ln/>
        </p:spPr>
        <p:txBody>
          <a:bodyPr wrap="square" lIns="0" tIns="0" rIns="0" bIns="0" rtlCol="0" anchor="ctr"/>
          <a:lstStyle/>
          <a:p>
            <a:pPr marL="0" indent="0">
              <a:lnSpc>
                <a:spcPct val="110000"/>
              </a:lnSpc>
              <a:buNone/>
            </a:pPr>
            <a:r>
              <a:rPr lang="en-US" sz="1100" b="1" dirty="0">
                <a:solidFill>
                  <a:srgbClr val="1B2A4A"/>
                </a:solidFill>
                <a:latin typeface="Cambria" pitchFamily="34" charset="0"/>
                <a:ea typeface="Cambria" pitchFamily="34" charset="-122"/>
                <a:cs typeface="Cambria" pitchFamily="34" charset="-120"/>
              </a:rPr>
              <a:t>"Shadow AI Is Your</a:t>
            </a:r>
            <a:endParaRPr lang="en-US" sz="1100" dirty="0"/>
          </a:p>
          <a:p>
            <a:pPr marL="0" indent="0">
              <a:lnSpc>
                <a:spcPct val="110000"/>
              </a:lnSpc>
              <a:buNone/>
            </a:pPr>
            <a:r>
              <a:rPr lang="en-US" sz="1100" b="1" dirty="0">
                <a:solidFill>
                  <a:srgbClr val="1B2A4A"/>
                </a:solidFill>
                <a:latin typeface="Cambria" pitchFamily="34" charset="0"/>
                <a:ea typeface="Cambria" pitchFamily="34" charset="-122"/>
                <a:cs typeface="Cambria" pitchFamily="34" charset="-120"/>
              </a:rPr>
              <a:t>Biggest Governance Risk"</a:t>
            </a:r>
            <a:endParaRPr lang="en-US" sz="1100" dirty="0"/>
          </a:p>
        </p:txBody>
      </p:sp>
      <p:sp>
        <p:nvSpPr>
          <p:cNvPr id="25" name="Text 23"/>
          <p:cNvSpPr/>
          <p:nvPr/>
        </p:nvSpPr>
        <p:spPr>
          <a:xfrm>
            <a:off x="4983480" y="2816352"/>
            <a:ext cx="3931920" cy="384048"/>
          </a:xfrm>
          <a:prstGeom prst="rect">
            <a:avLst/>
          </a:prstGeom>
          <a:noFill/>
          <a:ln/>
        </p:spPr>
        <p:txBody>
          <a:bodyPr wrap="square" lIns="0" tIns="0" rIns="0" bIns="0" rtlCol="0" anchor="ctr"/>
          <a:lstStyle/>
          <a:p>
            <a:pPr marL="0" indent="0">
              <a:lnSpc>
                <a:spcPct val="120000"/>
              </a:lnSpc>
              <a:buNone/>
            </a:pPr>
            <a:r>
              <a:rPr lang="en-US" sz="950" dirty="0">
                <a:solidFill>
                  <a:srgbClr val="4A5568"/>
                </a:solidFill>
                <a:latin typeface="Calibri" pitchFamily="34" charset="0"/>
                <a:ea typeface="Calibri" pitchFamily="34" charset="-122"/>
                <a:cs typeface="Calibri" pitchFamily="34" charset="-120"/>
              </a:rPr>
              <a:t>You approved some of them. But how many AI agents are running in your organization right now?</a:t>
            </a:r>
            <a:endParaRPr lang="en-US" sz="950" dirty="0"/>
          </a:p>
        </p:txBody>
      </p:sp>
      <p:sp>
        <p:nvSpPr>
          <p:cNvPr id="26" name="Text 24"/>
          <p:cNvSpPr/>
          <p:nvPr/>
        </p:nvSpPr>
        <p:spPr>
          <a:xfrm>
            <a:off x="4983480" y="3264408"/>
            <a:ext cx="3931920" cy="182880"/>
          </a:xfrm>
          <a:prstGeom prst="rect">
            <a:avLst/>
          </a:prstGeom>
          <a:noFill/>
          <a:ln/>
        </p:spPr>
        <p:txBody>
          <a:bodyPr wrap="square" lIns="0" tIns="0" rIns="0" bIns="0" rtlCol="0" anchor="ctr"/>
          <a:lstStyle/>
          <a:p>
            <a:pPr marL="0" indent="0">
              <a:buNone/>
            </a:pPr>
            <a:r>
              <a:rPr lang="en-US" sz="800" i="1" dirty="0">
                <a:solidFill>
                  <a:srgbClr val="0D7B8A"/>
                </a:solidFill>
                <a:latin typeface="Calibri" pitchFamily="34" charset="0"/>
                <a:ea typeface="Calibri" pitchFamily="34" charset="-122"/>
                <a:cs typeface="Calibri" pitchFamily="34" charset="-120"/>
              </a:rPr>
              <a:t>CTA: Get Your Agent Inventory  |  LinkedIn, CIO forums, consolidation pitch</a:t>
            </a:r>
            <a:endParaRPr lang="en-US" sz="800" dirty="0"/>
          </a:p>
        </p:txBody>
      </p:sp>
      <p:sp>
        <p:nvSpPr>
          <p:cNvPr id="27" name="Shape 25"/>
          <p:cNvSpPr/>
          <p:nvPr/>
        </p:nvSpPr>
        <p:spPr>
          <a:xfrm>
            <a:off x="4846320" y="3749040"/>
            <a:ext cx="4206240" cy="1325880"/>
          </a:xfrm>
          <a:prstGeom prst="roundRect">
            <a:avLst>
              <a:gd name="adj" fmla="val 5517"/>
            </a:avLst>
          </a:prstGeom>
          <a:solidFill>
            <a:srgbClr val="FFFFFF"/>
          </a:solidFill>
          <a:ln w="12700">
            <a:solidFill>
              <a:srgbClr val="C9DDE8"/>
            </a:solidFill>
            <a:prstDash val="solid"/>
          </a:ln>
          <a:effectLst>
            <a:outerShdw blurRad="101600" dist="38100" dir="2700000" algn="bl" rotWithShape="0">
              <a:srgbClr val="000000">
                <a:alpha val="10000"/>
              </a:srgbClr>
            </a:outerShdw>
          </a:effectLst>
        </p:spPr>
        <p:txBody>
          <a:bodyPr/>
          <a:lstStyle/>
          <a:p>
            <a:endParaRPr lang="en-US"/>
          </a:p>
        </p:txBody>
      </p:sp>
      <p:sp>
        <p:nvSpPr>
          <p:cNvPr id="28" name="Shape 26"/>
          <p:cNvSpPr/>
          <p:nvPr/>
        </p:nvSpPr>
        <p:spPr>
          <a:xfrm>
            <a:off x="4983480" y="3858768"/>
            <a:ext cx="566928" cy="237744"/>
          </a:xfrm>
          <a:prstGeom prst="roundRect">
            <a:avLst>
              <a:gd name="adj" fmla="val 15385"/>
            </a:avLst>
          </a:prstGeom>
          <a:solidFill>
            <a:srgbClr val="0D7B8A"/>
          </a:solidFill>
          <a:ln w="12700">
            <a:solidFill>
              <a:srgbClr val="0D7B8A"/>
            </a:solidFill>
            <a:prstDash val="solid"/>
          </a:ln>
        </p:spPr>
        <p:txBody>
          <a:bodyPr/>
          <a:lstStyle/>
          <a:p>
            <a:endParaRPr lang="en-US"/>
          </a:p>
        </p:txBody>
      </p:sp>
      <p:sp>
        <p:nvSpPr>
          <p:cNvPr id="29" name="Text 27"/>
          <p:cNvSpPr/>
          <p:nvPr/>
        </p:nvSpPr>
        <p:spPr>
          <a:xfrm>
            <a:off x="4983480" y="3858768"/>
            <a:ext cx="566928"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CTO</a:t>
            </a:r>
            <a:endParaRPr lang="en-US" sz="850" dirty="0"/>
          </a:p>
        </p:txBody>
      </p:sp>
      <p:sp>
        <p:nvSpPr>
          <p:cNvPr id="30" name="Text 28"/>
          <p:cNvSpPr/>
          <p:nvPr/>
        </p:nvSpPr>
        <p:spPr>
          <a:xfrm>
            <a:off x="5623560" y="3840480"/>
            <a:ext cx="3291840" cy="457200"/>
          </a:xfrm>
          <a:prstGeom prst="rect">
            <a:avLst/>
          </a:prstGeom>
          <a:noFill/>
          <a:ln/>
        </p:spPr>
        <p:txBody>
          <a:bodyPr wrap="square" lIns="0" tIns="0" rIns="0" bIns="0" rtlCol="0" anchor="ctr"/>
          <a:lstStyle/>
          <a:p>
            <a:pPr marL="0" indent="0">
              <a:lnSpc>
                <a:spcPct val="110000"/>
              </a:lnSpc>
              <a:buNone/>
            </a:pPr>
            <a:r>
              <a:rPr lang="en-US" sz="1100" b="1" dirty="0">
                <a:solidFill>
                  <a:srgbClr val="1B2A4A"/>
                </a:solidFill>
                <a:latin typeface="Cambria" pitchFamily="34" charset="0"/>
                <a:ea typeface="Cambria" pitchFamily="34" charset="-122"/>
                <a:cs typeface="Cambria" pitchFamily="34" charset="-120"/>
              </a:rPr>
              <a:t>"Deploy in 48 Hours.</a:t>
            </a:r>
            <a:endParaRPr lang="en-US" sz="1100" dirty="0"/>
          </a:p>
          <a:p>
            <a:pPr marL="0" indent="0">
              <a:lnSpc>
                <a:spcPct val="110000"/>
              </a:lnSpc>
              <a:buNone/>
            </a:pPr>
            <a:r>
              <a:rPr lang="en-US" sz="1100" b="1" dirty="0">
                <a:solidFill>
                  <a:srgbClr val="1B2A4A"/>
                </a:solidFill>
                <a:latin typeface="Cambria" pitchFamily="34" charset="0"/>
                <a:ea typeface="Cambria" pitchFamily="34" charset="-122"/>
                <a:cs typeface="Cambria" pitchFamily="34" charset="-120"/>
              </a:rPr>
              <a:t>Govern Everything."</a:t>
            </a:r>
            <a:endParaRPr lang="en-US" sz="1100" dirty="0"/>
          </a:p>
        </p:txBody>
      </p:sp>
      <p:sp>
        <p:nvSpPr>
          <p:cNvPr id="31" name="Text 29"/>
          <p:cNvSpPr/>
          <p:nvPr/>
        </p:nvSpPr>
        <p:spPr>
          <a:xfrm>
            <a:off x="4983480" y="4370832"/>
            <a:ext cx="3931920" cy="384048"/>
          </a:xfrm>
          <a:prstGeom prst="rect">
            <a:avLst/>
          </a:prstGeom>
          <a:noFill/>
          <a:ln/>
        </p:spPr>
        <p:txBody>
          <a:bodyPr wrap="square" lIns="0" tIns="0" rIns="0" bIns="0" rtlCol="0" anchor="ctr"/>
          <a:lstStyle/>
          <a:p>
            <a:pPr marL="0" indent="0">
              <a:lnSpc>
                <a:spcPct val="120000"/>
              </a:lnSpc>
              <a:buNone/>
            </a:pPr>
            <a:r>
              <a:rPr lang="en-US" sz="950" dirty="0">
                <a:solidFill>
                  <a:srgbClr val="4A5568"/>
                </a:solidFill>
                <a:latin typeface="Calibri" pitchFamily="34" charset="0"/>
                <a:ea typeface="Calibri" pitchFamily="34" charset="-122"/>
                <a:cs typeface="Calibri" pitchFamily="34" charset="-120"/>
              </a:rPr>
              <a:t>AgentOps integrates with LangChain, AutoGen, and your proprietary frameworks. No rip-and-replace.</a:t>
            </a:r>
            <a:endParaRPr lang="en-US" sz="950" dirty="0"/>
          </a:p>
        </p:txBody>
      </p:sp>
      <p:sp>
        <p:nvSpPr>
          <p:cNvPr id="32" name="Text 30"/>
          <p:cNvSpPr/>
          <p:nvPr/>
        </p:nvSpPr>
        <p:spPr>
          <a:xfrm>
            <a:off x="4983480" y="4818888"/>
            <a:ext cx="3931920" cy="182880"/>
          </a:xfrm>
          <a:prstGeom prst="rect">
            <a:avLst/>
          </a:prstGeom>
          <a:noFill/>
          <a:ln/>
        </p:spPr>
        <p:txBody>
          <a:bodyPr wrap="square" lIns="0" tIns="0" rIns="0" bIns="0" rtlCol="0" anchor="ctr"/>
          <a:lstStyle/>
          <a:p>
            <a:pPr marL="0" indent="0">
              <a:buNone/>
            </a:pPr>
            <a:r>
              <a:rPr lang="en-US" sz="800" i="1" dirty="0">
                <a:solidFill>
                  <a:srgbClr val="0D7B8A"/>
                </a:solidFill>
                <a:latin typeface="Calibri" pitchFamily="34" charset="0"/>
                <a:ea typeface="Calibri" pitchFamily="34" charset="-122"/>
                <a:cs typeface="Calibri" pitchFamily="34" charset="-120"/>
              </a:rPr>
              <a:t>CTA: Start Your 30-Day Pilot  |  Developer communities, technical content</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228600"/>
            <a:ext cx="7772400" cy="868680"/>
          </a:xfrm>
          <a:prstGeom prst="rect">
            <a:avLst/>
          </a:prstGeom>
          <a:noFill/>
          <a:ln/>
        </p:spPr>
        <p:txBody>
          <a:bodyPr wrap="square" lIns="0" tIns="0" rIns="0" bIns="0" rtlCol="0" anchor="ctr"/>
          <a:lstStyle/>
          <a:p>
            <a:pPr marL="0" indent="0">
              <a:lnSpc>
                <a:spcPct val="115000"/>
              </a:lnSpc>
              <a:buNone/>
            </a:pPr>
            <a:r>
              <a:rPr lang="en-US" sz="2800" b="1" dirty="0">
                <a:solidFill>
                  <a:srgbClr val="FFFFFF"/>
                </a:solidFill>
                <a:latin typeface="Cambria" pitchFamily="34" charset="0"/>
                <a:ea typeface="Cambria" pitchFamily="34" charset="-122"/>
                <a:cs typeface="Cambria" pitchFamily="34" charset="-120"/>
              </a:rPr>
              <a:t>Start Governing in 48 Hours.</a:t>
            </a:r>
            <a:endParaRPr lang="en-US" sz="2800" dirty="0"/>
          </a:p>
          <a:p>
            <a:pPr marL="0" indent="0">
              <a:lnSpc>
                <a:spcPct val="115000"/>
              </a:lnSpc>
              <a:buNone/>
            </a:pPr>
            <a:r>
              <a:rPr lang="en-US" sz="2800" b="1" dirty="0">
                <a:solidFill>
                  <a:srgbClr val="FFFFFF"/>
                </a:solidFill>
                <a:latin typeface="Cambria" pitchFamily="34" charset="0"/>
                <a:ea typeface="Cambria" pitchFamily="34" charset="-122"/>
                <a:cs typeface="Cambria" pitchFamily="34" charset="-120"/>
              </a:rPr>
              <a:t>Prove Value in 30 Days.</a:t>
            </a:r>
            <a:endParaRPr lang="en-US" sz="2800" dirty="0"/>
          </a:p>
        </p:txBody>
      </p:sp>
      <p:sp>
        <p:nvSpPr>
          <p:cNvPr id="3" name="Text 1"/>
          <p:cNvSpPr/>
          <p:nvPr/>
        </p:nvSpPr>
        <p:spPr>
          <a:xfrm>
            <a:off x="502920" y="1115568"/>
            <a:ext cx="7315200" cy="274320"/>
          </a:xfrm>
          <a:prstGeom prst="rect">
            <a:avLst/>
          </a:prstGeom>
          <a:noFill/>
          <a:ln/>
        </p:spPr>
        <p:txBody>
          <a:bodyPr wrap="square" lIns="0" tIns="0" rIns="0" bIns="0" rtlCol="0" anchor="ctr"/>
          <a:lstStyle/>
          <a:p>
            <a:pPr marL="0" indent="0">
              <a:buNone/>
            </a:pPr>
            <a:r>
              <a:rPr lang="en-US" sz="1300" i="1" dirty="0">
                <a:solidFill>
                  <a:srgbClr val="C9DDE8"/>
                </a:solidFill>
                <a:latin typeface="Calibri" pitchFamily="34" charset="0"/>
                <a:ea typeface="Calibri" pitchFamily="34" charset="-122"/>
                <a:cs typeface="Calibri" pitchFamily="34" charset="-120"/>
              </a:rPr>
              <a:t>Three entry points. One destination: complete AI agent governance.</a:t>
            </a:r>
            <a:endParaRPr lang="en-US" sz="1300" dirty="0"/>
          </a:p>
        </p:txBody>
      </p:sp>
      <p:sp>
        <p:nvSpPr>
          <p:cNvPr id="4" name="Shape 2"/>
          <p:cNvSpPr/>
          <p:nvPr/>
        </p:nvSpPr>
        <p:spPr>
          <a:xfrm>
            <a:off x="457200" y="1508760"/>
            <a:ext cx="2816352" cy="3429000"/>
          </a:xfrm>
          <a:prstGeom prst="roundRect">
            <a:avLst>
              <a:gd name="adj" fmla="val 3247"/>
            </a:avLst>
          </a:prstGeom>
          <a:solidFill>
            <a:srgbClr val="243557"/>
          </a:solidFill>
          <a:ln w="12700">
            <a:solidFill>
              <a:srgbClr val="3A5070"/>
            </a:solidFill>
            <a:prstDash val="solid"/>
          </a:ln>
          <a:effectLst>
            <a:outerShdw blurRad="101600" dist="38100" dir="2700000" algn="bl" rotWithShape="0">
              <a:srgbClr val="000000">
                <a:alpha val="10000"/>
              </a:srgbClr>
            </a:outerShdw>
          </a:effectLst>
        </p:spPr>
        <p:txBody>
          <a:bodyPr/>
          <a:lstStyle/>
          <a:p>
            <a:endParaRPr lang="en-US"/>
          </a:p>
        </p:txBody>
      </p:sp>
      <p:sp>
        <p:nvSpPr>
          <p:cNvPr id="5" name="Text 3"/>
          <p:cNvSpPr/>
          <p:nvPr/>
        </p:nvSpPr>
        <p:spPr>
          <a:xfrm>
            <a:off x="621792" y="1627632"/>
            <a:ext cx="502920" cy="411480"/>
          </a:xfrm>
          <a:prstGeom prst="rect">
            <a:avLst/>
          </a:prstGeom>
          <a:noFill/>
          <a:ln/>
        </p:spPr>
        <p:txBody>
          <a:bodyPr wrap="square" lIns="0" tIns="0" rIns="0" bIns="0" rtlCol="0" anchor="ctr"/>
          <a:lstStyle/>
          <a:p>
            <a:pPr marL="0" indent="0">
              <a:buNone/>
            </a:pPr>
            <a:r>
              <a:rPr lang="en-US" sz="2200" b="1" dirty="0">
                <a:solidFill>
                  <a:srgbClr val="0D7B8A"/>
                </a:solidFill>
                <a:latin typeface="Cambria" pitchFamily="34" charset="0"/>
                <a:ea typeface="Cambria" pitchFamily="34" charset="-122"/>
                <a:cs typeface="Cambria" pitchFamily="34" charset="-120"/>
              </a:rPr>
              <a:t>01</a:t>
            </a:r>
            <a:endParaRPr lang="en-US" sz="2200" dirty="0"/>
          </a:p>
        </p:txBody>
      </p:sp>
      <p:sp>
        <p:nvSpPr>
          <p:cNvPr id="6" name="Shape 4"/>
          <p:cNvSpPr/>
          <p:nvPr/>
        </p:nvSpPr>
        <p:spPr>
          <a:xfrm>
            <a:off x="621792" y="2010325"/>
            <a:ext cx="2487168" cy="237744"/>
          </a:xfrm>
          <a:prstGeom prst="roundRect">
            <a:avLst>
              <a:gd name="adj" fmla="val 15385"/>
            </a:avLst>
          </a:prstGeom>
          <a:solidFill>
            <a:srgbClr val="0D7B8A"/>
          </a:solidFill>
          <a:ln w="12700">
            <a:solidFill>
              <a:srgbClr val="0D7B8A"/>
            </a:solidFill>
            <a:prstDash val="solid"/>
          </a:ln>
        </p:spPr>
        <p:txBody>
          <a:bodyPr/>
          <a:lstStyle/>
          <a:p>
            <a:endParaRPr lang="en-US"/>
          </a:p>
        </p:txBody>
      </p:sp>
      <p:sp>
        <p:nvSpPr>
          <p:cNvPr id="7" name="Text 5"/>
          <p:cNvSpPr/>
          <p:nvPr/>
        </p:nvSpPr>
        <p:spPr>
          <a:xfrm>
            <a:off x="621792" y="2010325"/>
            <a:ext cx="2487168" cy="237744"/>
          </a:xfrm>
          <a:prstGeom prst="rect">
            <a:avLst/>
          </a:prstGeom>
          <a:noFill/>
          <a:ln/>
        </p:spPr>
        <p:txBody>
          <a:bodyPr wrap="square" lIns="0" tIns="0" rIns="0" bIns="0" rtlCol="0" anchor="ctr"/>
          <a:lstStyle/>
          <a:p>
            <a:pPr marL="0" indent="0" algn="ctr">
              <a:buNone/>
            </a:pPr>
            <a:r>
              <a:rPr lang="en-US" sz="800" b="1" dirty="0">
                <a:solidFill>
                  <a:srgbClr val="1B2A4A"/>
                </a:solidFill>
                <a:latin typeface="Calibri" pitchFamily="34" charset="0"/>
                <a:ea typeface="Calibri" pitchFamily="34" charset="-122"/>
                <a:cs typeface="Calibri" pitchFamily="34" charset="-120"/>
              </a:rPr>
              <a:t>FREE — NO COMMITMENT</a:t>
            </a:r>
            <a:endParaRPr lang="en-US" sz="800" dirty="0"/>
          </a:p>
        </p:txBody>
      </p:sp>
      <p:sp>
        <p:nvSpPr>
          <p:cNvPr id="8" name="Text 6"/>
          <p:cNvSpPr/>
          <p:nvPr/>
        </p:nvSpPr>
        <p:spPr>
          <a:xfrm>
            <a:off x="621792" y="2212848"/>
            <a:ext cx="2487168" cy="566928"/>
          </a:xfrm>
          <a:prstGeom prst="rect">
            <a:avLst/>
          </a:prstGeom>
          <a:noFill/>
          <a:ln/>
        </p:spPr>
        <p:txBody>
          <a:bodyPr wrap="square" lIns="0" tIns="0" rIns="0" bIns="0" rtlCol="0" anchor="ctr"/>
          <a:lstStyle/>
          <a:p>
            <a:pPr marL="0" indent="0">
              <a:lnSpc>
                <a:spcPct val="115000"/>
              </a:lnSpc>
              <a:buNone/>
            </a:pPr>
            <a:r>
              <a:rPr lang="en-US" sz="1350" b="1" dirty="0">
                <a:solidFill>
                  <a:srgbClr val="FFFFFF"/>
                </a:solidFill>
                <a:latin typeface="Calibri" pitchFamily="34" charset="0"/>
                <a:ea typeface="Calibri" pitchFamily="34" charset="-122"/>
                <a:cs typeface="Calibri" pitchFamily="34" charset="-120"/>
              </a:rPr>
              <a:t>AI Agent Governance</a:t>
            </a:r>
            <a:endParaRPr lang="en-US" sz="1350" dirty="0"/>
          </a:p>
          <a:p>
            <a:pPr marL="0" indent="0">
              <a:lnSpc>
                <a:spcPct val="115000"/>
              </a:lnSpc>
              <a:buNone/>
            </a:pPr>
            <a:r>
              <a:rPr lang="en-US" sz="1350" b="1" dirty="0">
                <a:solidFill>
                  <a:srgbClr val="FFFFFF"/>
                </a:solidFill>
                <a:latin typeface="Calibri" pitchFamily="34" charset="0"/>
                <a:ea typeface="Calibri" pitchFamily="34" charset="-122"/>
                <a:cs typeface="Calibri" pitchFamily="34" charset="-120"/>
              </a:rPr>
              <a:t>Readiness Assessment</a:t>
            </a:r>
            <a:endParaRPr lang="en-US" sz="1350" dirty="0"/>
          </a:p>
        </p:txBody>
      </p:sp>
      <p:sp>
        <p:nvSpPr>
          <p:cNvPr id="9" name="Text 7"/>
          <p:cNvSpPr/>
          <p:nvPr/>
        </p:nvSpPr>
        <p:spPr>
          <a:xfrm>
            <a:off x="621792" y="2834640"/>
            <a:ext cx="2487168" cy="1417320"/>
          </a:xfrm>
          <a:prstGeom prst="rect">
            <a:avLst/>
          </a:prstGeom>
          <a:noFill/>
          <a:ln/>
        </p:spPr>
        <p:txBody>
          <a:bodyPr wrap="square" lIns="0" tIns="0" rIns="0" bIns="0" rtlCol="0" anchor="ctr"/>
          <a:lstStyle/>
          <a:p>
            <a:pPr marL="0" indent="0">
              <a:lnSpc>
                <a:spcPct val="130000"/>
              </a:lnSpc>
              <a:buNone/>
            </a:pPr>
            <a:r>
              <a:rPr lang="en-US" sz="950" dirty="0">
                <a:solidFill>
                  <a:srgbClr val="C9DDE8"/>
                </a:solidFill>
                <a:latin typeface="Calibri" pitchFamily="34" charset="0"/>
                <a:ea typeface="Calibri" pitchFamily="34" charset="-122"/>
                <a:cs typeface="Calibri" pitchFamily="34" charset="-120"/>
              </a:rPr>
              <a:t>A 2-hour working session with our governance specialists. We map your current agent inventory, identify your top 3 compliance risks, and give you a prioritized governance roadmap.</a:t>
            </a:r>
            <a:endParaRPr lang="en-US" sz="950" dirty="0"/>
          </a:p>
          <a:p>
            <a:pPr marL="0" indent="0">
              <a:lnSpc>
                <a:spcPct val="130000"/>
              </a:lnSpc>
              <a:buNone/>
            </a:pPr>
            <a:endParaRPr lang="en-US" sz="950" dirty="0"/>
          </a:p>
          <a:p>
            <a:pPr marL="0" indent="0">
              <a:lnSpc>
                <a:spcPct val="130000"/>
              </a:lnSpc>
              <a:buNone/>
            </a:pPr>
            <a:r>
              <a:rPr lang="en-US" sz="950" dirty="0">
                <a:solidFill>
                  <a:srgbClr val="C9DDE8"/>
                </a:solidFill>
                <a:latin typeface="Calibri" pitchFamily="34" charset="0"/>
                <a:ea typeface="Calibri" pitchFamily="34" charset="-122"/>
                <a:cs typeface="Calibri" pitchFamily="34" charset="-120"/>
              </a:rPr>
              <a:t>No cost. No commitment. Immediate value.</a:t>
            </a:r>
            <a:endParaRPr lang="en-US" sz="950" dirty="0"/>
          </a:p>
        </p:txBody>
      </p:sp>
      <p:sp>
        <p:nvSpPr>
          <p:cNvPr id="10" name="Shape 8"/>
          <p:cNvSpPr/>
          <p:nvPr/>
        </p:nvSpPr>
        <p:spPr>
          <a:xfrm>
            <a:off x="621792" y="4297680"/>
            <a:ext cx="2487168" cy="18288"/>
          </a:xfrm>
          <a:prstGeom prst="rect">
            <a:avLst/>
          </a:prstGeom>
          <a:solidFill>
            <a:srgbClr val="0D7B8A"/>
          </a:solidFill>
          <a:ln w="12700">
            <a:solidFill>
              <a:srgbClr val="0D7B8A"/>
            </a:solidFill>
            <a:prstDash val="solid"/>
          </a:ln>
        </p:spPr>
        <p:txBody>
          <a:bodyPr/>
          <a:lstStyle/>
          <a:p>
            <a:endParaRPr lang="en-US"/>
          </a:p>
        </p:txBody>
      </p:sp>
      <p:sp>
        <p:nvSpPr>
          <p:cNvPr id="11" name="Text 9"/>
          <p:cNvSpPr/>
          <p:nvPr/>
        </p:nvSpPr>
        <p:spPr>
          <a:xfrm>
            <a:off x="621792" y="4352544"/>
            <a:ext cx="2487168" cy="219456"/>
          </a:xfrm>
          <a:prstGeom prst="rect">
            <a:avLst/>
          </a:prstGeom>
          <a:noFill/>
          <a:ln/>
        </p:spPr>
        <p:txBody>
          <a:bodyPr wrap="square" lIns="0" tIns="0" rIns="0" bIns="0" rtlCol="0" anchor="ctr"/>
          <a:lstStyle/>
          <a:p>
            <a:pPr marL="0" indent="0">
              <a:buNone/>
            </a:pPr>
            <a:r>
              <a:rPr lang="en-US" sz="950" b="1" dirty="0">
                <a:solidFill>
                  <a:srgbClr val="0D7B8A"/>
                </a:solidFill>
                <a:latin typeface="Calibri" pitchFamily="34" charset="0"/>
                <a:ea typeface="Calibri" pitchFamily="34" charset="-122"/>
                <a:cs typeface="Calibri" pitchFamily="34" charset="-120"/>
              </a:rPr>
              <a:t>northstar.ai/assess</a:t>
            </a:r>
            <a:endParaRPr lang="en-US" sz="950" dirty="0"/>
          </a:p>
        </p:txBody>
      </p:sp>
      <p:sp>
        <p:nvSpPr>
          <p:cNvPr id="12" name="Text 10"/>
          <p:cNvSpPr/>
          <p:nvPr/>
        </p:nvSpPr>
        <p:spPr>
          <a:xfrm>
            <a:off x="621792" y="4617720"/>
            <a:ext cx="2487168" cy="256032"/>
          </a:xfrm>
          <a:prstGeom prst="rect">
            <a:avLst/>
          </a:prstGeom>
          <a:noFill/>
          <a:ln/>
        </p:spPr>
        <p:txBody>
          <a:bodyPr wrap="square" lIns="0" tIns="0" rIns="0" bIns="0" rtlCol="0" anchor="ctr"/>
          <a:lstStyle/>
          <a:p>
            <a:pPr marL="0" indent="0">
              <a:lnSpc>
                <a:spcPct val="110000"/>
              </a:lnSpc>
              <a:buNone/>
            </a:pPr>
            <a:r>
              <a:rPr lang="en-US" sz="800" i="1" dirty="0">
                <a:solidFill>
                  <a:srgbClr val="7A9BB5"/>
                </a:solidFill>
                <a:latin typeface="Calibri" pitchFamily="34" charset="0"/>
                <a:ea typeface="Calibri" pitchFamily="34" charset="-122"/>
                <a:cs typeface="Calibri" pitchFamily="34" charset="-120"/>
              </a:rPr>
              <a:t>Primary conversion offer for all inbound and outbound motions</a:t>
            </a:r>
            <a:endParaRPr lang="en-US" sz="800" dirty="0"/>
          </a:p>
        </p:txBody>
      </p:sp>
      <p:sp>
        <p:nvSpPr>
          <p:cNvPr id="13" name="Shape 11"/>
          <p:cNvSpPr/>
          <p:nvPr/>
        </p:nvSpPr>
        <p:spPr>
          <a:xfrm>
            <a:off x="3090672" y="1508760"/>
            <a:ext cx="2816352" cy="3429000"/>
          </a:xfrm>
          <a:prstGeom prst="roundRect">
            <a:avLst>
              <a:gd name="adj" fmla="val 3247"/>
            </a:avLst>
          </a:prstGeom>
          <a:solidFill>
            <a:srgbClr val="243557"/>
          </a:solidFill>
          <a:ln w="12700">
            <a:solidFill>
              <a:srgbClr val="3A5070"/>
            </a:solidFill>
            <a:prstDash val="solid"/>
          </a:ln>
          <a:effectLst>
            <a:outerShdw blurRad="101600" dist="38100" dir="2700000" algn="bl" rotWithShape="0">
              <a:srgbClr val="000000">
                <a:alpha val="10000"/>
              </a:srgbClr>
            </a:outerShdw>
          </a:effectLst>
        </p:spPr>
        <p:txBody>
          <a:bodyPr/>
          <a:lstStyle/>
          <a:p>
            <a:endParaRPr lang="en-US"/>
          </a:p>
        </p:txBody>
      </p:sp>
      <p:sp>
        <p:nvSpPr>
          <p:cNvPr id="14" name="Text 12"/>
          <p:cNvSpPr/>
          <p:nvPr/>
        </p:nvSpPr>
        <p:spPr>
          <a:xfrm>
            <a:off x="3255264" y="1627632"/>
            <a:ext cx="502920" cy="411480"/>
          </a:xfrm>
          <a:prstGeom prst="rect">
            <a:avLst/>
          </a:prstGeom>
          <a:noFill/>
          <a:ln/>
        </p:spPr>
        <p:txBody>
          <a:bodyPr wrap="square" lIns="0" tIns="0" rIns="0" bIns="0" rtlCol="0" anchor="ctr"/>
          <a:lstStyle/>
          <a:p>
            <a:pPr marL="0" indent="0">
              <a:buNone/>
            </a:pPr>
            <a:r>
              <a:rPr lang="en-US" sz="2200" b="1" dirty="0">
                <a:solidFill>
                  <a:srgbClr val="0D7B8A"/>
                </a:solidFill>
                <a:latin typeface="Cambria" pitchFamily="34" charset="0"/>
                <a:ea typeface="Cambria" pitchFamily="34" charset="-122"/>
                <a:cs typeface="Cambria" pitchFamily="34" charset="-120"/>
              </a:rPr>
              <a:t>02</a:t>
            </a:r>
            <a:endParaRPr lang="en-US" sz="2200" dirty="0"/>
          </a:p>
        </p:txBody>
      </p:sp>
      <p:sp>
        <p:nvSpPr>
          <p:cNvPr id="15" name="Shape 13"/>
          <p:cNvSpPr/>
          <p:nvPr/>
        </p:nvSpPr>
        <p:spPr>
          <a:xfrm>
            <a:off x="3255264" y="2010325"/>
            <a:ext cx="2487168" cy="237744"/>
          </a:xfrm>
          <a:prstGeom prst="roundRect">
            <a:avLst>
              <a:gd name="adj" fmla="val 15385"/>
            </a:avLst>
          </a:prstGeom>
          <a:solidFill>
            <a:srgbClr val="D97706"/>
          </a:solidFill>
          <a:ln w="12700">
            <a:solidFill>
              <a:srgbClr val="D97706"/>
            </a:solidFill>
            <a:prstDash val="solid"/>
          </a:ln>
        </p:spPr>
        <p:txBody>
          <a:bodyPr/>
          <a:lstStyle/>
          <a:p>
            <a:endParaRPr lang="en-US"/>
          </a:p>
        </p:txBody>
      </p:sp>
      <p:sp>
        <p:nvSpPr>
          <p:cNvPr id="16" name="Text 14"/>
          <p:cNvSpPr/>
          <p:nvPr/>
        </p:nvSpPr>
        <p:spPr>
          <a:xfrm>
            <a:off x="3255264" y="2010325"/>
            <a:ext cx="2487168" cy="237744"/>
          </a:xfrm>
          <a:prstGeom prst="rect">
            <a:avLst/>
          </a:prstGeom>
          <a:noFill/>
          <a:ln/>
        </p:spPr>
        <p:txBody>
          <a:bodyPr wrap="square" lIns="0" tIns="0" rIns="0" bIns="0" rtlCol="0" anchor="ctr"/>
          <a:lstStyle/>
          <a:p>
            <a:pPr marL="0" indent="0" algn="ctr">
              <a:buNone/>
            </a:pPr>
            <a:r>
              <a:rPr lang="en-US" sz="800" b="1" dirty="0">
                <a:solidFill>
                  <a:srgbClr val="1B2A4A"/>
                </a:solidFill>
                <a:latin typeface="Calibri" pitchFamily="34" charset="0"/>
                <a:ea typeface="Calibri" pitchFamily="34" charset="-122"/>
                <a:cs typeface="Calibri" pitchFamily="34" charset="-120"/>
              </a:rPr>
              <a:t>$0 PILOT FOR QUALIFIED ACCOUNTS</a:t>
            </a:r>
            <a:endParaRPr lang="en-US" sz="800" dirty="0"/>
          </a:p>
        </p:txBody>
      </p:sp>
      <p:sp>
        <p:nvSpPr>
          <p:cNvPr id="17" name="Text 15"/>
          <p:cNvSpPr/>
          <p:nvPr/>
        </p:nvSpPr>
        <p:spPr>
          <a:xfrm>
            <a:off x="3255264" y="2212848"/>
            <a:ext cx="2487168" cy="566928"/>
          </a:xfrm>
          <a:prstGeom prst="rect">
            <a:avLst/>
          </a:prstGeom>
          <a:noFill/>
          <a:ln/>
        </p:spPr>
        <p:txBody>
          <a:bodyPr wrap="square" lIns="0" tIns="0" rIns="0" bIns="0" rtlCol="0" anchor="ctr"/>
          <a:lstStyle/>
          <a:p>
            <a:pPr marL="0" indent="0">
              <a:lnSpc>
                <a:spcPct val="115000"/>
              </a:lnSpc>
              <a:buNone/>
            </a:pPr>
            <a:r>
              <a:rPr lang="en-US" sz="1350" b="1" dirty="0">
                <a:solidFill>
                  <a:srgbClr val="FFFFFF"/>
                </a:solidFill>
                <a:latin typeface="Calibri" pitchFamily="34" charset="0"/>
                <a:ea typeface="Calibri" pitchFamily="34" charset="-122"/>
                <a:cs typeface="Calibri" pitchFamily="34" charset="-120"/>
              </a:rPr>
              <a:t>30-Day Pilot Program</a:t>
            </a:r>
            <a:endParaRPr lang="en-US" sz="1350" dirty="0"/>
          </a:p>
        </p:txBody>
      </p:sp>
      <p:sp>
        <p:nvSpPr>
          <p:cNvPr id="18" name="Text 16"/>
          <p:cNvSpPr/>
          <p:nvPr/>
        </p:nvSpPr>
        <p:spPr>
          <a:xfrm>
            <a:off x="3255264" y="2834640"/>
            <a:ext cx="2487168" cy="1417320"/>
          </a:xfrm>
          <a:prstGeom prst="rect">
            <a:avLst/>
          </a:prstGeom>
          <a:noFill/>
          <a:ln/>
        </p:spPr>
        <p:txBody>
          <a:bodyPr wrap="square" lIns="0" tIns="0" rIns="0" bIns="0" rtlCol="0" anchor="ctr"/>
          <a:lstStyle/>
          <a:p>
            <a:pPr marL="0" indent="0">
              <a:lnSpc>
                <a:spcPct val="130000"/>
              </a:lnSpc>
              <a:buNone/>
            </a:pPr>
            <a:r>
              <a:rPr lang="en-US" sz="950" dirty="0">
                <a:solidFill>
                  <a:srgbClr val="C9DDE8"/>
                </a:solidFill>
                <a:latin typeface="Calibri" pitchFamily="34" charset="0"/>
                <a:ea typeface="Calibri" pitchFamily="34" charset="-122"/>
                <a:cs typeface="Calibri" pitchFamily="34" charset="-120"/>
              </a:rPr>
              <a:t>Full AgentOps deployment on 5 production agents. Complete governance dashboard. Regulatory report template. ROI measurement framework.</a:t>
            </a:r>
            <a:endParaRPr lang="en-US" sz="950" dirty="0"/>
          </a:p>
          <a:p>
            <a:pPr marL="0" indent="0">
              <a:lnSpc>
                <a:spcPct val="130000"/>
              </a:lnSpc>
              <a:buNone/>
            </a:pPr>
            <a:endParaRPr lang="en-US" sz="950" dirty="0"/>
          </a:p>
          <a:p>
            <a:pPr marL="0" indent="0">
              <a:lnSpc>
                <a:spcPct val="130000"/>
              </a:lnSpc>
              <a:buNone/>
            </a:pPr>
            <a:r>
              <a:rPr lang="en-US" sz="950" dirty="0">
                <a:solidFill>
                  <a:srgbClr val="C9DDE8"/>
                </a:solidFill>
                <a:latin typeface="Calibri" pitchFamily="34" charset="0"/>
                <a:ea typeface="Calibri" pitchFamily="34" charset="-122"/>
                <a:cs typeface="Calibri" pitchFamily="34" charset="-120"/>
              </a:rPr>
              <a:t>Success metrics defined upfront. No surprise costs.</a:t>
            </a:r>
            <a:endParaRPr lang="en-US" sz="950" dirty="0"/>
          </a:p>
        </p:txBody>
      </p:sp>
      <p:sp>
        <p:nvSpPr>
          <p:cNvPr id="19" name="Shape 17"/>
          <p:cNvSpPr/>
          <p:nvPr/>
        </p:nvSpPr>
        <p:spPr>
          <a:xfrm>
            <a:off x="3255264" y="4297680"/>
            <a:ext cx="2487168" cy="18288"/>
          </a:xfrm>
          <a:prstGeom prst="rect">
            <a:avLst/>
          </a:prstGeom>
          <a:solidFill>
            <a:srgbClr val="0D7B8A"/>
          </a:solidFill>
          <a:ln w="12700">
            <a:solidFill>
              <a:srgbClr val="0D7B8A"/>
            </a:solidFill>
            <a:prstDash val="solid"/>
          </a:ln>
        </p:spPr>
        <p:txBody>
          <a:bodyPr/>
          <a:lstStyle/>
          <a:p>
            <a:endParaRPr lang="en-US"/>
          </a:p>
        </p:txBody>
      </p:sp>
      <p:sp>
        <p:nvSpPr>
          <p:cNvPr id="20" name="Text 18"/>
          <p:cNvSpPr/>
          <p:nvPr/>
        </p:nvSpPr>
        <p:spPr>
          <a:xfrm>
            <a:off x="3255264" y="4352544"/>
            <a:ext cx="2487168" cy="219456"/>
          </a:xfrm>
          <a:prstGeom prst="rect">
            <a:avLst/>
          </a:prstGeom>
          <a:noFill/>
          <a:ln/>
        </p:spPr>
        <p:txBody>
          <a:bodyPr wrap="square" lIns="0" tIns="0" rIns="0" bIns="0" rtlCol="0" anchor="ctr"/>
          <a:lstStyle/>
          <a:p>
            <a:pPr marL="0" indent="0">
              <a:buNone/>
            </a:pPr>
            <a:r>
              <a:rPr lang="en-US" sz="950" b="1" dirty="0">
                <a:solidFill>
                  <a:srgbClr val="0D7B8A"/>
                </a:solidFill>
                <a:latin typeface="Calibri" pitchFamily="34" charset="0"/>
                <a:ea typeface="Calibri" pitchFamily="34" charset="-122"/>
                <a:cs typeface="Calibri" pitchFamily="34" charset="-120"/>
              </a:rPr>
              <a:t>Talk to your Account Executive</a:t>
            </a:r>
            <a:endParaRPr lang="en-US" sz="950" dirty="0"/>
          </a:p>
        </p:txBody>
      </p:sp>
      <p:sp>
        <p:nvSpPr>
          <p:cNvPr id="21" name="Text 19"/>
          <p:cNvSpPr/>
          <p:nvPr/>
        </p:nvSpPr>
        <p:spPr>
          <a:xfrm>
            <a:off x="3255264" y="4617720"/>
            <a:ext cx="2487168" cy="256032"/>
          </a:xfrm>
          <a:prstGeom prst="rect">
            <a:avLst/>
          </a:prstGeom>
          <a:noFill/>
          <a:ln/>
        </p:spPr>
        <p:txBody>
          <a:bodyPr wrap="square" lIns="0" tIns="0" rIns="0" bIns="0" rtlCol="0" anchor="ctr"/>
          <a:lstStyle/>
          <a:p>
            <a:pPr marL="0" indent="0">
              <a:lnSpc>
                <a:spcPct val="110000"/>
              </a:lnSpc>
              <a:buNone/>
            </a:pPr>
            <a:r>
              <a:rPr lang="en-US" sz="800" i="1" dirty="0">
                <a:solidFill>
                  <a:srgbClr val="7A9BB5"/>
                </a:solidFill>
                <a:latin typeface="Calibri" pitchFamily="34" charset="0"/>
                <a:ea typeface="Calibri" pitchFamily="34" charset="-122"/>
                <a:cs typeface="Calibri" pitchFamily="34" charset="-120"/>
              </a:rPr>
              <a:t>Primary path for accounts already running agents in production</a:t>
            </a:r>
            <a:endParaRPr lang="en-US" sz="800" dirty="0"/>
          </a:p>
        </p:txBody>
      </p:sp>
      <p:sp>
        <p:nvSpPr>
          <p:cNvPr id="22" name="Shape 20"/>
          <p:cNvSpPr/>
          <p:nvPr/>
        </p:nvSpPr>
        <p:spPr>
          <a:xfrm>
            <a:off x="5715000" y="1508760"/>
            <a:ext cx="2816352" cy="3429000"/>
          </a:xfrm>
          <a:prstGeom prst="roundRect">
            <a:avLst>
              <a:gd name="adj" fmla="val 3247"/>
            </a:avLst>
          </a:prstGeom>
          <a:solidFill>
            <a:srgbClr val="243557"/>
          </a:solidFill>
          <a:ln w="12700">
            <a:solidFill>
              <a:srgbClr val="3A5070"/>
            </a:solidFill>
            <a:prstDash val="solid"/>
          </a:ln>
          <a:effectLst>
            <a:outerShdw blurRad="101600" dist="38100" dir="2700000" algn="bl" rotWithShape="0">
              <a:srgbClr val="000000">
                <a:alpha val="10000"/>
              </a:srgbClr>
            </a:outerShdw>
          </a:effectLst>
        </p:spPr>
        <p:txBody>
          <a:bodyPr/>
          <a:lstStyle/>
          <a:p>
            <a:endParaRPr lang="en-US"/>
          </a:p>
        </p:txBody>
      </p:sp>
      <p:sp>
        <p:nvSpPr>
          <p:cNvPr id="23" name="Text 21"/>
          <p:cNvSpPr/>
          <p:nvPr/>
        </p:nvSpPr>
        <p:spPr>
          <a:xfrm>
            <a:off x="5879592" y="1627632"/>
            <a:ext cx="502920" cy="411480"/>
          </a:xfrm>
          <a:prstGeom prst="rect">
            <a:avLst/>
          </a:prstGeom>
          <a:noFill/>
          <a:ln/>
        </p:spPr>
        <p:txBody>
          <a:bodyPr wrap="square" lIns="0" tIns="0" rIns="0" bIns="0" rtlCol="0" anchor="ctr"/>
          <a:lstStyle/>
          <a:p>
            <a:pPr marL="0" indent="0">
              <a:buNone/>
            </a:pPr>
            <a:r>
              <a:rPr lang="en-US" sz="2200" b="1" dirty="0">
                <a:solidFill>
                  <a:srgbClr val="0D7B8A"/>
                </a:solidFill>
                <a:latin typeface="Cambria" pitchFamily="34" charset="0"/>
                <a:ea typeface="Cambria" pitchFamily="34" charset="-122"/>
                <a:cs typeface="Cambria" pitchFamily="34" charset="-120"/>
              </a:rPr>
              <a:t>03</a:t>
            </a:r>
            <a:endParaRPr lang="en-US" sz="2200" dirty="0"/>
          </a:p>
        </p:txBody>
      </p:sp>
      <p:sp>
        <p:nvSpPr>
          <p:cNvPr id="24" name="Shape 22"/>
          <p:cNvSpPr/>
          <p:nvPr/>
        </p:nvSpPr>
        <p:spPr>
          <a:xfrm>
            <a:off x="5879592" y="2010325"/>
            <a:ext cx="2487168" cy="237744"/>
          </a:xfrm>
          <a:prstGeom prst="roundRect">
            <a:avLst>
              <a:gd name="adj" fmla="val 15385"/>
            </a:avLst>
          </a:prstGeom>
          <a:solidFill>
            <a:srgbClr val="C9DDE8">
              <a:alpha val="70000"/>
            </a:srgbClr>
          </a:solidFill>
          <a:ln w="12700">
            <a:solidFill>
              <a:srgbClr val="C9DDE8"/>
            </a:solidFill>
            <a:prstDash val="solid"/>
          </a:ln>
        </p:spPr>
        <p:txBody>
          <a:bodyPr/>
          <a:lstStyle/>
          <a:p>
            <a:endParaRPr lang="en-US"/>
          </a:p>
        </p:txBody>
      </p:sp>
      <p:sp>
        <p:nvSpPr>
          <p:cNvPr id="25" name="Text 23"/>
          <p:cNvSpPr/>
          <p:nvPr/>
        </p:nvSpPr>
        <p:spPr>
          <a:xfrm>
            <a:off x="5879592" y="2010325"/>
            <a:ext cx="2487168" cy="237744"/>
          </a:xfrm>
          <a:prstGeom prst="rect">
            <a:avLst/>
          </a:prstGeom>
          <a:noFill/>
          <a:ln/>
        </p:spPr>
        <p:txBody>
          <a:bodyPr wrap="square" lIns="0" tIns="0" rIns="0" bIns="0" rtlCol="0" anchor="ctr"/>
          <a:lstStyle/>
          <a:p>
            <a:pPr marL="0" indent="0" algn="ctr">
              <a:buNone/>
            </a:pPr>
            <a:r>
              <a:rPr lang="en-US" sz="800" b="1" dirty="0">
                <a:solidFill>
                  <a:srgbClr val="1B2A4A"/>
                </a:solidFill>
                <a:latin typeface="Calibri" pitchFamily="34" charset="0"/>
                <a:ea typeface="Calibri" pitchFamily="34" charset="-122"/>
                <a:cs typeface="Calibri" pitchFamily="34" charset="-120"/>
              </a:rPr>
              <a:t>$180K – $450K ARR</a:t>
            </a:r>
            <a:endParaRPr lang="en-US" sz="800" dirty="0"/>
          </a:p>
        </p:txBody>
      </p:sp>
      <p:sp>
        <p:nvSpPr>
          <p:cNvPr id="26" name="Text 24"/>
          <p:cNvSpPr/>
          <p:nvPr/>
        </p:nvSpPr>
        <p:spPr>
          <a:xfrm>
            <a:off x="5879592" y="2212848"/>
            <a:ext cx="2487168" cy="566928"/>
          </a:xfrm>
          <a:prstGeom prst="rect">
            <a:avLst/>
          </a:prstGeom>
          <a:noFill/>
          <a:ln/>
        </p:spPr>
        <p:txBody>
          <a:bodyPr wrap="square" lIns="0" tIns="0" rIns="0" bIns="0" rtlCol="0" anchor="ctr"/>
          <a:lstStyle/>
          <a:p>
            <a:pPr marL="0" indent="0">
              <a:lnSpc>
                <a:spcPct val="115000"/>
              </a:lnSpc>
              <a:buNone/>
            </a:pPr>
            <a:r>
              <a:rPr lang="en-US" sz="1350" b="1" dirty="0">
                <a:solidFill>
                  <a:srgbClr val="FFFFFF"/>
                </a:solidFill>
                <a:latin typeface="Calibri" pitchFamily="34" charset="0"/>
                <a:ea typeface="Calibri" pitchFamily="34" charset="-122"/>
                <a:cs typeface="Calibri" pitchFamily="34" charset="-120"/>
              </a:rPr>
              <a:t>Enterprise License</a:t>
            </a:r>
            <a:endParaRPr lang="en-US" sz="1350" dirty="0"/>
          </a:p>
        </p:txBody>
      </p:sp>
      <p:sp>
        <p:nvSpPr>
          <p:cNvPr id="27" name="Text 25"/>
          <p:cNvSpPr/>
          <p:nvPr/>
        </p:nvSpPr>
        <p:spPr>
          <a:xfrm>
            <a:off x="5879592" y="2834640"/>
            <a:ext cx="2487168" cy="1417320"/>
          </a:xfrm>
          <a:prstGeom prst="rect">
            <a:avLst/>
          </a:prstGeom>
          <a:noFill/>
          <a:ln/>
        </p:spPr>
        <p:txBody>
          <a:bodyPr wrap="square" lIns="0" tIns="0" rIns="0" bIns="0" rtlCol="0" anchor="ctr"/>
          <a:lstStyle/>
          <a:p>
            <a:pPr marL="0" indent="0">
              <a:lnSpc>
                <a:spcPct val="130000"/>
              </a:lnSpc>
              <a:buNone/>
            </a:pPr>
            <a:r>
              <a:rPr lang="en-US" sz="950" dirty="0">
                <a:solidFill>
                  <a:srgbClr val="C9DDE8"/>
                </a:solidFill>
                <a:latin typeface="Calibri" pitchFamily="34" charset="0"/>
                <a:ea typeface="Calibri" pitchFamily="34" charset="-122"/>
                <a:cs typeface="Calibri" pitchFamily="34" charset="-120"/>
              </a:rPr>
              <a:t>Full platform. Unlimited agents. Dedicated customer success. SLA guarantees. Custom compliance templates for your regulatory environment.</a:t>
            </a:r>
            <a:endParaRPr lang="en-US" sz="950" dirty="0"/>
          </a:p>
          <a:p>
            <a:pPr marL="0" indent="0">
              <a:lnSpc>
                <a:spcPct val="130000"/>
              </a:lnSpc>
              <a:buNone/>
            </a:pPr>
            <a:endParaRPr lang="en-US" sz="950" dirty="0"/>
          </a:p>
          <a:p>
            <a:pPr marL="0" indent="0">
              <a:lnSpc>
                <a:spcPct val="130000"/>
              </a:lnSpc>
              <a:buNone/>
            </a:pPr>
            <a:r>
              <a:rPr lang="en-US" sz="950" dirty="0">
                <a:solidFill>
                  <a:srgbClr val="C9DDE8"/>
                </a:solidFill>
                <a:latin typeface="Calibri" pitchFamily="34" charset="0"/>
                <a:ea typeface="Calibri" pitchFamily="34" charset="-122"/>
                <a:cs typeface="Calibri" pitchFamily="34" charset="-120"/>
              </a:rPr>
              <a:t>Typical sales cycle: 60-90 days from pilot completion.</a:t>
            </a:r>
            <a:endParaRPr lang="en-US" sz="950" dirty="0"/>
          </a:p>
        </p:txBody>
      </p:sp>
      <p:sp>
        <p:nvSpPr>
          <p:cNvPr id="28" name="Shape 26"/>
          <p:cNvSpPr/>
          <p:nvPr/>
        </p:nvSpPr>
        <p:spPr>
          <a:xfrm>
            <a:off x="5879592" y="4297680"/>
            <a:ext cx="2487168" cy="18288"/>
          </a:xfrm>
          <a:prstGeom prst="rect">
            <a:avLst/>
          </a:prstGeom>
          <a:solidFill>
            <a:srgbClr val="0D7B8A"/>
          </a:solidFill>
          <a:ln w="12700">
            <a:solidFill>
              <a:srgbClr val="0D7B8A"/>
            </a:solidFill>
            <a:prstDash val="solid"/>
          </a:ln>
        </p:spPr>
        <p:txBody>
          <a:bodyPr/>
          <a:lstStyle/>
          <a:p>
            <a:endParaRPr lang="en-US"/>
          </a:p>
        </p:txBody>
      </p:sp>
      <p:sp>
        <p:nvSpPr>
          <p:cNvPr id="29" name="Text 27"/>
          <p:cNvSpPr/>
          <p:nvPr/>
        </p:nvSpPr>
        <p:spPr>
          <a:xfrm>
            <a:off x="5879592" y="4352544"/>
            <a:ext cx="2487168" cy="219456"/>
          </a:xfrm>
          <a:prstGeom prst="rect">
            <a:avLst/>
          </a:prstGeom>
          <a:noFill/>
          <a:ln/>
        </p:spPr>
        <p:txBody>
          <a:bodyPr wrap="square" lIns="0" tIns="0" rIns="0" bIns="0" rtlCol="0" anchor="ctr"/>
          <a:lstStyle/>
          <a:p>
            <a:pPr marL="0" indent="0">
              <a:buNone/>
            </a:pPr>
            <a:r>
              <a:rPr lang="en-US" sz="950" b="1" dirty="0">
                <a:solidFill>
                  <a:srgbClr val="0D7B8A"/>
                </a:solidFill>
                <a:latin typeface="Calibri" pitchFamily="34" charset="0"/>
                <a:ea typeface="Calibri" pitchFamily="34" charset="-122"/>
                <a:cs typeface="Calibri" pitchFamily="34" charset="-120"/>
              </a:rPr>
              <a:t>Contact Enterprise Sales</a:t>
            </a:r>
            <a:endParaRPr lang="en-US" sz="950" dirty="0"/>
          </a:p>
        </p:txBody>
      </p:sp>
      <p:sp>
        <p:nvSpPr>
          <p:cNvPr id="30" name="Text 28"/>
          <p:cNvSpPr/>
          <p:nvPr/>
        </p:nvSpPr>
        <p:spPr>
          <a:xfrm>
            <a:off x="5879592" y="4617720"/>
            <a:ext cx="2487168" cy="256032"/>
          </a:xfrm>
          <a:prstGeom prst="rect">
            <a:avLst/>
          </a:prstGeom>
          <a:noFill/>
          <a:ln/>
        </p:spPr>
        <p:txBody>
          <a:bodyPr wrap="square" lIns="0" tIns="0" rIns="0" bIns="0" rtlCol="0" anchor="ctr"/>
          <a:lstStyle/>
          <a:p>
            <a:pPr marL="0" indent="0">
              <a:lnSpc>
                <a:spcPct val="110000"/>
              </a:lnSpc>
              <a:buNone/>
            </a:pPr>
            <a:r>
              <a:rPr lang="en-US" sz="800" i="1" dirty="0">
                <a:solidFill>
                  <a:srgbClr val="7A9BB5"/>
                </a:solidFill>
                <a:latin typeface="Calibri" pitchFamily="34" charset="0"/>
                <a:ea typeface="Calibri" pitchFamily="34" charset="-122"/>
                <a:cs typeface="Calibri" pitchFamily="34" charset="-120"/>
              </a:rPr>
              <a:t>Ideal committee: CRO/CCO champion + CIO economic buyer</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75488"/>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Q1 Launch Timeline</a:t>
            </a:r>
            <a:endParaRPr lang="en-US" sz="2800" dirty="0"/>
          </a:p>
        </p:txBody>
      </p:sp>
      <p:sp>
        <p:nvSpPr>
          <p:cNvPr id="3" name="Text 1"/>
          <p:cNvSpPr/>
          <p:nvPr/>
        </p:nvSpPr>
        <p:spPr>
          <a:xfrm>
            <a:off x="457200" y="758952"/>
            <a:ext cx="8229600" cy="274320"/>
          </a:xfrm>
          <a:prstGeom prst="rect">
            <a:avLst/>
          </a:prstGeom>
          <a:noFill/>
          <a:ln/>
        </p:spPr>
        <p:txBody>
          <a:bodyPr wrap="square" lIns="0" tIns="0" rIns="0" bIns="0" rtlCol="0" anchor="ctr"/>
          <a:lstStyle/>
          <a:p>
            <a:pPr marL="0" indent="0">
              <a:buNone/>
            </a:pPr>
            <a:r>
              <a:rPr lang="en-US" sz="1300" i="1" dirty="0">
                <a:solidFill>
                  <a:srgbClr val="6B7A8D"/>
                </a:solidFill>
                <a:latin typeface="Calibri" pitchFamily="34" charset="0"/>
                <a:ea typeface="Calibri" pitchFamily="34" charset="-122"/>
                <a:cs typeface="Calibri" pitchFamily="34" charset="-120"/>
              </a:rPr>
              <a:t>90 days. Three phases. One campaign objective: 200 enterprise SQLs.</a:t>
            </a:r>
            <a:endParaRPr lang="en-US" sz="1300" dirty="0"/>
          </a:p>
        </p:txBody>
      </p:sp>
      <p:sp>
        <p:nvSpPr>
          <p:cNvPr id="4" name="Shape 2"/>
          <p:cNvSpPr/>
          <p:nvPr/>
        </p:nvSpPr>
        <p:spPr>
          <a:xfrm>
            <a:off x="213361" y="1234440"/>
            <a:ext cx="2651760" cy="457200"/>
          </a:xfrm>
          <a:prstGeom prst="rect">
            <a:avLst/>
          </a:prstGeom>
          <a:solidFill>
            <a:srgbClr val="1B2A4A"/>
          </a:solidFill>
          <a:ln w="12700">
            <a:solidFill>
              <a:srgbClr val="1B2A4A"/>
            </a:solidFill>
            <a:prstDash val="solid"/>
          </a:ln>
        </p:spPr>
        <p:txBody>
          <a:bodyPr/>
          <a:lstStyle/>
          <a:p>
            <a:endParaRPr lang="en-US"/>
          </a:p>
        </p:txBody>
      </p:sp>
      <p:sp>
        <p:nvSpPr>
          <p:cNvPr id="5" name="Text 3"/>
          <p:cNvSpPr/>
          <p:nvPr/>
        </p:nvSpPr>
        <p:spPr>
          <a:xfrm>
            <a:off x="286513" y="1261872"/>
            <a:ext cx="2505456"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Phase 1: Launch Activation</a:t>
            </a:r>
            <a:endParaRPr lang="en-US" sz="950" dirty="0"/>
          </a:p>
        </p:txBody>
      </p:sp>
      <p:sp>
        <p:nvSpPr>
          <p:cNvPr id="6" name="Text 4"/>
          <p:cNvSpPr/>
          <p:nvPr/>
        </p:nvSpPr>
        <p:spPr>
          <a:xfrm>
            <a:off x="286513" y="1472184"/>
            <a:ext cx="2505456" cy="164592"/>
          </a:xfrm>
          <a:prstGeom prst="rect">
            <a:avLst/>
          </a:prstGeom>
          <a:noFill/>
          <a:ln/>
        </p:spPr>
        <p:txBody>
          <a:bodyPr wrap="square" lIns="0" tIns="0" rIns="0" bIns="0" rtlCol="0" anchor="ctr"/>
          <a:lstStyle/>
          <a:p>
            <a:pPr marL="0" indent="0">
              <a:buNone/>
            </a:pPr>
            <a:r>
              <a:rPr lang="en-US" sz="800" dirty="0">
                <a:solidFill>
                  <a:srgbClr val="C9DDE8"/>
                </a:solidFill>
                <a:latin typeface="Calibri" pitchFamily="34" charset="0"/>
                <a:ea typeface="Calibri" pitchFamily="34" charset="-122"/>
                <a:cs typeface="Calibri" pitchFamily="34" charset="-120"/>
              </a:rPr>
              <a:t>Weeks 1–3</a:t>
            </a:r>
            <a:endParaRPr lang="en-US" sz="800" dirty="0"/>
          </a:p>
        </p:txBody>
      </p:sp>
      <p:sp>
        <p:nvSpPr>
          <p:cNvPr id="7" name="Shape 5"/>
          <p:cNvSpPr/>
          <p:nvPr/>
        </p:nvSpPr>
        <p:spPr>
          <a:xfrm>
            <a:off x="2910841" y="1234440"/>
            <a:ext cx="3246120" cy="457200"/>
          </a:xfrm>
          <a:prstGeom prst="rect">
            <a:avLst/>
          </a:prstGeom>
          <a:solidFill>
            <a:srgbClr val="0D7B8A"/>
          </a:solidFill>
          <a:ln w="12700">
            <a:solidFill>
              <a:srgbClr val="0D7B8A"/>
            </a:solidFill>
            <a:prstDash val="solid"/>
          </a:ln>
        </p:spPr>
        <p:txBody>
          <a:bodyPr/>
          <a:lstStyle/>
          <a:p>
            <a:endParaRPr lang="en-US"/>
          </a:p>
        </p:txBody>
      </p:sp>
      <p:sp>
        <p:nvSpPr>
          <p:cNvPr id="8" name="Text 6"/>
          <p:cNvSpPr/>
          <p:nvPr/>
        </p:nvSpPr>
        <p:spPr>
          <a:xfrm>
            <a:off x="2983993" y="1261872"/>
            <a:ext cx="3099816"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Phase 2: Demand Generation</a:t>
            </a:r>
            <a:endParaRPr lang="en-US" sz="950" dirty="0"/>
          </a:p>
        </p:txBody>
      </p:sp>
      <p:sp>
        <p:nvSpPr>
          <p:cNvPr id="9" name="Text 7"/>
          <p:cNvSpPr/>
          <p:nvPr/>
        </p:nvSpPr>
        <p:spPr>
          <a:xfrm>
            <a:off x="2983993" y="1472184"/>
            <a:ext cx="3099816" cy="164592"/>
          </a:xfrm>
          <a:prstGeom prst="rect">
            <a:avLst/>
          </a:prstGeom>
          <a:noFill/>
          <a:ln/>
        </p:spPr>
        <p:txBody>
          <a:bodyPr wrap="square" lIns="0" tIns="0" rIns="0" bIns="0" rtlCol="0" anchor="ctr"/>
          <a:lstStyle/>
          <a:p>
            <a:pPr marL="0" indent="0">
              <a:buNone/>
            </a:pPr>
            <a:r>
              <a:rPr lang="en-US" sz="800" dirty="0">
                <a:solidFill>
                  <a:srgbClr val="C9DDE8"/>
                </a:solidFill>
                <a:latin typeface="Calibri" pitchFamily="34" charset="0"/>
                <a:ea typeface="Calibri" pitchFamily="34" charset="-122"/>
                <a:cs typeface="Calibri" pitchFamily="34" charset="-120"/>
              </a:rPr>
              <a:t>Weeks 4–8</a:t>
            </a:r>
            <a:endParaRPr lang="en-US" sz="800" dirty="0"/>
          </a:p>
        </p:txBody>
      </p:sp>
      <p:sp>
        <p:nvSpPr>
          <p:cNvPr id="10" name="Shape 8"/>
          <p:cNvSpPr/>
          <p:nvPr/>
        </p:nvSpPr>
        <p:spPr>
          <a:xfrm>
            <a:off x="6202681" y="1234440"/>
            <a:ext cx="2331720" cy="457200"/>
          </a:xfrm>
          <a:prstGeom prst="rect">
            <a:avLst/>
          </a:prstGeom>
          <a:solidFill>
            <a:srgbClr val="1A5276"/>
          </a:solidFill>
          <a:ln w="12700">
            <a:solidFill>
              <a:srgbClr val="1A5276"/>
            </a:solidFill>
            <a:prstDash val="solid"/>
          </a:ln>
        </p:spPr>
        <p:txBody>
          <a:bodyPr/>
          <a:lstStyle/>
          <a:p>
            <a:endParaRPr lang="en-US"/>
          </a:p>
        </p:txBody>
      </p:sp>
      <p:sp>
        <p:nvSpPr>
          <p:cNvPr id="11" name="Text 9"/>
          <p:cNvSpPr/>
          <p:nvPr/>
        </p:nvSpPr>
        <p:spPr>
          <a:xfrm>
            <a:off x="6275833" y="1261872"/>
            <a:ext cx="2185416"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Phase 3: Pipeline Acceleration</a:t>
            </a:r>
            <a:endParaRPr lang="en-US" sz="950" dirty="0"/>
          </a:p>
        </p:txBody>
      </p:sp>
      <p:sp>
        <p:nvSpPr>
          <p:cNvPr id="12" name="Text 10"/>
          <p:cNvSpPr/>
          <p:nvPr/>
        </p:nvSpPr>
        <p:spPr>
          <a:xfrm>
            <a:off x="6275833" y="1472184"/>
            <a:ext cx="2185416" cy="164592"/>
          </a:xfrm>
          <a:prstGeom prst="rect">
            <a:avLst/>
          </a:prstGeom>
          <a:noFill/>
          <a:ln/>
        </p:spPr>
        <p:txBody>
          <a:bodyPr wrap="square" lIns="0" tIns="0" rIns="0" bIns="0" rtlCol="0" anchor="ctr"/>
          <a:lstStyle/>
          <a:p>
            <a:pPr marL="0" indent="0">
              <a:buNone/>
            </a:pPr>
            <a:r>
              <a:rPr lang="en-US" sz="800" dirty="0">
                <a:solidFill>
                  <a:srgbClr val="C9DDE8"/>
                </a:solidFill>
                <a:latin typeface="Calibri" pitchFamily="34" charset="0"/>
                <a:ea typeface="Calibri" pitchFamily="34" charset="-122"/>
                <a:cs typeface="Calibri" pitchFamily="34" charset="-120"/>
              </a:rPr>
              <a:t>Weeks 9–13</a:t>
            </a:r>
            <a:endParaRPr lang="en-US" sz="800" dirty="0"/>
          </a:p>
        </p:txBody>
      </p:sp>
      <p:sp>
        <p:nvSpPr>
          <p:cNvPr id="13" name="Shape 11"/>
          <p:cNvSpPr/>
          <p:nvPr/>
        </p:nvSpPr>
        <p:spPr>
          <a:xfrm>
            <a:off x="213361" y="1874520"/>
            <a:ext cx="1737360" cy="621792"/>
          </a:xfrm>
          <a:prstGeom prst="roundRect">
            <a:avLst>
              <a:gd name="adj" fmla="val 8824"/>
            </a:avLst>
          </a:prstGeom>
          <a:solidFill>
            <a:srgbClr val="1B2A4A"/>
          </a:solidFill>
          <a:ln w="12700">
            <a:solidFill>
              <a:srgbClr val="1B2A4A"/>
            </a:solidFill>
            <a:prstDash val="solid"/>
          </a:ln>
        </p:spPr>
        <p:txBody>
          <a:bodyPr/>
          <a:lstStyle/>
          <a:p>
            <a:endParaRPr lang="en-US"/>
          </a:p>
        </p:txBody>
      </p:sp>
      <p:sp>
        <p:nvSpPr>
          <p:cNvPr id="14" name="Text 12"/>
          <p:cNvSpPr/>
          <p:nvPr/>
        </p:nvSpPr>
        <p:spPr>
          <a:xfrm>
            <a:off x="259081" y="1911096"/>
            <a:ext cx="1645920" cy="548640"/>
          </a:xfrm>
          <a:prstGeom prst="rect">
            <a:avLst/>
          </a:prstGeom>
          <a:noFill/>
          <a:ln/>
        </p:spPr>
        <p:txBody>
          <a:bodyPr wrap="square" lIns="0" tIns="0" rIns="0" bIns="0" rtlCol="0" anchor="ctr"/>
          <a:lstStyle/>
          <a:p>
            <a:pPr marL="0" indent="0">
              <a:lnSpc>
                <a:spcPct val="110000"/>
              </a:lnSpc>
              <a:buNone/>
            </a:pPr>
            <a:r>
              <a:rPr lang="en-US" sz="1000" b="1" dirty="0">
                <a:solidFill>
                  <a:srgbClr val="FFFFFF"/>
                </a:solidFill>
                <a:latin typeface="Calibri" pitchFamily="34" charset="0"/>
                <a:ea typeface="Calibri" pitchFamily="34" charset="-122"/>
                <a:cs typeface="Calibri" pitchFamily="34" charset="-120"/>
              </a:rPr>
              <a:t>Content &amp;</a:t>
            </a:r>
            <a:endParaRPr lang="en-US" sz="1000" dirty="0"/>
          </a:p>
          <a:p>
            <a:pPr marL="0" indent="0">
              <a:lnSpc>
                <a:spcPct val="110000"/>
              </a:lnSpc>
              <a:buNone/>
            </a:pPr>
            <a:r>
              <a:rPr lang="en-US" sz="1000" b="1" dirty="0">
                <a:solidFill>
                  <a:srgbClr val="FFFFFF"/>
                </a:solidFill>
                <a:latin typeface="Calibri" pitchFamily="34" charset="0"/>
                <a:ea typeface="Calibri" pitchFamily="34" charset="-122"/>
                <a:cs typeface="Calibri" pitchFamily="34" charset="-120"/>
              </a:rPr>
              <a:t>Messaging</a:t>
            </a:r>
            <a:endParaRPr lang="en-US" sz="1000" dirty="0"/>
          </a:p>
        </p:txBody>
      </p:sp>
      <p:sp>
        <p:nvSpPr>
          <p:cNvPr id="15" name="Shape 13"/>
          <p:cNvSpPr/>
          <p:nvPr/>
        </p:nvSpPr>
        <p:spPr>
          <a:xfrm>
            <a:off x="2042161" y="1874520"/>
            <a:ext cx="2286000" cy="621792"/>
          </a:xfrm>
          <a:prstGeom prst="rect">
            <a:avLst/>
          </a:prstGeom>
          <a:solidFill>
            <a:srgbClr val="FFFFFF"/>
          </a:solidFill>
          <a:ln w="12700">
            <a:solidFill>
              <a:srgbClr val="C9DDE8"/>
            </a:solidFill>
            <a:prstDash val="solid"/>
          </a:ln>
        </p:spPr>
        <p:txBody>
          <a:bodyPr/>
          <a:lstStyle/>
          <a:p>
            <a:endParaRPr lang="en-US"/>
          </a:p>
        </p:txBody>
      </p:sp>
      <p:sp>
        <p:nvSpPr>
          <p:cNvPr id="16" name="Text 14"/>
          <p:cNvSpPr/>
          <p:nvPr/>
        </p:nvSpPr>
        <p:spPr>
          <a:xfrm>
            <a:off x="2133601" y="1920240"/>
            <a:ext cx="2130552" cy="530352"/>
          </a:xfrm>
          <a:prstGeom prst="rect">
            <a:avLst/>
          </a:prstGeom>
          <a:noFill/>
          <a:ln/>
        </p:spPr>
        <p:txBody>
          <a:bodyPr wrap="square" lIns="0" tIns="0" rIns="0" bIns="0" rtlCol="0" anchor="ctr"/>
          <a:lstStyle/>
          <a:p>
            <a:pPr marL="0" indent="0">
              <a:lnSpc>
                <a:spcPct val="115000"/>
              </a:lnSpc>
              <a:buNone/>
            </a:pPr>
            <a:r>
              <a:rPr lang="en-US" sz="850" dirty="0">
                <a:solidFill>
                  <a:srgbClr val="4A5568"/>
                </a:solidFill>
                <a:latin typeface="Calibri" pitchFamily="34" charset="0"/>
                <a:ea typeface="Calibri" pitchFamily="34" charset="-122"/>
                <a:cs typeface="Calibri" pitchFamily="34" charset="-120"/>
              </a:rPr>
              <a:t>Finalize messaging &amp; persona content. CRO/CCO email sequences. EU AI Act urgency brief.</a:t>
            </a:r>
            <a:endParaRPr lang="en-US" sz="850" dirty="0"/>
          </a:p>
        </p:txBody>
      </p:sp>
      <p:sp>
        <p:nvSpPr>
          <p:cNvPr id="17" name="Shape 15"/>
          <p:cNvSpPr/>
          <p:nvPr/>
        </p:nvSpPr>
        <p:spPr>
          <a:xfrm>
            <a:off x="4373881" y="1874520"/>
            <a:ext cx="2286000" cy="621792"/>
          </a:xfrm>
          <a:prstGeom prst="rect">
            <a:avLst/>
          </a:prstGeom>
          <a:solidFill>
            <a:srgbClr val="E8F4F6"/>
          </a:solidFill>
          <a:ln w="12700">
            <a:solidFill>
              <a:srgbClr val="C9DDE8"/>
            </a:solidFill>
            <a:prstDash val="solid"/>
          </a:ln>
        </p:spPr>
        <p:txBody>
          <a:bodyPr/>
          <a:lstStyle/>
          <a:p>
            <a:endParaRPr lang="en-US"/>
          </a:p>
        </p:txBody>
      </p:sp>
      <p:sp>
        <p:nvSpPr>
          <p:cNvPr id="18" name="Text 16"/>
          <p:cNvSpPr/>
          <p:nvPr/>
        </p:nvSpPr>
        <p:spPr>
          <a:xfrm>
            <a:off x="4465321" y="1920240"/>
            <a:ext cx="2130552" cy="530352"/>
          </a:xfrm>
          <a:prstGeom prst="rect">
            <a:avLst/>
          </a:prstGeom>
          <a:noFill/>
          <a:ln/>
        </p:spPr>
        <p:txBody>
          <a:bodyPr wrap="square" lIns="0" tIns="0" rIns="0" bIns="0" rtlCol="0" anchor="ctr"/>
          <a:lstStyle/>
          <a:p>
            <a:pPr marL="0" indent="0">
              <a:lnSpc>
                <a:spcPct val="115000"/>
              </a:lnSpc>
              <a:buNone/>
            </a:pPr>
            <a:r>
              <a:rPr lang="en-US" sz="850" dirty="0">
                <a:solidFill>
                  <a:srgbClr val="4A5568"/>
                </a:solidFill>
                <a:latin typeface="Calibri" pitchFamily="34" charset="0"/>
                <a:ea typeface="Calibri" pitchFamily="34" charset="-122"/>
                <a:cs typeface="Calibri" pitchFamily="34" charset="-120"/>
              </a:rPr>
              <a:t>Thought leadership blog series. Webinar: AI Governance for FinServ. LinkedIn calendar active.</a:t>
            </a:r>
            <a:endParaRPr lang="en-US" sz="850" dirty="0"/>
          </a:p>
        </p:txBody>
      </p:sp>
      <p:sp>
        <p:nvSpPr>
          <p:cNvPr id="19" name="Shape 17"/>
          <p:cNvSpPr/>
          <p:nvPr/>
        </p:nvSpPr>
        <p:spPr>
          <a:xfrm>
            <a:off x="6705601" y="1874520"/>
            <a:ext cx="2286000" cy="621792"/>
          </a:xfrm>
          <a:prstGeom prst="rect">
            <a:avLst/>
          </a:prstGeom>
          <a:solidFill>
            <a:srgbClr val="EBF5FB"/>
          </a:solidFill>
          <a:ln w="12700">
            <a:solidFill>
              <a:srgbClr val="C9DDE8"/>
            </a:solidFill>
            <a:prstDash val="solid"/>
          </a:ln>
        </p:spPr>
        <p:txBody>
          <a:bodyPr/>
          <a:lstStyle/>
          <a:p>
            <a:endParaRPr lang="en-US"/>
          </a:p>
        </p:txBody>
      </p:sp>
      <p:sp>
        <p:nvSpPr>
          <p:cNvPr id="20" name="Text 18"/>
          <p:cNvSpPr/>
          <p:nvPr/>
        </p:nvSpPr>
        <p:spPr>
          <a:xfrm>
            <a:off x="6797041" y="1920240"/>
            <a:ext cx="2130552" cy="530352"/>
          </a:xfrm>
          <a:prstGeom prst="rect">
            <a:avLst/>
          </a:prstGeom>
          <a:noFill/>
          <a:ln/>
        </p:spPr>
        <p:txBody>
          <a:bodyPr wrap="square" lIns="0" tIns="0" rIns="0" bIns="0" rtlCol="0" anchor="ctr"/>
          <a:lstStyle/>
          <a:p>
            <a:pPr marL="0" indent="0">
              <a:lnSpc>
                <a:spcPct val="115000"/>
              </a:lnSpc>
              <a:buNone/>
            </a:pPr>
            <a:r>
              <a:rPr lang="en-US" sz="850" dirty="0">
                <a:solidFill>
                  <a:srgbClr val="4A5568"/>
                </a:solidFill>
                <a:latin typeface="Calibri" pitchFamily="34" charset="0"/>
                <a:ea typeface="Calibri" pitchFamily="34" charset="-122"/>
                <a:cs typeface="Calibri" pitchFamily="34" charset="-120"/>
              </a:rPr>
              <a:t>Case studies released. ROI calculator live. Competitive battle cards updated.</a:t>
            </a:r>
            <a:endParaRPr lang="en-US" sz="850" dirty="0"/>
          </a:p>
        </p:txBody>
      </p:sp>
      <p:sp>
        <p:nvSpPr>
          <p:cNvPr id="21" name="Shape 19"/>
          <p:cNvSpPr/>
          <p:nvPr/>
        </p:nvSpPr>
        <p:spPr>
          <a:xfrm>
            <a:off x="213361" y="2624328"/>
            <a:ext cx="1737360" cy="621792"/>
          </a:xfrm>
          <a:prstGeom prst="roundRect">
            <a:avLst>
              <a:gd name="adj" fmla="val 8824"/>
            </a:avLst>
          </a:prstGeom>
          <a:solidFill>
            <a:srgbClr val="1B2A4A"/>
          </a:solidFill>
          <a:ln w="12700">
            <a:solidFill>
              <a:srgbClr val="1B2A4A"/>
            </a:solidFill>
            <a:prstDash val="solid"/>
          </a:ln>
        </p:spPr>
        <p:txBody>
          <a:bodyPr/>
          <a:lstStyle/>
          <a:p>
            <a:endParaRPr lang="en-US"/>
          </a:p>
        </p:txBody>
      </p:sp>
      <p:sp>
        <p:nvSpPr>
          <p:cNvPr id="22" name="Text 20"/>
          <p:cNvSpPr/>
          <p:nvPr/>
        </p:nvSpPr>
        <p:spPr>
          <a:xfrm>
            <a:off x="259081" y="2660904"/>
            <a:ext cx="1645920" cy="548640"/>
          </a:xfrm>
          <a:prstGeom prst="rect">
            <a:avLst/>
          </a:prstGeom>
          <a:noFill/>
          <a:ln/>
        </p:spPr>
        <p:txBody>
          <a:bodyPr wrap="square" lIns="0" tIns="0" rIns="0" bIns="0" rtlCol="0" anchor="ctr"/>
          <a:lstStyle/>
          <a:p>
            <a:pPr marL="0" indent="0">
              <a:lnSpc>
                <a:spcPct val="110000"/>
              </a:lnSpc>
              <a:buNone/>
            </a:pPr>
            <a:r>
              <a:rPr lang="en-US" sz="1000" b="1" dirty="0">
                <a:solidFill>
                  <a:srgbClr val="FFFFFF"/>
                </a:solidFill>
                <a:latin typeface="Calibri" pitchFamily="34" charset="0"/>
                <a:ea typeface="Calibri" pitchFamily="34" charset="-122"/>
                <a:cs typeface="Calibri" pitchFamily="34" charset="-120"/>
              </a:rPr>
              <a:t>Demand</a:t>
            </a:r>
            <a:endParaRPr lang="en-US" sz="1000" dirty="0"/>
          </a:p>
          <a:p>
            <a:pPr marL="0" indent="0">
              <a:lnSpc>
                <a:spcPct val="110000"/>
              </a:lnSpc>
              <a:buNone/>
            </a:pPr>
            <a:r>
              <a:rPr lang="en-US" sz="1000" b="1" dirty="0">
                <a:solidFill>
                  <a:srgbClr val="FFFFFF"/>
                </a:solidFill>
                <a:latin typeface="Calibri" pitchFamily="34" charset="0"/>
                <a:ea typeface="Calibri" pitchFamily="34" charset="-122"/>
                <a:cs typeface="Calibri" pitchFamily="34" charset="-120"/>
              </a:rPr>
              <a:t>Generation</a:t>
            </a:r>
            <a:endParaRPr lang="en-US" sz="1000" dirty="0"/>
          </a:p>
        </p:txBody>
      </p:sp>
      <p:sp>
        <p:nvSpPr>
          <p:cNvPr id="23" name="Shape 21"/>
          <p:cNvSpPr/>
          <p:nvPr/>
        </p:nvSpPr>
        <p:spPr>
          <a:xfrm>
            <a:off x="2042161" y="2624328"/>
            <a:ext cx="2286000" cy="621792"/>
          </a:xfrm>
          <a:prstGeom prst="rect">
            <a:avLst/>
          </a:prstGeom>
          <a:solidFill>
            <a:srgbClr val="FFFFFF"/>
          </a:solidFill>
          <a:ln w="12700">
            <a:solidFill>
              <a:srgbClr val="C9DDE8"/>
            </a:solidFill>
            <a:prstDash val="solid"/>
          </a:ln>
        </p:spPr>
        <p:txBody>
          <a:bodyPr/>
          <a:lstStyle/>
          <a:p>
            <a:endParaRPr lang="en-US"/>
          </a:p>
        </p:txBody>
      </p:sp>
      <p:sp>
        <p:nvSpPr>
          <p:cNvPr id="24" name="Text 22"/>
          <p:cNvSpPr/>
          <p:nvPr/>
        </p:nvSpPr>
        <p:spPr>
          <a:xfrm>
            <a:off x="2133601" y="2670048"/>
            <a:ext cx="2130552" cy="530352"/>
          </a:xfrm>
          <a:prstGeom prst="rect">
            <a:avLst/>
          </a:prstGeom>
          <a:noFill/>
          <a:ln/>
        </p:spPr>
        <p:txBody>
          <a:bodyPr wrap="square" lIns="0" tIns="0" rIns="0" bIns="0" rtlCol="0" anchor="ctr"/>
          <a:lstStyle/>
          <a:p>
            <a:pPr marL="0" indent="0">
              <a:lnSpc>
                <a:spcPct val="115000"/>
              </a:lnSpc>
              <a:buNone/>
            </a:pPr>
            <a:r>
              <a:rPr lang="en-US" sz="850" dirty="0">
                <a:solidFill>
                  <a:srgbClr val="4A5568"/>
                </a:solidFill>
                <a:latin typeface="Calibri" pitchFamily="34" charset="0"/>
                <a:ea typeface="Calibri" pitchFamily="34" charset="-122"/>
                <a:cs typeface="Calibri" pitchFamily="34" charset="-120"/>
              </a:rPr>
              <a:t>LinkedIn ABM live (top 50 accounts). Assessment landing page live. SEM for EU AI Act terms.</a:t>
            </a:r>
            <a:endParaRPr lang="en-US" sz="850" dirty="0"/>
          </a:p>
        </p:txBody>
      </p:sp>
      <p:sp>
        <p:nvSpPr>
          <p:cNvPr id="25" name="Shape 23"/>
          <p:cNvSpPr/>
          <p:nvPr/>
        </p:nvSpPr>
        <p:spPr>
          <a:xfrm>
            <a:off x="4373881" y="2624328"/>
            <a:ext cx="2286000" cy="621792"/>
          </a:xfrm>
          <a:prstGeom prst="rect">
            <a:avLst/>
          </a:prstGeom>
          <a:solidFill>
            <a:srgbClr val="E8F4F6"/>
          </a:solidFill>
          <a:ln w="12700">
            <a:solidFill>
              <a:srgbClr val="C9DDE8"/>
            </a:solidFill>
            <a:prstDash val="solid"/>
          </a:ln>
        </p:spPr>
        <p:txBody>
          <a:bodyPr/>
          <a:lstStyle/>
          <a:p>
            <a:endParaRPr lang="en-US"/>
          </a:p>
        </p:txBody>
      </p:sp>
      <p:sp>
        <p:nvSpPr>
          <p:cNvPr id="26" name="Text 24"/>
          <p:cNvSpPr/>
          <p:nvPr/>
        </p:nvSpPr>
        <p:spPr>
          <a:xfrm>
            <a:off x="4465321" y="2670048"/>
            <a:ext cx="2130552" cy="530352"/>
          </a:xfrm>
          <a:prstGeom prst="rect">
            <a:avLst/>
          </a:prstGeom>
          <a:noFill/>
          <a:ln/>
        </p:spPr>
        <p:txBody>
          <a:bodyPr wrap="square" lIns="0" tIns="0" rIns="0" bIns="0" rtlCol="0" anchor="ctr"/>
          <a:lstStyle/>
          <a:p>
            <a:pPr marL="0" indent="0">
              <a:lnSpc>
                <a:spcPct val="115000"/>
              </a:lnSpc>
              <a:buNone/>
            </a:pPr>
            <a:r>
              <a:rPr lang="en-US" sz="850" dirty="0">
                <a:solidFill>
                  <a:srgbClr val="4A5568"/>
                </a:solidFill>
                <a:latin typeface="Calibri" pitchFamily="34" charset="0"/>
                <a:ea typeface="Calibri" pitchFamily="34" charset="-122"/>
                <a:cs typeface="Calibri" pitchFamily="34" charset="-120"/>
              </a:rPr>
              <a:t>Executive roundtables: NYC, London, Singapore. Co-marketing activated. Intent data campaigns.</a:t>
            </a:r>
            <a:endParaRPr lang="en-US" sz="850" dirty="0"/>
          </a:p>
        </p:txBody>
      </p:sp>
      <p:sp>
        <p:nvSpPr>
          <p:cNvPr id="27" name="Shape 25"/>
          <p:cNvSpPr/>
          <p:nvPr/>
        </p:nvSpPr>
        <p:spPr>
          <a:xfrm>
            <a:off x="6705601" y="2624328"/>
            <a:ext cx="2286000" cy="621792"/>
          </a:xfrm>
          <a:prstGeom prst="rect">
            <a:avLst/>
          </a:prstGeom>
          <a:solidFill>
            <a:srgbClr val="EBF5FB"/>
          </a:solidFill>
          <a:ln w="12700">
            <a:solidFill>
              <a:srgbClr val="C9DDE8"/>
            </a:solidFill>
            <a:prstDash val="solid"/>
          </a:ln>
        </p:spPr>
        <p:txBody>
          <a:bodyPr/>
          <a:lstStyle/>
          <a:p>
            <a:endParaRPr lang="en-US"/>
          </a:p>
        </p:txBody>
      </p:sp>
      <p:sp>
        <p:nvSpPr>
          <p:cNvPr id="28" name="Text 26"/>
          <p:cNvSpPr/>
          <p:nvPr/>
        </p:nvSpPr>
        <p:spPr>
          <a:xfrm>
            <a:off x="6797041" y="2670048"/>
            <a:ext cx="2130552" cy="530352"/>
          </a:xfrm>
          <a:prstGeom prst="rect">
            <a:avLst/>
          </a:prstGeom>
          <a:noFill/>
          <a:ln/>
        </p:spPr>
        <p:txBody>
          <a:bodyPr wrap="square" lIns="0" tIns="0" rIns="0" bIns="0" rtlCol="0" anchor="ctr"/>
          <a:lstStyle/>
          <a:p>
            <a:pPr marL="0" indent="0">
              <a:lnSpc>
                <a:spcPct val="115000"/>
              </a:lnSpc>
              <a:buNone/>
            </a:pPr>
            <a:r>
              <a:rPr lang="en-US" sz="850" dirty="0">
                <a:solidFill>
                  <a:srgbClr val="4A5568"/>
                </a:solidFill>
                <a:latin typeface="Calibri" pitchFamily="34" charset="0"/>
                <a:ea typeface="Calibri" pitchFamily="34" charset="-122"/>
                <a:cs typeface="Calibri" pitchFamily="34" charset="-120"/>
              </a:rPr>
              <a:t>Retargeting assessment respondents. Pilot urgency campaigns. Pipeline acceleration content.</a:t>
            </a:r>
            <a:endParaRPr lang="en-US" sz="850" dirty="0"/>
          </a:p>
        </p:txBody>
      </p:sp>
      <p:sp>
        <p:nvSpPr>
          <p:cNvPr id="29" name="Shape 27"/>
          <p:cNvSpPr/>
          <p:nvPr/>
        </p:nvSpPr>
        <p:spPr>
          <a:xfrm>
            <a:off x="213361" y="3374136"/>
            <a:ext cx="1737360" cy="621792"/>
          </a:xfrm>
          <a:prstGeom prst="roundRect">
            <a:avLst>
              <a:gd name="adj" fmla="val 8824"/>
            </a:avLst>
          </a:prstGeom>
          <a:solidFill>
            <a:srgbClr val="1B2A4A"/>
          </a:solidFill>
          <a:ln w="12700">
            <a:solidFill>
              <a:srgbClr val="1B2A4A"/>
            </a:solidFill>
            <a:prstDash val="solid"/>
          </a:ln>
        </p:spPr>
        <p:txBody>
          <a:bodyPr/>
          <a:lstStyle/>
          <a:p>
            <a:endParaRPr lang="en-US"/>
          </a:p>
        </p:txBody>
      </p:sp>
      <p:sp>
        <p:nvSpPr>
          <p:cNvPr id="30" name="Text 28"/>
          <p:cNvSpPr/>
          <p:nvPr/>
        </p:nvSpPr>
        <p:spPr>
          <a:xfrm>
            <a:off x="259081" y="3410712"/>
            <a:ext cx="1645920" cy="548640"/>
          </a:xfrm>
          <a:prstGeom prst="rect">
            <a:avLst/>
          </a:prstGeom>
          <a:noFill/>
          <a:ln/>
        </p:spPr>
        <p:txBody>
          <a:bodyPr wrap="square" lIns="0" tIns="0" rIns="0" bIns="0" rtlCol="0" anchor="ctr"/>
          <a:lstStyle/>
          <a:p>
            <a:pPr marL="0" indent="0">
              <a:lnSpc>
                <a:spcPct val="110000"/>
              </a:lnSpc>
              <a:buNone/>
            </a:pPr>
            <a:r>
              <a:rPr lang="en-US" sz="1000" b="1" dirty="0">
                <a:solidFill>
                  <a:srgbClr val="FFFFFF"/>
                </a:solidFill>
                <a:latin typeface="Calibri" pitchFamily="34" charset="0"/>
                <a:ea typeface="Calibri" pitchFamily="34" charset="-122"/>
                <a:cs typeface="Calibri" pitchFamily="34" charset="-120"/>
              </a:rPr>
              <a:t>Sales</a:t>
            </a:r>
            <a:endParaRPr lang="en-US" sz="1000" dirty="0"/>
          </a:p>
          <a:p>
            <a:pPr marL="0" indent="0">
              <a:lnSpc>
                <a:spcPct val="110000"/>
              </a:lnSpc>
              <a:buNone/>
            </a:pPr>
            <a:r>
              <a:rPr lang="en-US" sz="1000" b="1" dirty="0">
                <a:solidFill>
                  <a:srgbClr val="FFFFFF"/>
                </a:solidFill>
                <a:latin typeface="Calibri" pitchFamily="34" charset="0"/>
                <a:ea typeface="Calibri" pitchFamily="34" charset="-122"/>
                <a:cs typeface="Calibri" pitchFamily="34" charset="-120"/>
              </a:rPr>
              <a:t>Enablement</a:t>
            </a:r>
            <a:endParaRPr lang="en-US" sz="1000" dirty="0"/>
          </a:p>
        </p:txBody>
      </p:sp>
      <p:sp>
        <p:nvSpPr>
          <p:cNvPr id="31" name="Shape 29"/>
          <p:cNvSpPr/>
          <p:nvPr/>
        </p:nvSpPr>
        <p:spPr>
          <a:xfrm>
            <a:off x="2042161" y="3374136"/>
            <a:ext cx="2286000" cy="621792"/>
          </a:xfrm>
          <a:prstGeom prst="rect">
            <a:avLst/>
          </a:prstGeom>
          <a:solidFill>
            <a:srgbClr val="FFFFFF"/>
          </a:solidFill>
          <a:ln w="12700">
            <a:solidFill>
              <a:srgbClr val="C9DDE8"/>
            </a:solidFill>
            <a:prstDash val="solid"/>
          </a:ln>
        </p:spPr>
        <p:txBody>
          <a:bodyPr/>
          <a:lstStyle/>
          <a:p>
            <a:endParaRPr lang="en-US"/>
          </a:p>
        </p:txBody>
      </p:sp>
      <p:sp>
        <p:nvSpPr>
          <p:cNvPr id="32" name="Text 30"/>
          <p:cNvSpPr/>
          <p:nvPr/>
        </p:nvSpPr>
        <p:spPr>
          <a:xfrm>
            <a:off x="2133601" y="3419856"/>
            <a:ext cx="2130552" cy="530352"/>
          </a:xfrm>
          <a:prstGeom prst="rect">
            <a:avLst/>
          </a:prstGeom>
          <a:noFill/>
          <a:ln/>
        </p:spPr>
        <p:txBody>
          <a:bodyPr wrap="square" lIns="0" tIns="0" rIns="0" bIns="0" rtlCol="0" anchor="ctr"/>
          <a:lstStyle/>
          <a:p>
            <a:pPr marL="0" indent="0">
              <a:lnSpc>
                <a:spcPct val="115000"/>
              </a:lnSpc>
              <a:buNone/>
            </a:pPr>
            <a:r>
              <a:rPr lang="en-US" sz="850" dirty="0">
                <a:solidFill>
                  <a:srgbClr val="4A5568"/>
                </a:solidFill>
                <a:latin typeface="Calibri" pitchFamily="34" charset="0"/>
                <a:ea typeface="Calibri" pitchFamily="34" charset="-122"/>
                <a:cs typeface="Calibri" pitchFamily="34" charset="-120"/>
              </a:rPr>
              <a:t>SDR training complete. Objection handlers finalized. Assessment booking flow live.</a:t>
            </a:r>
            <a:endParaRPr lang="en-US" sz="850" dirty="0"/>
          </a:p>
        </p:txBody>
      </p:sp>
      <p:sp>
        <p:nvSpPr>
          <p:cNvPr id="33" name="Shape 31"/>
          <p:cNvSpPr/>
          <p:nvPr/>
        </p:nvSpPr>
        <p:spPr>
          <a:xfrm>
            <a:off x="4373881" y="3374136"/>
            <a:ext cx="2286000" cy="621792"/>
          </a:xfrm>
          <a:prstGeom prst="rect">
            <a:avLst/>
          </a:prstGeom>
          <a:solidFill>
            <a:srgbClr val="E8F4F6"/>
          </a:solidFill>
          <a:ln w="12700">
            <a:solidFill>
              <a:srgbClr val="C9DDE8"/>
            </a:solidFill>
            <a:prstDash val="solid"/>
          </a:ln>
        </p:spPr>
        <p:txBody>
          <a:bodyPr/>
          <a:lstStyle/>
          <a:p>
            <a:endParaRPr lang="en-US"/>
          </a:p>
        </p:txBody>
      </p:sp>
      <p:sp>
        <p:nvSpPr>
          <p:cNvPr id="34" name="Text 32"/>
          <p:cNvSpPr/>
          <p:nvPr/>
        </p:nvSpPr>
        <p:spPr>
          <a:xfrm>
            <a:off x="4465321" y="3419856"/>
            <a:ext cx="2130552" cy="530352"/>
          </a:xfrm>
          <a:prstGeom prst="rect">
            <a:avLst/>
          </a:prstGeom>
          <a:noFill/>
          <a:ln/>
        </p:spPr>
        <p:txBody>
          <a:bodyPr wrap="square" lIns="0" tIns="0" rIns="0" bIns="0" rtlCol="0" anchor="ctr"/>
          <a:lstStyle/>
          <a:p>
            <a:pPr marL="0" indent="0">
              <a:lnSpc>
                <a:spcPct val="115000"/>
              </a:lnSpc>
              <a:buNone/>
            </a:pPr>
            <a:r>
              <a:rPr lang="en-US" sz="850" dirty="0">
                <a:solidFill>
                  <a:srgbClr val="4A5568"/>
                </a:solidFill>
                <a:latin typeface="Calibri" pitchFamily="34" charset="0"/>
                <a:ea typeface="Calibri" pitchFamily="34" charset="-122"/>
                <a:cs typeface="Calibri" pitchFamily="34" charset="-120"/>
              </a:rPr>
              <a:t>AE deal coaching (first pilots). Debrief-to-proposal playbook live. Reference program launched.</a:t>
            </a:r>
            <a:endParaRPr lang="en-US" sz="850" dirty="0"/>
          </a:p>
        </p:txBody>
      </p:sp>
      <p:sp>
        <p:nvSpPr>
          <p:cNvPr id="35" name="Shape 33"/>
          <p:cNvSpPr/>
          <p:nvPr/>
        </p:nvSpPr>
        <p:spPr>
          <a:xfrm>
            <a:off x="6705601" y="3374136"/>
            <a:ext cx="2286000" cy="621792"/>
          </a:xfrm>
          <a:prstGeom prst="rect">
            <a:avLst/>
          </a:prstGeom>
          <a:solidFill>
            <a:srgbClr val="EBF5FB"/>
          </a:solidFill>
          <a:ln w="12700">
            <a:solidFill>
              <a:srgbClr val="C9DDE8"/>
            </a:solidFill>
            <a:prstDash val="solid"/>
          </a:ln>
        </p:spPr>
        <p:txBody>
          <a:bodyPr/>
          <a:lstStyle/>
          <a:p>
            <a:endParaRPr lang="en-US"/>
          </a:p>
        </p:txBody>
      </p:sp>
      <p:sp>
        <p:nvSpPr>
          <p:cNvPr id="36" name="Text 34"/>
          <p:cNvSpPr/>
          <p:nvPr/>
        </p:nvSpPr>
        <p:spPr>
          <a:xfrm>
            <a:off x="6797041" y="3419856"/>
            <a:ext cx="2130552" cy="530352"/>
          </a:xfrm>
          <a:prstGeom prst="rect">
            <a:avLst/>
          </a:prstGeom>
          <a:noFill/>
          <a:ln/>
        </p:spPr>
        <p:txBody>
          <a:bodyPr wrap="square" lIns="0" tIns="0" rIns="0" bIns="0" rtlCol="0" anchor="ctr"/>
          <a:lstStyle/>
          <a:p>
            <a:pPr marL="0" indent="0">
              <a:lnSpc>
                <a:spcPct val="115000"/>
              </a:lnSpc>
              <a:buNone/>
            </a:pPr>
            <a:r>
              <a:rPr lang="en-US" sz="850" dirty="0">
                <a:solidFill>
                  <a:srgbClr val="4A5568"/>
                </a:solidFill>
                <a:latin typeface="Calibri" pitchFamily="34" charset="0"/>
                <a:ea typeface="Calibri" pitchFamily="34" charset="-122"/>
                <a:cs typeface="Calibri" pitchFamily="34" charset="-120"/>
              </a:rPr>
              <a:t>Enterprise sales plays active. QBRs with pilot customers. SI partner co-sell motions.</a:t>
            </a:r>
            <a:endParaRPr lang="en-US" sz="850" dirty="0"/>
          </a:p>
        </p:txBody>
      </p:sp>
      <p:sp>
        <p:nvSpPr>
          <p:cNvPr id="37" name="Shape 35"/>
          <p:cNvSpPr/>
          <p:nvPr/>
        </p:nvSpPr>
        <p:spPr>
          <a:xfrm>
            <a:off x="213361" y="4123944"/>
            <a:ext cx="1737360" cy="621792"/>
          </a:xfrm>
          <a:prstGeom prst="roundRect">
            <a:avLst>
              <a:gd name="adj" fmla="val 8824"/>
            </a:avLst>
          </a:prstGeom>
          <a:solidFill>
            <a:srgbClr val="1B2A4A"/>
          </a:solidFill>
          <a:ln w="12700">
            <a:solidFill>
              <a:srgbClr val="1B2A4A"/>
            </a:solidFill>
            <a:prstDash val="solid"/>
          </a:ln>
        </p:spPr>
        <p:txBody>
          <a:bodyPr/>
          <a:lstStyle/>
          <a:p>
            <a:endParaRPr lang="en-US"/>
          </a:p>
        </p:txBody>
      </p:sp>
      <p:sp>
        <p:nvSpPr>
          <p:cNvPr id="38" name="Text 36"/>
          <p:cNvSpPr/>
          <p:nvPr/>
        </p:nvSpPr>
        <p:spPr>
          <a:xfrm>
            <a:off x="259081" y="4160520"/>
            <a:ext cx="1645920" cy="548640"/>
          </a:xfrm>
          <a:prstGeom prst="rect">
            <a:avLst/>
          </a:prstGeom>
          <a:noFill/>
          <a:ln/>
        </p:spPr>
        <p:txBody>
          <a:bodyPr wrap="square" lIns="0" tIns="0" rIns="0" bIns="0" rtlCol="0" anchor="ctr"/>
          <a:lstStyle/>
          <a:p>
            <a:pPr marL="0" indent="0">
              <a:lnSpc>
                <a:spcPct val="110000"/>
              </a:lnSpc>
              <a:buNone/>
            </a:pPr>
            <a:r>
              <a:rPr lang="en-US" sz="1000" b="1" dirty="0">
                <a:solidFill>
                  <a:srgbClr val="FFFFFF"/>
                </a:solidFill>
                <a:latin typeface="Calibri" pitchFamily="34" charset="0"/>
                <a:ea typeface="Calibri" pitchFamily="34" charset="-122"/>
                <a:cs typeface="Calibri" pitchFamily="34" charset="-120"/>
              </a:rPr>
              <a:t>Metrics</a:t>
            </a:r>
            <a:endParaRPr lang="en-US" sz="1000" dirty="0"/>
          </a:p>
          <a:p>
            <a:pPr marL="0" indent="0">
              <a:lnSpc>
                <a:spcPct val="110000"/>
              </a:lnSpc>
              <a:buNone/>
            </a:pPr>
            <a:r>
              <a:rPr lang="en-US" sz="1000" b="1" dirty="0">
                <a:solidFill>
                  <a:srgbClr val="FFFFFF"/>
                </a:solidFill>
                <a:latin typeface="Calibri" pitchFamily="34" charset="0"/>
                <a:ea typeface="Calibri" pitchFamily="34" charset="-122"/>
                <a:cs typeface="Calibri" pitchFamily="34" charset="-120"/>
              </a:rPr>
              <a:t>Gate</a:t>
            </a:r>
            <a:endParaRPr lang="en-US" sz="1000" dirty="0"/>
          </a:p>
        </p:txBody>
      </p:sp>
      <p:sp>
        <p:nvSpPr>
          <p:cNvPr id="39" name="Shape 37"/>
          <p:cNvSpPr/>
          <p:nvPr/>
        </p:nvSpPr>
        <p:spPr>
          <a:xfrm>
            <a:off x="2042161" y="4123944"/>
            <a:ext cx="2286000" cy="621792"/>
          </a:xfrm>
          <a:prstGeom prst="rect">
            <a:avLst/>
          </a:prstGeom>
          <a:solidFill>
            <a:srgbClr val="FFFFFF"/>
          </a:solidFill>
          <a:ln w="12700">
            <a:solidFill>
              <a:srgbClr val="C9DDE8"/>
            </a:solidFill>
            <a:prstDash val="solid"/>
          </a:ln>
        </p:spPr>
        <p:txBody>
          <a:bodyPr/>
          <a:lstStyle/>
          <a:p>
            <a:endParaRPr lang="en-US"/>
          </a:p>
        </p:txBody>
      </p:sp>
      <p:sp>
        <p:nvSpPr>
          <p:cNvPr id="40" name="Text 38"/>
          <p:cNvSpPr/>
          <p:nvPr/>
        </p:nvSpPr>
        <p:spPr>
          <a:xfrm>
            <a:off x="2133601" y="4169664"/>
            <a:ext cx="2130552" cy="530352"/>
          </a:xfrm>
          <a:prstGeom prst="rect">
            <a:avLst/>
          </a:prstGeom>
          <a:noFill/>
          <a:ln/>
        </p:spPr>
        <p:txBody>
          <a:bodyPr wrap="square" lIns="0" tIns="0" rIns="0" bIns="0" rtlCol="0" anchor="ctr"/>
          <a:lstStyle/>
          <a:p>
            <a:pPr marL="0" indent="0">
              <a:lnSpc>
                <a:spcPct val="115000"/>
              </a:lnSpc>
              <a:buNone/>
            </a:pPr>
            <a:r>
              <a:rPr lang="en-US" sz="1000" b="1" dirty="0">
                <a:solidFill>
                  <a:srgbClr val="0D7B8A"/>
                </a:solidFill>
                <a:latin typeface="Calibri" pitchFamily="34" charset="0"/>
                <a:ea typeface="Calibri" pitchFamily="34" charset="-122"/>
                <a:cs typeface="Calibri" pitchFamily="34" charset="-120"/>
              </a:rPr>
              <a:t>Target: 25 Readiness Assessments booked</a:t>
            </a:r>
            <a:endParaRPr lang="en-US" sz="1000" dirty="0"/>
          </a:p>
        </p:txBody>
      </p:sp>
      <p:sp>
        <p:nvSpPr>
          <p:cNvPr id="41" name="Shape 39"/>
          <p:cNvSpPr/>
          <p:nvPr/>
        </p:nvSpPr>
        <p:spPr>
          <a:xfrm>
            <a:off x="4373881" y="4123944"/>
            <a:ext cx="2286000" cy="621792"/>
          </a:xfrm>
          <a:prstGeom prst="rect">
            <a:avLst/>
          </a:prstGeom>
          <a:solidFill>
            <a:srgbClr val="E8F4F6"/>
          </a:solidFill>
          <a:ln w="12700">
            <a:solidFill>
              <a:srgbClr val="C9DDE8"/>
            </a:solidFill>
            <a:prstDash val="solid"/>
          </a:ln>
        </p:spPr>
        <p:txBody>
          <a:bodyPr/>
          <a:lstStyle/>
          <a:p>
            <a:endParaRPr lang="en-US"/>
          </a:p>
        </p:txBody>
      </p:sp>
      <p:sp>
        <p:nvSpPr>
          <p:cNvPr id="42" name="Text 40"/>
          <p:cNvSpPr/>
          <p:nvPr/>
        </p:nvSpPr>
        <p:spPr>
          <a:xfrm>
            <a:off x="4465321" y="4169664"/>
            <a:ext cx="2130552" cy="530352"/>
          </a:xfrm>
          <a:prstGeom prst="rect">
            <a:avLst/>
          </a:prstGeom>
          <a:noFill/>
          <a:ln/>
        </p:spPr>
        <p:txBody>
          <a:bodyPr wrap="square" lIns="0" tIns="0" rIns="0" bIns="0" rtlCol="0" anchor="ctr"/>
          <a:lstStyle/>
          <a:p>
            <a:pPr marL="0" indent="0">
              <a:lnSpc>
                <a:spcPct val="115000"/>
              </a:lnSpc>
              <a:buNone/>
            </a:pPr>
            <a:r>
              <a:rPr lang="en-US" sz="1000" b="1" dirty="0">
                <a:solidFill>
                  <a:srgbClr val="0D7B8A"/>
                </a:solidFill>
                <a:latin typeface="Calibri" pitchFamily="34" charset="0"/>
                <a:ea typeface="Calibri" pitchFamily="34" charset="-122"/>
                <a:cs typeface="Calibri" pitchFamily="34" charset="-120"/>
              </a:rPr>
              <a:t>Target: 100 SQLs. 10 pilots active.</a:t>
            </a:r>
            <a:endParaRPr lang="en-US" sz="1000" dirty="0"/>
          </a:p>
        </p:txBody>
      </p:sp>
      <p:sp>
        <p:nvSpPr>
          <p:cNvPr id="43" name="Shape 41"/>
          <p:cNvSpPr/>
          <p:nvPr/>
        </p:nvSpPr>
        <p:spPr>
          <a:xfrm>
            <a:off x="6705601" y="4123944"/>
            <a:ext cx="2286000" cy="621792"/>
          </a:xfrm>
          <a:prstGeom prst="rect">
            <a:avLst/>
          </a:prstGeom>
          <a:solidFill>
            <a:srgbClr val="EBF5FB"/>
          </a:solidFill>
          <a:ln w="12700">
            <a:solidFill>
              <a:srgbClr val="C9DDE8"/>
            </a:solidFill>
            <a:prstDash val="solid"/>
          </a:ln>
        </p:spPr>
        <p:txBody>
          <a:bodyPr/>
          <a:lstStyle/>
          <a:p>
            <a:endParaRPr lang="en-US"/>
          </a:p>
        </p:txBody>
      </p:sp>
      <p:sp>
        <p:nvSpPr>
          <p:cNvPr id="44" name="Text 42"/>
          <p:cNvSpPr/>
          <p:nvPr/>
        </p:nvSpPr>
        <p:spPr>
          <a:xfrm>
            <a:off x="6797041" y="4169664"/>
            <a:ext cx="2130552" cy="530352"/>
          </a:xfrm>
          <a:prstGeom prst="rect">
            <a:avLst/>
          </a:prstGeom>
          <a:noFill/>
          <a:ln/>
        </p:spPr>
        <p:txBody>
          <a:bodyPr wrap="square" lIns="0" tIns="0" rIns="0" bIns="0" rtlCol="0" anchor="ctr"/>
          <a:lstStyle/>
          <a:p>
            <a:pPr marL="0" indent="0">
              <a:lnSpc>
                <a:spcPct val="115000"/>
              </a:lnSpc>
              <a:buNone/>
            </a:pPr>
            <a:r>
              <a:rPr lang="en-US" sz="1000" b="1" dirty="0">
                <a:solidFill>
                  <a:srgbClr val="0D7B8A"/>
                </a:solidFill>
                <a:latin typeface="Calibri" pitchFamily="34" charset="0"/>
                <a:ea typeface="Calibri" pitchFamily="34" charset="-122"/>
                <a:cs typeface="Calibri" pitchFamily="34" charset="-120"/>
              </a:rPr>
              <a:t>Target: 200 SQLs. 5 proposals out.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75488"/>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Sales Play: How We Win</a:t>
            </a:r>
            <a:endParaRPr lang="en-US" sz="2800" dirty="0"/>
          </a:p>
        </p:txBody>
      </p:sp>
      <p:sp>
        <p:nvSpPr>
          <p:cNvPr id="3" name="Text 1"/>
          <p:cNvSpPr/>
          <p:nvPr/>
        </p:nvSpPr>
        <p:spPr>
          <a:xfrm>
            <a:off x="457200" y="758952"/>
            <a:ext cx="8229600" cy="274320"/>
          </a:xfrm>
          <a:prstGeom prst="rect">
            <a:avLst/>
          </a:prstGeom>
          <a:noFill/>
          <a:ln/>
        </p:spPr>
        <p:txBody>
          <a:bodyPr wrap="square" lIns="0" tIns="0" rIns="0" bIns="0" rtlCol="0" anchor="ctr"/>
          <a:lstStyle/>
          <a:p>
            <a:pPr marL="0" indent="0">
              <a:buNone/>
            </a:pPr>
            <a:r>
              <a:rPr lang="en-US" sz="1300" i="1" dirty="0">
                <a:solidFill>
                  <a:srgbClr val="6B7A8D"/>
                </a:solidFill>
                <a:latin typeface="Calibri" pitchFamily="34" charset="0"/>
                <a:ea typeface="Calibri" pitchFamily="34" charset="-122"/>
                <a:cs typeface="Calibri" pitchFamily="34" charset="-120"/>
              </a:rPr>
              <a:t>Land with compliance risk. Expand with operational scale. Win with consolidation.</a:t>
            </a:r>
            <a:endParaRPr lang="en-US" sz="1300" dirty="0"/>
          </a:p>
        </p:txBody>
      </p:sp>
      <p:sp>
        <p:nvSpPr>
          <p:cNvPr id="4" name="Shape 2"/>
          <p:cNvSpPr/>
          <p:nvPr/>
        </p:nvSpPr>
        <p:spPr>
          <a:xfrm>
            <a:off x="457200" y="1170432"/>
            <a:ext cx="5120640" cy="2057400"/>
          </a:xfrm>
          <a:prstGeom prst="roundRect">
            <a:avLst>
              <a:gd name="adj" fmla="val 4000"/>
            </a:avLst>
          </a:prstGeom>
          <a:solidFill>
            <a:srgbClr val="E8F4F6"/>
          </a:solidFill>
          <a:ln w="12700">
            <a:solidFill>
              <a:srgbClr val="0D7B8A"/>
            </a:solidFill>
            <a:prstDash val="solid"/>
          </a:ln>
          <a:effectLst>
            <a:outerShdw blurRad="101600" dist="38100" dir="2700000" algn="bl" rotWithShape="0">
              <a:srgbClr val="000000">
                <a:alpha val="10000"/>
              </a:srgbClr>
            </a:outerShdw>
          </a:effectLst>
        </p:spPr>
        <p:txBody>
          <a:bodyPr/>
          <a:lstStyle/>
          <a:p>
            <a:endParaRPr lang="en-US"/>
          </a:p>
        </p:txBody>
      </p:sp>
      <p:sp>
        <p:nvSpPr>
          <p:cNvPr id="5" name="Text 3"/>
          <p:cNvSpPr/>
          <p:nvPr/>
        </p:nvSpPr>
        <p:spPr>
          <a:xfrm>
            <a:off x="621792" y="1261872"/>
            <a:ext cx="4754880" cy="219456"/>
          </a:xfrm>
          <a:prstGeom prst="rect">
            <a:avLst/>
          </a:prstGeom>
          <a:noFill/>
          <a:ln/>
        </p:spPr>
        <p:txBody>
          <a:bodyPr wrap="square" lIns="0" tIns="0" rIns="0" bIns="0" rtlCol="0" anchor="ctr"/>
          <a:lstStyle/>
          <a:p>
            <a:pPr marL="0" indent="0">
              <a:buNone/>
            </a:pPr>
            <a:r>
              <a:rPr lang="en-US" sz="900" b="1" kern="0" spc="200" dirty="0">
                <a:solidFill>
                  <a:srgbClr val="0D7B8A"/>
                </a:solidFill>
                <a:latin typeface="Calibri" pitchFamily="34" charset="0"/>
                <a:ea typeface="Calibri" pitchFamily="34" charset="-122"/>
                <a:cs typeface="Calibri" pitchFamily="34" charset="-120"/>
              </a:rPr>
              <a:t>PRIMARY PLAY  ★</a:t>
            </a:r>
            <a:endParaRPr lang="en-US" sz="900" dirty="0"/>
          </a:p>
        </p:txBody>
      </p:sp>
      <p:sp>
        <p:nvSpPr>
          <p:cNvPr id="6" name="Text 4"/>
          <p:cNvSpPr/>
          <p:nvPr/>
        </p:nvSpPr>
        <p:spPr>
          <a:xfrm>
            <a:off x="621792" y="1499616"/>
            <a:ext cx="4754880" cy="310896"/>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Land with Risk/Compliance → Expand to CIO</a:t>
            </a:r>
            <a:endParaRPr lang="en-US" sz="1500" dirty="0"/>
          </a:p>
        </p:txBody>
      </p:sp>
      <p:sp>
        <p:nvSpPr>
          <p:cNvPr id="7" name="Text 5"/>
          <p:cNvSpPr/>
          <p:nvPr/>
        </p:nvSpPr>
        <p:spPr>
          <a:xfrm>
            <a:off x="621792" y="1847088"/>
            <a:ext cx="4800600" cy="1188720"/>
          </a:xfrm>
          <a:prstGeom prst="rect">
            <a:avLst/>
          </a:prstGeom>
          <a:noFill/>
          <a:ln/>
        </p:spPr>
        <p:txBody>
          <a:bodyPr wrap="square" lIns="0" tIns="0" rIns="0" bIns="0" rtlCol="0" anchor="ctr"/>
          <a:lstStyle/>
          <a:p>
            <a:pPr marL="0" indent="0">
              <a:lnSpc>
                <a:spcPct val="135000"/>
              </a:lnSpc>
              <a:buNone/>
            </a:pPr>
            <a:r>
              <a:rPr lang="en-US" sz="1000" dirty="0">
                <a:solidFill>
                  <a:srgbClr val="4A5568"/>
                </a:solidFill>
                <a:latin typeface="Calibri" pitchFamily="34" charset="0"/>
                <a:ea typeface="Calibri" pitchFamily="34" charset="-122"/>
                <a:cs typeface="Calibri" pitchFamily="34" charset="-120"/>
              </a:rPr>
              <a:t>Entry: Outreach to CRO or CCO with regulatory urgency hook (EU AI Act / OCC / FCA).</a:t>
            </a:r>
            <a:endParaRPr lang="en-US" sz="1000" dirty="0"/>
          </a:p>
          <a:p>
            <a:pPr marL="0" indent="0">
              <a:lnSpc>
                <a:spcPct val="135000"/>
              </a:lnSpc>
              <a:buNone/>
            </a:pPr>
            <a:r>
              <a:rPr lang="en-US" sz="1000" dirty="0">
                <a:solidFill>
                  <a:srgbClr val="4A5568"/>
                </a:solidFill>
                <a:latin typeface="Calibri" pitchFamily="34" charset="0"/>
                <a:ea typeface="Calibri" pitchFamily="34" charset="-122"/>
                <a:cs typeface="Calibri" pitchFamily="34" charset="-120"/>
              </a:rPr>
              <a:t>Discovery: Readiness Assessment uncovers agent inventory gaps and compliance exposure.</a:t>
            </a:r>
            <a:endParaRPr lang="en-US" sz="1000" dirty="0"/>
          </a:p>
          <a:p>
            <a:pPr marL="0" indent="0">
              <a:lnSpc>
                <a:spcPct val="135000"/>
              </a:lnSpc>
              <a:buNone/>
            </a:pPr>
            <a:r>
              <a:rPr lang="en-US" sz="1000" dirty="0">
                <a:solidFill>
                  <a:srgbClr val="4A5568"/>
                </a:solidFill>
                <a:latin typeface="Calibri" pitchFamily="34" charset="0"/>
                <a:ea typeface="Calibri" pitchFamily="34" charset="-122"/>
                <a:cs typeface="Calibri" pitchFamily="34" charset="-120"/>
              </a:rPr>
              <a:t>Expansion: CRO/CCO champion introduces CIO as economic buyer. Pilot expansion to full platform.</a:t>
            </a:r>
            <a:endParaRPr lang="en-US" sz="1000" dirty="0"/>
          </a:p>
          <a:p>
            <a:pPr marL="0" indent="0">
              <a:lnSpc>
                <a:spcPct val="135000"/>
              </a:lnSpc>
              <a:buNone/>
            </a:pPr>
            <a:r>
              <a:rPr lang="en-US" sz="1000" dirty="0">
                <a:solidFill>
                  <a:srgbClr val="4A5568"/>
                </a:solidFill>
                <a:latin typeface="Calibri" pitchFamily="34" charset="0"/>
                <a:ea typeface="Calibri" pitchFamily="34" charset="-122"/>
                <a:cs typeface="Calibri" pitchFamily="34" charset="-120"/>
              </a:rPr>
              <a:t>Close: Enterprise license — CIO signs, CRO/CCO as ongoing champions.</a:t>
            </a:r>
            <a:endParaRPr lang="en-US" sz="1000" dirty="0"/>
          </a:p>
        </p:txBody>
      </p:sp>
      <p:sp>
        <p:nvSpPr>
          <p:cNvPr id="8" name="Shape 6"/>
          <p:cNvSpPr/>
          <p:nvPr/>
        </p:nvSpPr>
        <p:spPr>
          <a:xfrm>
            <a:off x="457200" y="3337560"/>
            <a:ext cx="5120640" cy="1645920"/>
          </a:xfrm>
          <a:prstGeom prst="roundRect">
            <a:avLst>
              <a:gd name="adj" fmla="val 5000"/>
            </a:avLst>
          </a:prstGeom>
          <a:solidFill>
            <a:srgbClr val="FFFFFF"/>
          </a:solidFill>
          <a:ln w="12700">
            <a:solidFill>
              <a:srgbClr val="C9DDE8"/>
            </a:solidFill>
            <a:prstDash val="solid"/>
          </a:ln>
          <a:effectLst>
            <a:outerShdw blurRad="101600" dist="38100" dir="2700000" algn="bl" rotWithShape="0">
              <a:srgbClr val="000000">
                <a:alpha val="10000"/>
              </a:srgbClr>
            </a:outerShdw>
          </a:effectLst>
        </p:spPr>
        <p:txBody>
          <a:bodyPr/>
          <a:lstStyle/>
          <a:p>
            <a:endParaRPr lang="en-US"/>
          </a:p>
        </p:txBody>
      </p:sp>
      <p:sp>
        <p:nvSpPr>
          <p:cNvPr id="9" name="Text 7"/>
          <p:cNvSpPr/>
          <p:nvPr/>
        </p:nvSpPr>
        <p:spPr>
          <a:xfrm>
            <a:off x="621792" y="3429000"/>
            <a:ext cx="4754880" cy="201168"/>
          </a:xfrm>
          <a:prstGeom prst="rect">
            <a:avLst/>
          </a:prstGeom>
          <a:noFill/>
          <a:ln/>
        </p:spPr>
        <p:txBody>
          <a:bodyPr wrap="square" lIns="0" tIns="0" rIns="0" bIns="0" rtlCol="0" anchor="ctr"/>
          <a:lstStyle/>
          <a:p>
            <a:pPr marL="0" indent="0">
              <a:buNone/>
            </a:pPr>
            <a:r>
              <a:rPr lang="en-US" sz="900" b="1" kern="0" spc="200" dirty="0">
                <a:solidFill>
                  <a:srgbClr val="6B7A8D"/>
                </a:solidFill>
                <a:latin typeface="Calibri" pitchFamily="34" charset="0"/>
                <a:ea typeface="Calibri" pitchFamily="34" charset="-122"/>
                <a:cs typeface="Calibri" pitchFamily="34" charset="-120"/>
              </a:rPr>
              <a:t>SECONDARY PLAY</a:t>
            </a:r>
            <a:endParaRPr lang="en-US" sz="900" dirty="0"/>
          </a:p>
        </p:txBody>
      </p:sp>
      <p:sp>
        <p:nvSpPr>
          <p:cNvPr id="10" name="Text 8"/>
          <p:cNvSpPr/>
          <p:nvPr/>
        </p:nvSpPr>
        <p:spPr>
          <a:xfrm>
            <a:off x="621792" y="3639312"/>
            <a:ext cx="4754880" cy="274320"/>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Consolidation Play — CIO-Led Entry</a:t>
            </a:r>
            <a:endParaRPr lang="en-US" sz="1400" dirty="0"/>
          </a:p>
        </p:txBody>
      </p:sp>
      <p:sp>
        <p:nvSpPr>
          <p:cNvPr id="11" name="Text 9"/>
          <p:cNvSpPr/>
          <p:nvPr/>
        </p:nvSpPr>
        <p:spPr>
          <a:xfrm>
            <a:off x="621792" y="3950208"/>
            <a:ext cx="4800600" cy="960120"/>
          </a:xfrm>
          <a:prstGeom prst="rect">
            <a:avLst/>
          </a:prstGeom>
          <a:noFill/>
          <a:ln/>
        </p:spPr>
        <p:txBody>
          <a:bodyPr wrap="square" lIns="0" tIns="0" rIns="0" bIns="0" rtlCol="0" anchor="ctr"/>
          <a:lstStyle/>
          <a:p>
            <a:pPr marL="0" indent="0">
              <a:lnSpc>
                <a:spcPct val="135000"/>
              </a:lnSpc>
              <a:buNone/>
            </a:pPr>
            <a:r>
              <a:rPr lang="en-US" sz="1000" dirty="0">
                <a:solidFill>
                  <a:srgbClr val="4A5568"/>
                </a:solidFill>
                <a:latin typeface="Calibri" pitchFamily="34" charset="0"/>
                <a:ea typeface="Calibri" pitchFamily="34" charset="-122"/>
                <a:cs typeface="Calibri" pitchFamily="34" charset="-120"/>
              </a:rPr>
              <a:t>Entry: CIO or VP Engineering frustrated by agent monitoring tool sprawl (W&amp;B, Fiddler, custom tooling).</a:t>
            </a:r>
            <a:endParaRPr lang="en-US" sz="1000" dirty="0"/>
          </a:p>
          <a:p>
            <a:pPr marL="0" indent="0">
              <a:lnSpc>
                <a:spcPct val="135000"/>
              </a:lnSpc>
              <a:buNone/>
            </a:pPr>
            <a:r>
              <a:rPr lang="en-US" sz="1000" dirty="0">
                <a:solidFill>
                  <a:srgbClr val="4A5568"/>
                </a:solidFill>
                <a:latin typeface="Calibri" pitchFamily="34" charset="0"/>
                <a:ea typeface="Calibri" pitchFamily="34" charset="-122"/>
                <a:cs typeface="Calibri" pitchFamily="34" charset="-120"/>
              </a:rPr>
              <a:t>Pitch: Tool consolidation ROI — AgentOps replaces 3-5 point solutions, often at lower total cost.</a:t>
            </a:r>
            <a:endParaRPr lang="en-US" sz="1000" dirty="0"/>
          </a:p>
          <a:p>
            <a:pPr marL="0" indent="0">
              <a:lnSpc>
                <a:spcPct val="135000"/>
              </a:lnSpc>
              <a:buNone/>
            </a:pPr>
            <a:r>
              <a:rPr lang="en-US" sz="1000" dirty="0">
                <a:solidFill>
                  <a:srgbClr val="4A5568"/>
                </a:solidFill>
                <a:latin typeface="Calibri" pitchFamily="34" charset="0"/>
                <a:ea typeface="Calibri" pitchFamily="34" charset="-122"/>
                <a:cs typeface="Calibri" pitchFamily="34" charset="-120"/>
              </a:rPr>
              <a:t>Expansion: Pull in CRO/CCO once compliance value is demonstrated in pilot.</a:t>
            </a:r>
            <a:endParaRPr lang="en-US" sz="1000" dirty="0"/>
          </a:p>
        </p:txBody>
      </p:sp>
      <p:sp>
        <p:nvSpPr>
          <p:cNvPr id="12" name="Shape 10"/>
          <p:cNvSpPr/>
          <p:nvPr/>
        </p:nvSpPr>
        <p:spPr>
          <a:xfrm>
            <a:off x="5760720" y="1170432"/>
            <a:ext cx="3063240" cy="3813048"/>
          </a:xfrm>
          <a:prstGeom prst="roundRect">
            <a:avLst>
              <a:gd name="adj" fmla="val 2687"/>
            </a:avLst>
          </a:prstGeom>
          <a:solidFill>
            <a:srgbClr val="FFFFFF"/>
          </a:solidFill>
          <a:ln w="12700">
            <a:solidFill>
              <a:srgbClr val="C9DDE8"/>
            </a:solidFill>
            <a:prstDash val="solid"/>
          </a:ln>
          <a:effectLst>
            <a:outerShdw blurRad="101600" dist="38100" dir="2700000" algn="bl" rotWithShape="0">
              <a:srgbClr val="000000">
                <a:alpha val="10000"/>
              </a:srgbClr>
            </a:outerShdw>
          </a:effectLst>
        </p:spPr>
        <p:txBody>
          <a:bodyPr/>
          <a:lstStyle/>
          <a:p>
            <a:endParaRPr lang="en-US"/>
          </a:p>
        </p:txBody>
      </p:sp>
      <p:sp>
        <p:nvSpPr>
          <p:cNvPr id="13" name="Text 11"/>
          <p:cNvSpPr/>
          <p:nvPr/>
        </p:nvSpPr>
        <p:spPr>
          <a:xfrm>
            <a:off x="5925312" y="1280160"/>
            <a:ext cx="2651760" cy="201168"/>
          </a:xfrm>
          <a:prstGeom prst="rect">
            <a:avLst/>
          </a:prstGeom>
          <a:noFill/>
          <a:ln/>
        </p:spPr>
        <p:txBody>
          <a:bodyPr wrap="square" lIns="0" tIns="0" rIns="0" bIns="0" rtlCol="0" anchor="ctr"/>
          <a:lstStyle/>
          <a:p>
            <a:pPr marL="0" indent="0">
              <a:buNone/>
            </a:pPr>
            <a:r>
              <a:rPr lang="en-US" sz="900" b="1" kern="0" spc="200" dirty="0">
                <a:solidFill>
                  <a:srgbClr val="0D7B8A"/>
                </a:solidFill>
                <a:latin typeface="Calibri" pitchFamily="34" charset="0"/>
                <a:ea typeface="Calibri" pitchFamily="34" charset="-122"/>
                <a:cs typeface="Calibri" pitchFamily="34" charset="-120"/>
              </a:rPr>
              <a:t>TOP OBJECTIONS</a:t>
            </a:r>
            <a:endParaRPr lang="en-US" sz="900" dirty="0"/>
          </a:p>
        </p:txBody>
      </p:sp>
      <p:sp>
        <p:nvSpPr>
          <p:cNvPr id="14" name="Text 12"/>
          <p:cNvSpPr/>
          <p:nvPr/>
        </p:nvSpPr>
        <p:spPr>
          <a:xfrm>
            <a:off x="5925312" y="1572768"/>
            <a:ext cx="2743200" cy="274320"/>
          </a:xfrm>
          <a:prstGeom prst="rect">
            <a:avLst/>
          </a:prstGeom>
          <a:noFill/>
          <a:ln/>
        </p:spPr>
        <p:txBody>
          <a:bodyPr wrap="square" lIns="0" tIns="0" rIns="0" bIns="0" rtlCol="0" anchor="ctr"/>
          <a:lstStyle/>
          <a:p>
            <a:pPr marL="0" indent="0">
              <a:lnSpc>
                <a:spcPct val="110000"/>
              </a:lnSpc>
              <a:buNone/>
            </a:pPr>
            <a:r>
              <a:rPr lang="en-US" sz="950" b="1" dirty="0">
                <a:solidFill>
                  <a:srgbClr val="1B2A4A"/>
                </a:solidFill>
                <a:latin typeface="Calibri" pitchFamily="34" charset="0"/>
                <a:ea typeface="Calibri" pitchFamily="34" charset="-122"/>
                <a:cs typeface="Calibri" pitchFamily="34" charset="-120"/>
              </a:rPr>
              <a:t>"We already have a model risk framework."</a:t>
            </a:r>
            <a:endParaRPr lang="en-US" sz="950" dirty="0"/>
          </a:p>
        </p:txBody>
      </p:sp>
      <p:sp>
        <p:nvSpPr>
          <p:cNvPr id="15" name="Text 13"/>
          <p:cNvSpPr/>
          <p:nvPr/>
        </p:nvSpPr>
        <p:spPr>
          <a:xfrm>
            <a:off x="5925312" y="1847088"/>
            <a:ext cx="2743200" cy="438912"/>
          </a:xfrm>
          <a:prstGeom prst="rect">
            <a:avLst/>
          </a:prstGeom>
          <a:noFill/>
          <a:ln/>
        </p:spPr>
        <p:txBody>
          <a:bodyPr wrap="square" lIns="0" tIns="0" rIns="0" bIns="0" rtlCol="0" anchor="ctr"/>
          <a:lstStyle/>
          <a:p>
            <a:pPr marL="0" indent="0">
              <a:lnSpc>
                <a:spcPct val="120000"/>
              </a:lnSpc>
              <a:buNone/>
            </a:pPr>
            <a:r>
              <a:rPr lang="en-US" sz="900" i="1" dirty="0">
                <a:solidFill>
                  <a:srgbClr val="4A5568"/>
                </a:solidFill>
                <a:latin typeface="Calibri" pitchFamily="34" charset="0"/>
                <a:ea typeface="Calibri" pitchFamily="34" charset="-122"/>
                <a:cs typeface="Calibri" pitchFamily="34" charset="-120"/>
              </a:rPr>
              <a:t>AgentOps extends MRM to AI agents — it's the coverage you don't have yet, not a replacement.</a:t>
            </a:r>
            <a:endParaRPr lang="en-US" sz="900" dirty="0"/>
          </a:p>
        </p:txBody>
      </p:sp>
      <p:sp>
        <p:nvSpPr>
          <p:cNvPr id="16" name="Shape 14"/>
          <p:cNvSpPr/>
          <p:nvPr/>
        </p:nvSpPr>
        <p:spPr>
          <a:xfrm>
            <a:off x="5925312" y="2322576"/>
            <a:ext cx="2743200" cy="18288"/>
          </a:xfrm>
          <a:prstGeom prst="rect">
            <a:avLst/>
          </a:prstGeom>
          <a:solidFill>
            <a:srgbClr val="C9DDE8"/>
          </a:solidFill>
          <a:ln w="12700">
            <a:solidFill>
              <a:srgbClr val="C9DDE8"/>
            </a:solidFill>
            <a:prstDash val="solid"/>
          </a:ln>
        </p:spPr>
        <p:txBody>
          <a:bodyPr/>
          <a:lstStyle/>
          <a:p>
            <a:endParaRPr lang="en-US"/>
          </a:p>
        </p:txBody>
      </p:sp>
      <p:sp>
        <p:nvSpPr>
          <p:cNvPr id="17" name="Text 15"/>
          <p:cNvSpPr/>
          <p:nvPr/>
        </p:nvSpPr>
        <p:spPr>
          <a:xfrm>
            <a:off x="5925312" y="2423160"/>
            <a:ext cx="2743200" cy="274320"/>
          </a:xfrm>
          <a:prstGeom prst="rect">
            <a:avLst/>
          </a:prstGeom>
          <a:noFill/>
          <a:ln/>
        </p:spPr>
        <p:txBody>
          <a:bodyPr wrap="square" lIns="0" tIns="0" rIns="0" bIns="0" rtlCol="0" anchor="ctr"/>
          <a:lstStyle/>
          <a:p>
            <a:pPr marL="0" indent="0">
              <a:lnSpc>
                <a:spcPct val="110000"/>
              </a:lnSpc>
              <a:buNone/>
            </a:pPr>
            <a:r>
              <a:rPr lang="en-US" sz="950" b="1" dirty="0">
                <a:solidFill>
                  <a:srgbClr val="1B2A4A"/>
                </a:solidFill>
                <a:latin typeface="Calibri" pitchFamily="34" charset="0"/>
                <a:ea typeface="Calibri" pitchFamily="34" charset="-122"/>
                <a:cs typeface="Calibri" pitchFamily="34" charset="-120"/>
              </a:rPr>
              <a:t>"This should live in IT."</a:t>
            </a:r>
            <a:endParaRPr lang="en-US" sz="950" dirty="0"/>
          </a:p>
        </p:txBody>
      </p:sp>
      <p:sp>
        <p:nvSpPr>
          <p:cNvPr id="18" name="Text 16"/>
          <p:cNvSpPr/>
          <p:nvPr/>
        </p:nvSpPr>
        <p:spPr>
          <a:xfrm>
            <a:off x="5925312" y="2697480"/>
            <a:ext cx="2743200" cy="438912"/>
          </a:xfrm>
          <a:prstGeom prst="rect">
            <a:avLst/>
          </a:prstGeom>
          <a:noFill/>
          <a:ln/>
        </p:spPr>
        <p:txBody>
          <a:bodyPr wrap="square" lIns="0" tIns="0" rIns="0" bIns="0" rtlCol="0" anchor="ctr"/>
          <a:lstStyle/>
          <a:p>
            <a:pPr marL="0" indent="0">
              <a:lnSpc>
                <a:spcPct val="120000"/>
              </a:lnSpc>
              <a:buNone/>
            </a:pPr>
            <a:r>
              <a:rPr lang="en-US" sz="900" i="1" dirty="0">
                <a:solidFill>
                  <a:srgbClr val="4A5568"/>
                </a:solidFill>
                <a:latin typeface="Calibri" pitchFamily="34" charset="0"/>
                <a:ea typeface="Calibri" pitchFamily="34" charset="-122"/>
                <a:cs typeface="Calibri" pitchFamily="34" charset="-120"/>
              </a:rPr>
              <a:t>Compliance owns the output. AgentOps gives compliance visibility without requiring IT to build it.</a:t>
            </a:r>
            <a:endParaRPr lang="en-US" sz="900" dirty="0"/>
          </a:p>
        </p:txBody>
      </p:sp>
      <p:sp>
        <p:nvSpPr>
          <p:cNvPr id="19" name="Shape 17"/>
          <p:cNvSpPr/>
          <p:nvPr/>
        </p:nvSpPr>
        <p:spPr>
          <a:xfrm>
            <a:off x="5925312" y="3172968"/>
            <a:ext cx="2743200" cy="18288"/>
          </a:xfrm>
          <a:prstGeom prst="rect">
            <a:avLst/>
          </a:prstGeom>
          <a:solidFill>
            <a:srgbClr val="C9DDE8"/>
          </a:solidFill>
          <a:ln w="12700">
            <a:solidFill>
              <a:srgbClr val="C9DDE8"/>
            </a:solidFill>
            <a:prstDash val="solid"/>
          </a:ln>
        </p:spPr>
        <p:txBody>
          <a:bodyPr/>
          <a:lstStyle/>
          <a:p>
            <a:endParaRPr lang="en-US"/>
          </a:p>
        </p:txBody>
      </p:sp>
      <p:sp>
        <p:nvSpPr>
          <p:cNvPr id="20" name="Text 18"/>
          <p:cNvSpPr/>
          <p:nvPr/>
        </p:nvSpPr>
        <p:spPr>
          <a:xfrm>
            <a:off x="5925312" y="3273552"/>
            <a:ext cx="2743200" cy="274320"/>
          </a:xfrm>
          <a:prstGeom prst="rect">
            <a:avLst/>
          </a:prstGeom>
          <a:noFill/>
          <a:ln/>
        </p:spPr>
        <p:txBody>
          <a:bodyPr wrap="square" lIns="0" tIns="0" rIns="0" bIns="0" rtlCol="0" anchor="ctr"/>
          <a:lstStyle/>
          <a:p>
            <a:pPr marL="0" indent="0">
              <a:lnSpc>
                <a:spcPct val="110000"/>
              </a:lnSpc>
              <a:buNone/>
            </a:pPr>
            <a:r>
              <a:rPr lang="en-US" sz="950" b="1" dirty="0">
                <a:solidFill>
                  <a:srgbClr val="1B2A4A"/>
                </a:solidFill>
                <a:latin typeface="Calibri" pitchFamily="34" charset="0"/>
                <a:ea typeface="Calibri" pitchFamily="34" charset="-122"/>
                <a:cs typeface="Calibri" pitchFamily="34" charset="-120"/>
              </a:rPr>
              <a:t>"We're not ready yet."</a:t>
            </a:r>
            <a:endParaRPr lang="en-US" sz="950" dirty="0"/>
          </a:p>
        </p:txBody>
      </p:sp>
      <p:sp>
        <p:nvSpPr>
          <p:cNvPr id="21" name="Text 19"/>
          <p:cNvSpPr/>
          <p:nvPr/>
        </p:nvSpPr>
        <p:spPr>
          <a:xfrm>
            <a:off x="5925312" y="3547872"/>
            <a:ext cx="2743200" cy="438912"/>
          </a:xfrm>
          <a:prstGeom prst="rect">
            <a:avLst/>
          </a:prstGeom>
          <a:noFill/>
          <a:ln/>
        </p:spPr>
        <p:txBody>
          <a:bodyPr wrap="square" lIns="0" tIns="0" rIns="0" bIns="0" rtlCol="0" anchor="ctr"/>
          <a:lstStyle/>
          <a:p>
            <a:pPr marL="0" indent="0">
              <a:lnSpc>
                <a:spcPct val="120000"/>
              </a:lnSpc>
              <a:buNone/>
            </a:pPr>
            <a:r>
              <a:rPr lang="en-US" sz="900" i="1" dirty="0">
                <a:solidFill>
                  <a:srgbClr val="4A5568"/>
                </a:solidFill>
                <a:latin typeface="Calibri" pitchFamily="34" charset="0"/>
                <a:ea typeface="Calibri" pitchFamily="34" charset="-122"/>
                <a:cs typeface="Calibri" pitchFamily="34" charset="-120"/>
              </a:rPr>
              <a:t>The Readiness Assessment tells you whether you're ready. That's the point — there's no cost to finding out.</a:t>
            </a:r>
            <a:endParaRPr lang="en-US" sz="900" dirty="0"/>
          </a:p>
        </p:txBody>
      </p:sp>
      <p:sp>
        <p:nvSpPr>
          <p:cNvPr id="22" name="Shape 20"/>
          <p:cNvSpPr/>
          <p:nvPr/>
        </p:nvSpPr>
        <p:spPr>
          <a:xfrm>
            <a:off x="5925312" y="4023360"/>
            <a:ext cx="2743200" cy="18288"/>
          </a:xfrm>
          <a:prstGeom prst="rect">
            <a:avLst/>
          </a:prstGeom>
          <a:solidFill>
            <a:srgbClr val="C9DDE8"/>
          </a:solidFill>
          <a:ln w="12700">
            <a:solidFill>
              <a:srgbClr val="C9DDE8"/>
            </a:solidFill>
            <a:prstDash val="solid"/>
          </a:ln>
        </p:spPr>
        <p:txBody>
          <a:bodyPr/>
          <a:lstStyle/>
          <a:p>
            <a:endParaRPr lang="en-US"/>
          </a:p>
        </p:txBody>
      </p:sp>
      <p:sp>
        <p:nvSpPr>
          <p:cNvPr id="23" name="Text 21"/>
          <p:cNvSpPr/>
          <p:nvPr/>
        </p:nvSpPr>
        <p:spPr>
          <a:xfrm>
            <a:off x="5925312" y="4123944"/>
            <a:ext cx="2743200" cy="274320"/>
          </a:xfrm>
          <a:prstGeom prst="rect">
            <a:avLst/>
          </a:prstGeom>
          <a:noFill/>
          <a:ln/>
        </p:spPr>
        <p:txBody>
          <a:bodyPr wrap="square" lIns="0" tIns="0" rIns="0" bIns="0" rtlCol="0" anchor="ctr"/>
          <a:lstStyle/>
          <a:p>
            <a:pPr marL="0" indent="0">
              <a:lnSpc>
                <a:spcPct val="110000"/>
              </a:lnSpc>
              <a:buNone/>
            </a:pPr>
            <a:r>
              <a:rPr lang="en-US" sz="950" b="1" dirty="0">
                <a:solidFill>
                  <a:srgbClr val="1B2A4A"/>
                </a:solidFill>
                <a:latin typeface="Calibri" pitchFamily="34" charset="0"/>
                <a:ea typeface="Calibri" pitchFamily="34" charset="-122"/>
                <a:cs typeface="Calibri" pitchFamily="34" charset="-120"/>
              </a:rPr>
              <a:t>"We'll build this internally."</a:t>
            </a:r>
            <a:endParaRPr lang="en-US" sz="950" dirty="0"/>
          </a:p>
        </p:txBody>
      </p:sp>
      <p:sp>
        <p:nvSpPr>
          <p:cNvPr id="24" name="Text 22"/>
          <p:cNvSpPr/>
          <p:nvPr/>
        </p:nvSpPr>
        <p:spPr>
          <a:xfrm>
            <a:off x="5925312" y="4398264"/>
            <a:ext cx="2743200" cy="438912"/>
          </a:xfrm>
          <a:prstGeom prst="rect">
            <a:avLst/>
          </a:prstGeom>
          <a:noFill/>
          <a:ln/>
        </p:spPr>
        <p:txBody>
          <a:bodyPr wrap="square" lIns="0" tIns="0" rIns="0" bIns="0" rtlCol="0" anchor="ctr"/>
          <a:lstStyle/>
          <a:p>
            <a:pPr marL="0" indent="0">
              <a:lnSpc>
                <a:spcPct val="120000"/>
              </a:lnSpc>
              <a:buNone/>
            </a:pPr>
            <a:r>
              <a:rPr lang="en-US" sz="900" i="1" dirty="0">
                <a:solidFill>
                  <a:srgbClr val="4A5568"/>
                </a:solidFill>
                <a:latin typeface="Calibri" pitchFamily="34" charset="0"/>
                <a:ea typeface="Calibri" pitchFamily="34" charset="-122"/>
                <a:cs typeface="Calibri" pitchFamily="34" charset="-120"/>
              </a:rPr>
              <a:t>What's your timeline? EU AI Act enforcement doesn't wait for roadmap capacity. How many sprints will it take to replicate OCC-ready audit infrastructure?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75488"/>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How We'll Know We're Winning</a:t>
            </a:r>
            <a:endParaRPr lang="en-US" sz="2800" dirty="0"/>
          </a:p>
        </p:txBody>
      </p:sp>
      <p:sp>
        <p:nvSpPr>
          <p:cNvPr id="3" name="Text 1"/>
          <p:cNvSpPr/>
          <p:nvPr/>
        </p:nvSpPr>
        <p:spPr>
          <a:xfrm>
            <a:off x="457200" y="758952"/>
            <a:ext cx="8229600" cy="274320"/>
          </a:xfrm>
          <a:prstGeom prst="rect">
            <a:avLst/>
          </a:prstGeom>
          <a:noFill/>
          <a:ln/>
        </p:spPr>
        <p:txBody>
          <a:bodyPr wrap="square" lIns="0" tIns="0" rIns="0" bIns="0" rtlCol="0" anchor="ctr"/>
          <a:lstStyle/>
          <a:p>
            <a:pPr marL="0" indent="0">
              <a:buNone/>
            </a:pPr>
            <a:r>
              <a:rPr lang="en-US" sz="1300" i="1" dirty="0">
                <a:solidFill>
                  <a:srgbClr val="6B7A8D"/>
                </a:solidFill>
                <a:latin typeface="Calibri" pitchFamily="34" charset="0"/>
                <a:ea typeface="Calibri" pitchFamily="34" charset="-122"/>
                <a:cs typeface="Calibri" pitchFamily="34" charset="-120"/>
              </a:rPr>
              <a:t>Q1 success metrics — marketing, sales, and pipeline KPIs with 90-day targets</a:t>
            </a:r>
            <a:endParaRPr lang="en-US" sz="1300" dirty="0"/>
          </a:p>
        </p:txBody>
      </p:sp>
      <p:sp>
        <p:nvSpPr>
          <p:cNvPr id="4" name="Shape 2"/>
          <p:cNvSpPr/>
          <p:nvPr/>
        </p:nvSpPr>
        <p:spPr>
          <a:xfrm>
            <a:off x="457200" y="1170432"/>
            <a:ext cx="8412480" cy="1078992"/>
          </a:xfrm>
          <a:prstGeom prst="roundRect">
            <a:avLst>
              <a:gd name="adj" fmla="val 8475"/>
            </a:avLst>
          </a:prstGeom>
          <a:solidFill>
            <a:srgbClr val="1B2A4A"/>
          </a:solidFill>
          <a:ln w="12700">
            <a:solidFill>
              <a:srgbClr val="1B2A4A"/>
            </a:solidFill>
            <a:prstDash val="solid"/>
          </a:ln>
        </p:spPr>
        <p:txBody>
          <a:bodyPr/>
          <a:lstStyle/>
          <a:p>
            <a:endParaRPr lang="en-US"/>
          </a:p>
        </p:txBody>
      </p:sp>
      <p:sp>
        <p:nvSpPr>
          <p:cNvPr id="5" name="Text 3"/>
          <p:cNvSpPr/>
          <p:nvPr/>
        </p:nvSpPr>
        <p:spPr>
          <a:xfrm>
            <a:off x="640080" y="1234440"/>
            <a:ext cx="1371600" cy="914400"/>
          </a:xfrm>
          <a:prstGeom prst="rect">
            <a:avLst/>
          </a:prstGeom>
          <a:noFill/>
          <a:ln/>
        </p:spPr>
        <p:txBody>
          <a:bodyPr wrap="square" lIns="0" tIns="0" rIns="0" bIns="0" rtlCol="0" anchor="ctr"/>
          <a:lstStyle/>
          <a:p>
            <a:pPr marL="0" indent="0">
              <a:buNone/>
            </a:pPr>
            <a:r>
              <a:rPr lang="en-US" sz="5800" b="1" dirty="0">
                <a:solidFill>
                  <a:srgbClr val="0D7B8A"/>
                </a:solidFill>
                <a:latin typeface="Cambria" pitchFamily="34" charset="0"/>
                <a:ea typeface="Cambria" pitchFamily="34" charset="-122"/>
                <a:cs typeface="Cambria" pitchFamily="34" charset="-120"/>
              </a:rPr>
              <a:t>200</a:t>
            </a:r>
            <a:endParaRPr lang="en-US" sz="5800" dirty="0"/>
          </a:p>
        </p:txBody>
      </p:sp>
      <p:sp>
        <p:nvSpPr>
          <p:cNvPr id="6" name="Text 4"/>
          <p:cNvSpPr/>
          <p:nvPr/>
        </p:nvSpPr>
        <p:spPr>
          <a:xfrm>
            <a:off x="2103120" y="1353312"/>
            <a:ext cx="3657600" cy="38404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Enterprise SQLs in 90 Days</a:t>
            </a:r>
            <a:endParaRPr lang="en-US" sz="2000" dirty="0"/>
          </a:p>
        </p:txBody>
      </p:sp>
      <p:sp>
        <p:nvSpPr>
          <p:cNvPr id="7" name="Text 5"/>
          <p:cNvSpPr/>
          <p:nvPr/>
        </p:nvSpPr>
        <p:spPr>
          <a:xfrm>
            <a:off x="2103120" y="1755648"/>
            <a:ext cx="3657600" cy="237744"/>
          </a:xfrm>
          <a:prstGeom prst="rect">
            <a:avLst/>
          </a:prstGeom>
          <a:noFill/>
          <a:ln/>
        </p:spPr>
        <p:txBody>
          <a:bodyPr wrap="square" lIns="0" tIns="0" rIns="0" bIns="0" rtlCol="0" anchor="ctr"/>
          <a:lstStyle/>
          <a:p>
            <a:pPr marL="0" indent="0">
              <a:buNone/>
            </a:pPr>
            <a:r>
              <a:rPr lang="en-US" sz="1100" i="1" dirty="0">
                <a:solidFill>
                  <a:srgbClr val="C9DDE8"/>
                </a:solidFill>
                <a:latin typeface="Calibri" pitchFamily="34" charset="0"/>
                <a:ea typeface="Calibri" pitchFamily="34" charset="-122"/>
                <a:cs typeface="Calibri" pitchFamily="34" charset="-120"/>
              </a:rPr>
              <a:t>Primary campaign objective</a:t>
            </a:r>
            <a:endParaRPr lang="en-US" sz="1100" dirty="0"/>
          </a:p>
        </p:txBody>
      </p:sp>
      <p:sp>
        <p:nvSpPr>
          <p:cNvPr id="8" name="Text 6"/>
          <p:cNvSpPr/>
          <p:nvPr/>
        </p:nvSpPr>
        <p:spPr>
          <a:xfrm>
            <a:off x="5623560" y="1298448"/>
            <a:ext cx="2926080" cy="822960"/>
          </a:xfrm>
          <a:prstGeom prst="rect">
            <a:avLst/>
          </a:prstGeom>
          <a:noFill/>
          <a:ln/>
        </p:spPr>
        <p:txBody>
          <a:bodyPr wrap="square" lIns="0" tIns="0" rIns="0" bIns="0" rtlCol="0" anchor="ctr"/>
          <a:lstStyle/>
          <a:p>
            <a:pPr marL="0" indent="0">
              <a:lnSpc>
                <a:spcPct val="130000"/>
              </a:lnSpc>
              <a:buNone/>
            </a:pPr>
            <a:r>
              <a:rPr lang="en-US" sz="850" dirty="0">
                <a:solidFill>
                  <a:srgbClr val="C9DDE8"/>
                </a:solidFill>
                <a:latin typeface="Calibri" pitchFamily="34" charset="0"/>
                <a:ea typeface="Calibri" pitchFamily="34" charset="-122"/>
                <a:cs typeface="Calibri" pitchFamily="34" charset="-120"/>
              </a:rPr>
              <a:t>SQL = Attended Readiness Assessment OR Agreed pilot conversation with AE + C-Suite/VP contact engaged</a:t>
            </a:r>
            <a:endParaRPr lang="en-US" sz="850" dirty="0"/>
          </a:p>
        </p:txBody>
      </p:sp>
      <p:sp>
        <p:nvSpPr>
          <p:cNvPr id="9" name="Shape 7"/>
          <p:cNvSpPr/>
          <p:nvPr/>
        </p:nvSpPr>
        <p:spPr>
          <a:xfrm>
            <a:off x="457200" y="2377440"/>
            <a:ext cx="2788920" cy="2606040"/>
          </a:xfrm>
          <a:prstGeom prst="roundRect">
            <a:avLst>
              <a:gd name="adj" fmla="val 2807"/>
            </a:avLst>
          </a:prstGeom>
          <a:solidFill>
            <a:srgbClr val="FFFFFF"/>
          </a:solidFill>
          <a:ln w="12700">
            <a:solidFill>
              <a:srgbClr val="C9DDE8"/>
            </a:solidFill>
            <a:prstDash val="solid"/>
          </a:ln>
          <a:effectLst>
            <a:outerShdw blurRad="101600" dist="38100" dir="2700000" algn="bl" rotWithShape="0">
              <a:srgbClr val="000000">
                <a:alpha val="10000"/>
              </a:srgbClr>
            </a:outerShdw>
          </a:effectLst>
        </p:spPr>
        <p:txBody>
          <a:bodyPr/>
          <a:lstStyle/>
          <a:p>
            <a:endParaRPr lang="en-US"/>
          </a:p>
        </p:txBody>
      </p:sp>
      <p:sp>
        <p:nvSpPr>
          <p:cNvPr id="10" name="Text 8"/>
          <p:cNvSpPr/>
          <p:nvPr/>
        </p:nvSpPr>
        <p:spPr>
          <a:xfrm>
            <a:off x="594360" y="2487168"/>
            <a:ext cx="2514600" cy="219456"/>
          </a:xfrm>
          <a:prstGeom prst="rect">
            <a:avLst/>
          </a:prstGeom>
          <a:noFill/>
          <a:ln/>
        </p:spPr>
        <p:txBody>
          <a:bodyPr wrap="square" lIns="0" tIns="0" rIns="0" bIns="0" rtlCol="0" anchor="ctr"/>
          <a:lstStyle/>
          <a:p>
            <a:pPr marL="0" indent="0">
              <a:buNone/>
            </a:pPr>
            <a:r>
              <a:rPr lang="en-US" sz="850" b="1" kern="0" spc="150" dirty="0">
                <a:solidFill>
                  <a:srgbClr val="0D7B8A"/>
                </a:solidFill>
                <a:latin typeface="Calibri" pitchFamily="34" charset="0"/>
                <a:ea typeface="Calibri" pitchFamily="34" charset="-122"/>
                <a:cs typeface="Calibri" pitchFamily="34" charset="-120"/>
              </a:rPr>
              <a:t>DEMAND GENERATION</a:t>
            </a:r>
            <a:endParaRPr lang="en-US" sz="850" dirty="0"/>
          </a:p>
        </p:txBody>
      </p:sp>
      <p:sp>
        <p:nvSpPr>
          <p:cNvPr id="11" name="Text 9"/>
          <p:cNvSpPr/>
          <p:nvPr/>
        </p:nvSpPr>
        <p:spPr>
          <a:xfrm>
            <a:off x="594360" y="2761488"/>
            <a:ext cx="2514600" cy="182880"/>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Readiness Assessments Booked</a:t>
            </a:r>
            <a:endParaRPr lang="en-US" sz="800" dirty="0"/>
          </a:p>
        </p:txBody>
      </p:sp>
      <p:sp>
        <p:nvSpPr>
          <p:cNvPr id="12" name="Text 10"/>
          <p:cNvSpPr/>
          <p:nvPr/>
        </p:nvSpPr>
        <p:spPr>
          <a:xfrm>
            <a:off x="594360" y="2926080"/>
            <a:ext cx="2514600" cy="164592"/>
          </a:xfrm>
          <a:prstGeom prst="rect">
            <a:avLst/>
          </a:prstGeom>
          <a:noFill/>
          <a:ln/>
        </p:spPr>
        <p:txBody>
          <a:bodyPr wrap="square" lIns="0" tIns="0" rIns="0" bIns="0"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300</a:t>
            </a:r>
            <a:endParaRPr lang="en-US" sz="900" dirty="0"/>
          </a:p>
        </p:txBody>
      </p:sp>
      <p:sp>
        <p:nvSpPr>
          <p:cNvPr id="13" name="Shape 11"/>
          <p:cNvSpPr/>
          <p:nvPr/>
        </p:nvSpPr>
        <p:spPr>
          <a:xfrm>
            <a:off x="594360" y="3090672"/>
            <a:ext cx="2514600" cy="9144"/>
          </a:xfrm>
          <a:prstGeom prst="rect">
            <a:avLst/>
          </a:prstGeom>
          <a:solidFill>
            <a:srgbClr val="C9DDE8"/>
          </a:solidFill>
          <a:ln w="12700">
            <a:solidFill>
              <a:srgbClr val="C9DDE8"/>
            </a:solidFill>
            <a:prstDash val="solid"/>
          </a:ln>
        </p:spPr>
        <p:txBody>
          <a:bodyPr/>
          <a:lstStyle/>
          <a:p>
            <a:endParaRPr lang="en-US"/>
          </a:p>
        </p:txBody>
      </p:sp>
      <p:sp>
        <p:nvSpPr>
          <p:cNvPr id="14" name="Text 12"/>
          <p:cNvSpPr/>
          <p:nvPr/>
        </p:nvSpPr>
        <p:spPr>
          <a:xfrm>
            <a:off x="594360" y="3118104"/>
            <a:ext cx="2514600" cy="182880"/>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Readiness Assessments Completed</a:t>
            </a:r>
            <a:endParaRPr lang="en-US" sz="800" dirty="0"/>
          </a:p>
        </p:txBody>
      </p:sp>
      <p:sp>
        <p:nvSpPr>
          <p:cNvPr id="15" name="Text 13"/>
          <p:cNvSpPr/>
          <p:nvPr/>
        </p:nvSpPr>
        <p:spPr>
          <a:xfrm>
            <a:off x="594360" y="3282696"/>
            <a:ext cx="2514600" cy="164592"/>
          </a:xfrm>
          <a:prstGeom prst="rect">
            <a:avLst/>
          </a:prstGeom>
          <a:noFill/>
          <a:ln/>
        </p:spPr>
        <p:txBody>
          <a:bodyPr wrap="square" lIns="0" tIns="0" rIns="0" bIns="0"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220</a:t>
            </a:r>
            <a:endParaRPr lang="en-US" sz="900" dirty="0"/>
          </a:p>
        </p:txBody>
      </p:sp>
      <p:sp>
        <p:nvSpPr>
          <p:cNvPr id="16" name="Shape 14"/>
          <p:cNvSpPr/>
          <p:nvPr/>
        </p:nvSpPr>
        <p:spPr>
          <a:xfrm>
            <a:off x="594360" y="3447288"/>
            <a:ext cx="2514600" cy="9144"/>
          </a:xfrm>
          <a:prstGeom prst="rect">
            <a:avLst/>
          </a:prstGeom>
          <a:solidFill>
            <a:srgbClr val="C9DDE8"/>
          </a:solidFill>
          <a:ln w="12700">
            <a:solidFill>
              <a:srgbClr val="C9DDE8"/>
            </a:solidFill>
            <a:prstDash val="solid"/>
          </a:ln>
        </p:spPr>
        <p:txBody>
          <a:bodyPr/>
          <a:lstStyle/>
          <a:p>
            <a:endParaRPr lang="en-US"/>
          </a:p>
        </p:txBody>
      </p:sp>
      <p:sp>
        <p:nvSpPr>
          <p:cNvPr id="17" name="Text 15"/>
          <p:cNvSpPr/>
          <p:nvPr/>
        </p:nvSpPr>
        <p:spPr>
          <a:xfrm>
            <a:off x="594360" y="3474720"/>
            <a:ext cx="2514600" cy="182880"/>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Assessment-to-SQL Conversion</a:t>
            </a:r>
            <a:endParaRPr lang="en-US" sz="800" dirty="0"/>
          </a:p>
        </p:txBody>
      </p:sp>
      <p:sp>
        <p:nvSpPr>
          <p:cNvPr id="18" name="Text 16"/>
          <p:cNvSpPr/>
          <p:nvPr/>
        </p:nvSpPr>
        <p:spPr>
          <a:xfrm>
            <a:off x="594360" y="3639312"/>
            <a:ext cx="2514600" cy="164592"/>
          </a:xfrm>
          <a:prstGeom prst="rect">
            <a:avLst/>
          </a:prstGeom>
          <a:noFill/>
          <a:ln/>
        </p:spPr>
        <p:txBody>
          <a:bodyPr wrap="square" lIns="0" tIns="0" rIns="0" bIns="0"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 40%</a:t>
            </a:r>
            <a:endParaRPr lang="en-US" sz="900" dirty="0"/>
          </a:p>
        </p:txBody>
      </p:sp>
      <p:sp>
        <p:nvSpPr>
          <p:cNvPr id="19" name="Shape 17"/>
          <p:cNvSpPr/>
          <p:nvPr/>
        </p:nvSpPr>
        <p:spPr>
          <a:xfrm>
            <a:off x="594360" y="3803904"/>
            <a:ext cx="2514600" cy="9144"/>
          </a:xfrm>
          <a:prstGeom prst="rect">
            <a:avLst/>
          </a:prstGeom>
          <a:solidFill>
            <a:srgbClr val="C9DDE8"/>
          </a:solidFill>
          <a:ln w="12700">
            <a:solidFill>
              <a:srgbClr val="C9DDE8"/>
            </a:solidFill>
            <a:prstDash val="solid"/>
          </a:ln>
        </p:spPr>
        <p:txBody>
          <a:bodyPr/>
          <a:lstStyle/>
          <a:p>
            <a:endParaRPr lang="en-US"/>
          </a:p>
        </p:txBody>
      </p:sp>
      <p:sp>
        <p:nvSpPr>
          <p:cNvPr id="20" name="Text 18"/>
          <p:cNvSpPr/>
          <p:nvPr/>
        </p:nvSpPr>
        <p:spPr>
          <a:xfrm>
            <a:off x="594360" y="3831336"/>
            <a:ext cx="2514600" cy="182880"/>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Pilot Programs Activated</a:t>
            </a:r>
            <a:endParaRPr lang="en-US" sz="800" dirty="0"/>
          </a:p>
        </p:txBody>
      </p:sp>
      <p:sp>
        <p:nvSpPr>
          <p:cNvPr id="21" name="Text 19"/>
          <p:cNvSpPr/>
          <p:nvPr/>
        </p:nvSpPr>
        <p:spPr>
          <a:xfrm>
            <a:off x="594360" y="3995928"/>
            <a:ext cx="2514600" cy="164592"/>
          </a:xfrm>
          <a:prstGeom prst="rect">
            <a:avLst/>
          </a:prstGeom>
          <a:noFill/>
          <a:ln/>
        </p:spPr>
        <p:txBody>
          <a:bodyPr wrap="square" lIns="0" tIns="0" rIns="0" bIns="0"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40</a:t>
            </a:r>
            <a:endParaRPr lang="en-US" sz="900" dirty="0"/>
          </a:p>
        </p:txBody>
      </p:sp>
      <p:sp>
        <p:nvSpPr>
          <p:cNvPr id="22" name="Shape 20"/>
          <p:cNvSpPr/>
          <p:nvPr/>
        </p:nvSpPr>
        <p:spPr>
          <a:xfrm>
            <a:off x="594360" y="4160520"/>
            <a:ext cx="2514600" cy="9144"/>
          </a:xfrm>
          <a:prstGeom prst="rect">
            <a:avLst/>
          </a:prstGeom>
          <a:solidFill>
            <a:srgbClr val="C9DDE8"/>
          </a:solidFill>
          <a:ln w="12700">
            <a:solidFill>
              <a:srgbClr val="C9DDE8"/>
            </a:solidFill>
            <a:prstDash val="solid"/>
          </a:ln>
        </p:spPr>
        <p:txBody>
          <a:bodyPr/>
          <a:lstStyle/>
          <a:p>
            <a:endParaRPr lang="en-US"/>
          </a:p>
        </p:txBody>
      </p:sp>
      <p:sp>
        <p:nvSpPr>
          <p:cNvPr id="23" name="Text 21"/>
          <p:cNvSpPr/>
          <p:nvPr/>
        </p:nvSpPr>
        <p:spPr>
          <a:xfrm>
            <a:off x="594360" y="4187952"/>
            <a:ext cx="2514600" cy="182880"/>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Webinar Registrations</a:t>
            </a:r>
            <a:endParaRPr lang="en-US" sz="800" dirty="0"/>
          </a:p>
        </p:txBody>
      </p:sp>
      <p:sp>
        <p:nvSpPr>
          <p:cNvPr id="24" name="Text 22"/>
          <p:cNvSpPr/>
          <p:nvPr/>
        </p:nvSpPr>
        <p:spPr>
          <a:xfrm>
            <a:off x="594360" y="4352544"/>
            <a:ext cx="2514600" cy="164592"/>
          </a:xfrm>
          <a:prstGeom prst="rect">
            <a:avLst/>
          </a:prstGeom>
          <a:noFill/>
          <a:ln/>
        </p:spPr>
        <p:txBody>
          <a:bodyPr wrap="square" lIns="0" tIns="0" rIns="0" bIns="0"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2,500</a:t>
            </a:r>
            <a:endParaRPr lang="en-US" sz="900" dirty="0"/>
          </a:p>
        </p:txBody>
      </p:sp>
      <p:sp>
        <p:nvSpPr>
          <p:cNvPr id="25" name="Shape 23"/>
          <p:cNvSpPr/>
          <p:nvPr/>
        </p:nvSpPr>
        <p:spPr>
          <a:xfrm>
            <a:off x="594360" y="4517136"/>
            <a:ext cx="2514600" cy="9144"/>
          </a:xfrm>
          <a:prstGeom prst="rect">
            <a:avLst/>
          </a:prstGeom>
          <a:solidFill>
            <a:srgbClr val="C9DDE8"/>
          </a:solidFill>
          <a:ln w="12700">
            <a:solidFill>
              <a:srgbClr val="C9DDE8"/>
            </a:solidFill>
            <a:prstDash val="solid"/>
          </a:ln>
        </p:spPr>
        <p:txBody>
          <a:bodyPr/>
          <a:lstStyle/>
          <a:p>
            <a:endParaRPr lang="en-US"/>
          </a:p>
        </p:txBody>
      </p:sp>
      <p:sp>
        <p:nvSpPr>
          <p:cNvPr id="26" name="Text 24"/>
          <p:cNvSpPr/>
          <p:nvPr/>
        </p:nvSpPr>
        <p:spPr>
          <a:xfrm>
            <a:off x="594360" y="4544568"/>
            <a:ext cx="2514600" cy="182880"/>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Executive Roundtable Attendees</a:t>
            </a:r>
            <a:endParaRPr lang="en-US" sz="800" dirty="0"/>
          </a:p>
        </p:txBody>
      </p:sp>
      <p:sp>
        <p:nvSpPr>
          <p:cNvPr id="27" name="Text 25"/>
          <p:cNvSpPr/>
          <p:nvPr/>
        </p:nvSpPr>
        <p:spPr>
          <a:xfrm>
            <a:off x="594360" y="4709160"/>
            <a:ext cx="2514600" cy="164592"/>
          </a:xfrm>
          <a:prstGeom prst="rect">
            <a:avLst/>
          </a:prstGeom>
          <a:noFill/>
          <a:ln/>
        </p:spPr>
        <p:txBody>
          <a:bodyPr wrap="square" lIns="0" tIns="0" rIns="0" bIns="0"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150</a:t>
            </a:r>
            <a:endParaRPr lang="en-US" sz="900" dirty="0"/>
          </a:p>
        </p:txBody>
      </p:sp>
      <p:sp>
        <p:nvSpPr>
          <p:cNvPr id="28" name="Shape 26"/>
          <p:cNvSpPr/>
          <p:nvPr/>
        </p:nvSpPr>
        <p:spPr>
          <a:xfrm>
            <a:off x="3090672" y="2377440"/>
            <a:ext cx="2788920" cy="2606040"/>
          </a:xfrm>
          <a:prstGeom prst="roundRect">
            <a:avLst>
              <a:gd name="adj" fmla="val 2807"/>
            </a:avLst>
          </a:prstGeom>
          <a:solidFill>
            <a:srgbClr val="FFFFFF"/>
          </a:solidFill>
          <a:ln w="12700">
            <a:solidFill>
              <a:srgbClr val="C9DDE8"/>
            </a:solidFill>
            <a:prstDash val="solid"/>
          </a:ln>
          <a:effectLst>
            <a:outerShdw blurRad="101600" dist="38100" dir="2700000" algn="bl" rotWithShape="0">
              <a:srgbClr val="000000">
                <a:alpha val="10000"/>
              </a:srgbClr>
            </a:outerShdw>
          </a:effectLst>
        </p:spPr>
        <p:txBody>
          <a:bodyPr/>
          <a:lstStyle/>
          <a:p>
            <a:endParaRPr lang="en-US"/>
          </a:p>
        </p:txBody>
      </p:sp>
      <p:sp>
        <p:nvSpPr>
          <p:cNvPr id="29" name="Text 27"/>
          <p:cNvSpPr/>
          <p:nvPr/>
        </p:nvSpPr>
        <p:spPr>
          <a:xfrm>
            <a:off x="3227832" y="2487168"/>
            <a:ext cx="2514600" cy="219456"/>
          </a:xfrm>
          <a:prstGeom prst="rect">
            <a:avLst/>
          </a:prstGeom>
          <a:noFill/>
          <a:ln/>
        </p:spPr>
        <p:txBody>
          <a:bodyPr wrap="square" lIns="0" tIns="0" rIns="0" bIns="0" rtlCol="0" anchor="ctr"/>
          <a:lstStyle/>
          <a:p>
            <a:pPr marL="0" indent="0">
              <a:buNone/>
            </a:pPr>
            <a:r>
              <a:rPr lang="en-US" sz="850" b="1" kern="0" spc="150" dirty="0">
                <a:solidFill>
                  <a:srgbClr val="0D7B8A"/>
                </a:solidFill>
                <a:latin typeface="Calibri" pitchFamily="34" charset="0"/>
                <a:ea typeface="Calibri" pitchFamily="34" charset="-122"/>
                <a:cs typeface="Calibri" pitchFamily="34" charset="-120"/>
              </a:rPr>
              <a:t>PIPELINE &amp; REVENUE</a:t>
            </a:r>
            <a:endParaRPr lang="en-US" sz="850" dirty="0"/>
          </a:p>
        </p:txBody>
      </p:sp>
      <p:sp>
        <p:nvSpPr>
          <p:cNvPr id="30" name="Text 28"/>
          <p:cNvSpPr/>
          <p:nvPr/>
        </p:nvSpPr>
        <p:spPr>
          <a:xfrm>
            <a:off x="3227832" y="2761488"/>
            <a:ext cx="2514600" cy="182880"/>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Pipeline Created (Q1)</a:t>
            </a:r>
            <a:endParaRPr lang="en-US" sz="800" dirty="0"/>
          </a:p>
        </p:txBody>
      </p:sp>
      <p:sp>
        <p:nvSpPr>
          <p:cNvPr id="31" name="Text 29"/>
          <p:cNvSpPr/>
          <p:nvPr/>
        </p:nvSpPr>
        <p:spPr>
          <a:xfrm>
            <a:off x="3227832" y="2926080"/>
            <a:ext cx="2514600" cy="164592"/>
          </a:xfrm>
          <a:prstGeom prst="rect">
            <a:avLst/>
          </a:prstGeom>
          <a:noFill/>
          <a:ln/>
        </p:spPr>
        <p:txBody>
          <a:bodyPr wrap="square" lIns="0" tIns="0" rIns="0" bIns="0"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$18M</a:t>
            </a:r>
            <a:endParaRPr lang="en-US" sz="900" dirty="0"/>
          </a:p>
        </p:txBody>
      </p:sp>
      <p:sp>
        <p:nvSpPr>
          <p:cNvPr id="32" name="Shape 30"/>
          <p:cNvSpPr/>
          <p:nvPr/>
        </p:nvSpPr>
        <p:spPr>
          <a:xfrm>
            <a:off x="3227832" y="3090672"/>
            <a:ext cx="2514600" cy="9144"/>
          </a:xfrm>
          <a:prstGeom prst="rect">
            <a:avLst/>
          </a:prstGeom>
          <a:solidFill>
            <a:srgbClr val="C9DDE8"/>
          </a:solidFill>
          <a:ln w="12700">
            <a:solidFill>
              <a:srgbClr val="C9DDE8"/>
            </a:solidFill>
            <a:prstDash val="solid"/>
          </a:ln>
        </p:spPr>
        <p:txBody>
          <a:bodyPr/>
          <a:lstStyle/>
          <a:p>
            <a:endParaRPr lang="en-US"/>
          </a:p>
        </p:txBody>
      </p:sp>
      <p:sp>
        <p:nvSpPr>
          <p:cNvPr id="33" name="Text 31"/>
          <p:cNvSpPr/>
          <p:nvPr/>
        </p:nvSpPr>
        <p:spPr>
          <a:xfrm>
            <a:off x="3227832" y="3118104"/>
            <a:ext cx="2514600" cy="182880"/>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Enterprise Proposals Sent</a:t>
            </a:r>
            <a:endParaRPr lang="en-US" sz="800" dirty="0"/>
          </a:p>
        </p:txBody>
      </p:sp>
      <p:sp>
        <p:nvSpPr>
          <p:cNvPr id="34" name="Text 32"/>
          <p:cNvSpPr/>
          <p:nvPr/>
        </p:nvSpPr>
        <p:spPr>
          <a:xfrm>
            <a:off x="3227832" y="3282696"/>
            <a:ext cx="2514600" cy="164592"/>
          </a:xfrm>
          <a:prstGeom prst="rect">
            <a:avLst/>
          </a:prstGeom>
          <a:noFill/>
          <a:ln/>
        </p:spPr>
        <p:txBody>
          <a:bodyPr wrap="square" lIns="0" tIns="0" rIns="0" bIns="0"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25</a:t>
            </a:r>
            <a:endParaRPr lang="en-US" sz="900" dirty="0"/>
          </a:p>
        </p:txBody>
      </p:sp>
      <p:sp>
        <p:nvSpPr>
          <p:cNvPr id="35" name="Shape 33"/>
          <p:cNvSpPr/>
          <p:nvPr/>
        </p:nvSpPr>
        <p:spPr>
          <a:xfrm>
            <a:off x="3227832" y="3447288"/>
            <a:ext cx="2514600" cy="9144"/>
          </a:xfrm>
          <a:prstGeom prst="rect">
            <a:avLst/>
          </a:prstGeom>
          <a:solidFill>
            <a:srgbClr val="C9DDE8"/>
          </a:solidFill>
          <a:ln w="12700">
            <a:solidFill>
              <a:srgbClr val="C9DDE8"/>
            </a:solidFill>
            <a:prstDash val="solid"/>
          </a:ln>
        </p:spPr>
        <p:txBody>
          <a:bodyPr/>
          <a:lstStyle/>
          <a:p>
            <a:endParaRPr lang="en-US"/>
          </a:p>
        </p:txBody>
      </p:sp>
      <p:sp>
        <p:nvSpPr>
          <p:cNvPr id="36" name="Text 34"/>
          <p:cNvSpPr/>
          <p:nvPr/>
        </p:nvSpPr>
        <p:spPr>
          <a:xfrm>
            <a:off x="3227832" y="3474720"/>
            <a:ext cx="2514600" cy="182880"/>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Avg. Deal Size (target)</a:t>
            </a:r>
            <a:endParaRPr lang="en-US" sz="800" dirty="0"/>
          </a:p>
        </p:txBody>
      </p:sp>
      <p:sp>
        <p:nvSpPr>
          <p:cNvPr id="37" name="Text 35"/>
          <p:cNvSpPr/>
          <p:nvPr/>
        </p:nvSpPr>
        <p:spPr>
          <a:xfrm>
            <a:off x="3227832" y="3639312"/>
            <a:ext cx="2514600" cy="164592"/>
          </a:xfrm>
          <a:prstGeom prst="rect">
            <a:avLst/>
          </a:prstGeom>
          <a:noFill/>
          <a:ln/>
        </p:spPr>
        <p:txBody>
          <a:bodyPr wrap="square" lIns="0" tIns="0" rIns="0" bIns="0"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$230K ARR</a:t>
            </a:r>
            <a:endParaRPr lang="en-US" sz="900" dirty="0"/>
          </a:p>
        </p:txBody>
      </p:sp>
      <p:sp>
        <p:nvSpPr>
          <p:cNvPr id="38" name="Shape 36"/>
          <p:cNvSpPr/>
          <p:nvPr/>
        </p:nvSpPr>
        <p:spPr>
          <a:xfrm>
            <a:off x="3227832" y="3803904"/>
            <a:ext cx="2514600" cy="9144"/>
          </a:xfrm>
          <a:prstGeom prst="rect">
            <a:avLst/>
          </a:prstGeom>
          <a:solidFill>
            <a:srgbClr val="C9DDE8"/>
          </a:solidFill>
          <a:ln w="12700">
            <a:solidFill>
              <a:srgbClr val="C9DDE8"/>
            </a:solidFill>
            <a:prstDash val="solid"/>
          </a:ln>
        </p:spPr>
        <p:txBody>
          <a:bodyPr/>
          <a:lstStyle/>
          <a:p>
            <a:endParaRPr lang="en-US"/>
          </a:p>
        </p:txBody>
      </p:sp>
      <p:sp>
        <p:nvSpPr>
          <p:cNvPr id="39" name="Text 37"/>
          <p:cNvSpPr/>
          <p:nvPr/>
        </p:nvSpPr>
        <p:spPr>
          <a:xfrm>
            <a:off x="3227832" y="3831336"/>
            <a:ext cx="2514600" cy="182880"/>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Pilot-to-Proposal Rate</a:t>
            </a:r>
            <a:endParaRPr lang="en-US" sz="800" dirty="0"/>
          </a:p>
        </p:txBody>
      </p:sp>
      <p:sp>
        <p:nvSpPr>
          <p:cNvPr id="40" name="Text 38"/>
          <p:cNvSpPr/>
          <p:nvPr/>
        </p:nvSpPr>
        <p:spPr>
          <a:xfrm>
            <a:off x="3227832" y="3995928"/>
            <a:ext cx="2514600" cy="164592"/>
          </a:xfrm>
          <a:prstGeom prst="rect">
            <a:avLst/>
          </a:prstGeom>
          <a:noFill/>
          <a:ln/>
        </p:spPr>
        <p:txBody>
          <a:bodyPr wrap="square" lIns="0" tIns="0" rIns="0" bIns="0"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 55%</a:t>
            </a:r>
            <a:endParaRPr lang="en-US" sz="900" dirty="0"/>
          </a:p>
        </p:txBody>
      </p:sp>
      <p:sp>
        <p:nvSpPr>
          <p:cNvPr id="41" name="Shape 39"/>
          <p:cNvSpPr/>
          <p:nvPr/>
        </p:nvSpPr>
        <p:spPr>
          <a:xfrm>
            <a:off x="3227832" y="4160520"/>
            <a:ext cx="2514600" cy="9144"/>
          </a:xfrm>
          <a:prstGeom prst="rect">
            <a:avLst/>
          </a:prstGeom>
          <a:solidFill>
            <a:srgbClr val="C9DDE8"/>
          </a:solidFill>
          <a:ln w="12700">
            <a:solidFill>
              <a:srgbClr val="C9DDE8"/>
            </a:solidFill>
            <a:prstDash val="solid"/>
          </a:ln>
        </p:spPr>
        <p:txBody>
          <a:bodyPr/>
          <a:lstStyle/>
          <a:p>
            <a:endParaRPr lang="en-US"/>
          </a:p>
        </p:txBody>
      </p:sp>
      <p:sp>
        <p:nvSpPr>
          <p:cNvPr id="42" name="Text 40"/>
          <p:cNvSpPr/>
          <p:nvPr/>
        </p:nvSpPr>
        <p:spPr>
          <a:xfrm>
            <a:off x="3227832" y="4187952"/>
            <a:ext cx="2514600" cy="182880"/>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Win Rate (vs. status quo)</a:t>
            </a:r>
            <a:endParaRPr lang="en-US" sz="800" dirty="0"/>
          </a:p>
        </p:txBody>
      </p:sp>
      <p:sp>
        <p:nvSpPr>
          <p:cNvPr id="43" name="Text 41"/>
          <p:cNvSpPr/>
          <p:nvPr/>
        </p:nvSpPr>
        <p:spPr>
          <a:xfrm>
            <a:off x="3227832" y="4352544"/>
            <a:ext cx="2514600" cy="164592"/>
          </a:xfrm>
          <a:prstGeom prst="rect">
            <a:avLst/>
          </a:prstGeom>
          <a:noFill/>
          <a:ln/>
        </p:spPr>
        <p:txBody>
          <a:bodyPr wrap="square" lIns="0" tIns="0" rIns="0" bIns="0"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 35%</a:t>
            </a:r>
            <a:endParaRPr lang="en-US" sz="900" dirty="0"/>
          </a:p>
        </p:txBody>
      </p:sp>
      <p:sp>
        <p:nvSpPr>
          <p:cNvPr id="44" name="Shape 42"/>
          <p:cNvSpPr/>
          <p:nvPr/>
        </p:nvSpPr>
        <p:spPr>
          <a:xfrm>
            <a:off x="3227832" y="4517136"/>
            <a:ext cx="2514600" cy="9144"/>
          </a:xfrm>
          <a:prstGeom prst="rect">
            <a:avLst/>
          </a:prstGeom>
          <a:solidFill>
            <a:srgbClr val="C9DDE8"/>
          </a:solidFill>
          <a:ln w="12700">
            <a:solidFill>
              <a:srgbClr val="C9DDE8"/>
            </a:solidFill>
            <a:prstDash val="solid"/>
          </a:ln>
        </p:spPr>
        <p:txBody>
          <a:bodyPr/>
          <a:lstStyle/>
          <a:p>
            <a:endParaRPr lang="en-US"/>
          </a:p>
        </p:txBody>
      </p:sp>
      <p:sp>
        <p:nvSpPr>
          <p:cNvPr id="45" name="Text 43"/>
          <p:cNvSpPr/>
          <p:nvPr/>
        </p:nvSpPr>
        <p:spPr>
          <a:xfrm>
            <a:off x="3227832" y="4544568"/>
            <a:ext cx="2514600" cy="182880"/>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Sales Cycle (assessment to close)</a:t>
            </a:r>
            <a:endParaRPr lang="en-US" sz="800" dirty="0"/>
          </a:p>
        </p:txBody>
      </p:sp>
      <p:sp>
        <p:nvSpPr>
          <p:cNvPr id="46" name="Text 44"/>
          <p:cNvSpPr/>
          <p:nvPr/>
        </p:nvSpPr>
        <p:spPr>
          <a:xfrm>
            <a:off x="3227832" y="4709160"/>
            <a:ext cx="2514600" cy="164592"/>
          </a:xfrm>
          <a:prstGeom prst="rect">
            <a:avLst/>
          </a:prstGeom>
          <a:noFill/>
          <a:ln/>
        </p:spPr>
        <p:txBody>
          <a:bodyPr wrap="square" lIns="0" tIns="0" rIns="0" bIns="0"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90 days</a:t>
            </a:r>
            <a:endParaRPr lang="en-US" sz="900" dirty="0"/>
          </a:p>
        </p:txBody>
      </p:sp>
      <p:sp>
        <p:nvSpPr>
          <p:cNvPr id="47" name="Shape 45"/>
          <p:cNvSpPr/>
          <p:nvPr/>
        </p:nvSpPr>
        <p:spPr>
          <a:xfrm>
            <a:off x="5715000" y="2377440"/>
            <a:ext cx="2788920" cy="2606040"/>
          </a:xfrm>
          <a:prstGeom prst="roundRect">
            <a:avLst>
              <a:gd name="adj" fmla="val 2807"/>
            </a:avLst>
          </a:prstGeom>
          <a:solidFill>
            <a:srgbClr val="FFFFFF"/>
          </a:solidFill>
          <a:ln w="12700">
            <a:solidFill>
              <a:srgbClr val="C9DDE8"/>
            </a:solidFill>
            <a:prstDash val="solid"/>
          </a:ln>
          <a:effectLst>
            <a:outerShdw blurRad="101600" dist="38100" dir="2700000" algn="bl" rotWithShape="0">
              <a:srgbClr val="000000">
                <a:alpha val="10000"/>
              </a:srgbClr>
            </a:outerShdw>
          </a:effectLst>
        </p:spPr>
        <p:txBody>
          <a:bodyPr/>
          <a:lstStyle/>
          <a:p>
            <a:endParaRPr lang="en-US"/>
          </a:p>
        </p:txBody>
      </p:sp>
      <p:sp>
        <p:nvSpPr>
          <p:cNvPr id="48" name="Text 46"/>
          <p:cNvSpPr/>
          <p:nvPr/>
        </p:nvSpPr>
        <p:spPr>
          <a:xfrm>
            <a:off x="5852160" y="2487168"/>
            <a:ext cx="2514600" cy="219456"/>
          </a:xfrm>
          <a:prstGeom prst="rect">
            <a:avLst/>
          </a:prstGeom>
          <a:noFill/>
          <a:ln/>
        </p:spPr>
        <p:txBody>
          <a:bodyPr wrap="square" lIns="0" tIns="0" rIns="0" bIns="0" rtlCol="0" anchor="ctr"/>
          <a:lstStyle/>
          <a:p>
            <a:pPr marL="0" indent="0">
              <a:buNone/>
            </a:pPr>
            <a:r>
              <a:rPr lang="en-US" sz="850" b="1" kern="0" spc="150" dirty="0">
                <a:solidFill>
                  <a:srgbClr val="0D7B8A"/>
                </a:solidFill>
                <a:latin typeface="Calibri" pitchFamily="34" charset="0"/>
                <a:ea typeface="Calibri" pitchFamily="34" charset="-122"/>
                <a:cs typeface="Calibri" pitchFamily="34" charset="-120"/>
              </a:rPr>
              <a:t>BRAND &amp; AWARENESS</a:t>
            </a:r>
            <a:endParaRPr lang="en-US" sz="850" dirty="0"/>
          </a:p>
        </p:txBody>
      </p:sp>
      <p:sp>
        <p:nvSpPr>
          <p:cNvPr id="49" name="Text 47"/>
          <p:cNvSpPr/>
          <p:nvPr/>
        </p:nvSpPr>
        <p:spPr>
          <a:xfrm>
            <a:off x="5852160" y="2761488"/>
            <a:ext cx="2514600" cy="182880"/>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Target Account Reach</a:t>
            </a:r>
            <a:endParaRPr lang="en-US" sz="800" dirty="0"/>
          </a:p>
        </p:txBody>
      </p:sp>
      <p:sp>
        <p:nvSpPr>
          <p:cNvPr id="50" name="Text 48"/>
          <p:cNvSpPr/>
          <p:nvPr/>
        </p:nvSpPr>
        <p:spPr>
          <a:xfrm>
            <a:off x="5852160" y="2926080"/>
            <a:ext cx="2514600" cy="164592"/>
          </a:xfrm>
          <a:prstGeom prst="rect">
            <a:avLst/>
          </a:prstGeom>
          <a:noFill/>
          <a:ln/>
        </p:spPr>
        <p:txBody>
          <a:bodyPr wrap="square" lIns="0" tIns="0" rIns="0" bIns="0"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Top 200 accounts</a:t>
            </a:r>
            <a:endParaRPr lang="en-US" sz="900" dirty="0"/>
          </a:p>
        </p:txBody>
      </p:sp>
      <p:sp>
        <p:nvSpPr>
          <p:cNvPr id="51" name="Shape 49"/>
          <p:cNvSpPr/>
          <p:nvPr/>
        </p:nvSpPr>
        <p:spPr>
          <a:xfrm>
            <a:off x="5852160" y="3090672"/>
            <a:ext cx="2514600" cy="9144"/>
          </a:xfrm>
          <a:prstGeom prst="rect">
            <a:avLst/>
          </a:prstGeom>
          <a:solidFill>
            <a:srgbClr val="C9DDE8"/>
          </a:solidFill>
          <a:ln w="12700">
            <a:solidFill>
              <a:srgbClr val="C9DDE8"/>
            </a:solidFill>
            <a:prstDash val="solid"/>
          </a:ln>
        </p:spPr>
        <p:txBody>
          <a:bodyPr/>
          <a:lstStyle/>
          <a:p>
            <a:endParaRPr lang="en-US"/>
          </a:p>
        </p:txBody>
      </p:sp>
      <p:sp>
        <p:nvSpPr>
          <p:cNvPr id="52" name="Text 50"/>
          <p:cNvSpPr/>
          <p:nvPr/>
        </p:nvSpPr>
        <p:spPr>
          <a:xfrm>
            <a:off x="5852160" y="3118104"/>
            <a:ext cx="2514600" cy="182880"/>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LinkedIn Impressions (ABM)</a:t>
            </a:r>
            <a:endParaRPr lang="en-US" sz="800" dirty="0"/>
          </a:p>
        </p:txBody>
      </p:sp>
      <p:sp>
        <p:nvSpPr>
          <p:cNvPr id="53" name="Text 51"/>
          <p:cNvSpPr/>
          <p:nvPr/>
        </p:nvSpPr>
        <p:spPr>
          <a:xfrm>
            <a:off x="5852160" y="3282696"/>
            <a:ext cx="2514600" cy="164592"/>
          </a:xfrm>
          <a:prstGeom prst="rect">
            <a:avLst/>
          </a:prstGeom>
          <a:noFill/>
          <a:ln/>
        </p:spPr>
        <p:txBody>
          <a:bodyPr wrap="square" lIns="0" tIns="0" rIns="0" bIns="0"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500K+</a:t>
            </a:r>
            <a:endParaRPr lang="en-US" sz="900" dirty="0"/>
          </a:p>
        </p:txBody>
      </p:sp>
      <p:sp>
        <p:nvSpPr>
          <p:cNvPr id="54" name="Shape 52"/>
          <p:cNvSpPr/>
          <p:nvPr/>
        </p:nvSpPr>
        <p:spPr>
          <a:xfrm>
            <a:off x="5852160" y="3447288"/>
            <a:ext cx="2514600" cy="9144"/>
          </a:xfrm>
          <a:prstGeom prst="rect">
            <a:avLst/>
          </a:prstGeom>
          <a:solidFill>
            <a:srgbClr val="C9DDE8"/>
          </a:solidFill>
          <a:ln w="12700">
            <a:solidFill>
              <a:srgbClr val="C9DDE8"/>
            </a:solidFill>
            <a:prstDash val="solid"/>
          </a:ln>
        </p:spPr>
        <p:txBody>
          <a:bodyPr/>
          <a:lstStyle/>
          <a:p>
            <a:endParaRPr lang="en-US"/>
          </a:p>
        </p:txBody>
      </p:sp>
      <p:sp>
        <p:nvSpPr>
          <p:cNvPr id="55" name="Text 53"/>
          <p:cNvSpPr/>
          <p:nvPr/>
        </p:nvSpPr>
        <p:spPr>
          <a:xfrm>
            <a:off x="5852160" y="3474720"/>
            <a:ext cx="2514600" cy="182880"/>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Organic Search — AI Governance</a:t>
            </a:r>
            <a:endParaRPr lang="en-US" sz="800" dirty="0"/>
          </a:p>
        </p:txBody>
      </p:sp>
      <p:sp>
        <p:nvSpPr>
          <p:cNvPr id="56" name="Text 54"/>
          <p:cNvSpPr/>
          <p:nvPr/>
        </p:nvSpPr>
        <p:spPr>
          <a:xfrm>
            <a:off x="5852160" y="3639312"/>
            <a:ext cx="2514600" cy="164592"/>
          </a:xfrm>
          <a:prstGeom prst="rect">
            <a:avLst/>
          </a:prstGeom>
          <a:noFill/>
          <a:ln/>
        </p:spPr>
        <p:txBody>
          <a:bodyPr wrap="square" lIns="0" tIns="0" rIns="0" bIns="0"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Top 5 ranking</a:t>
            </a:r>
            <a:endParaRPr lang="en-US" sz="900" dirty="0"/>
          </a:p>
        </p:txBody>
      </p:sp>
      <p:sp>
        <p:nvSpPr>
          <p:cNvPr id="57" name="Shape 55"/>
          <p:cNvSpPr/>
          <p:nvPr/>
        </p:nvSpPr>
        <p:spPr>
          <a:xfrm>
            <a:off x="5852160" y="3803904"/>
            <a:ext cx="2514600" cy="9144"/>
          </a:xfrm>
          <a:prstGeom prst="rect">
            <a:avLst/>
          </a:prstGeom>
          <a:solidFill>
            <a:srgbClr val="C9DDE8"/>
          </a:solidFill>
          <a:ln w="12700">
            <a:solidFill>
              <a:srgbClr val="C9DDE8"/>
            </a:solidFill>
            <a:prstDash val="solid"/>
          </a:ln>
        </p:spPr>
        <p:txBody>
          <a:bodyPr/>
          <a:lstStyle/>
          <a:p>
            <a:endParaRPr lang="en-US"/>
          </a:p>
        </p:txBody>
      </p:sp>
      <p:sp>
        <p:nvSpPr>
          <p:cNvPr id="58" name="Text 56"/>
          <p:cNvSpPr/>
          <p:nvPr/>
        </p:nvSpPr>
        <p:spPr>
          <a:xfrm>
            <a:off x="5852160" y="3831336"/>
            <a:ext cx="2514600" cy="182880"/>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Media Coverage (trade press)</a:t>
            </a:r>
            <a:endParaRPr lang="en-US" sz="800" dirty="0"/>
          </a:p>
        </p:txBody>
      </p:sp>
      <p:sp>
        <p:nvSpPr>
          <p:cNvPr id="59" name="Text 57"/>
          <p:cNvSpPr/>
          <p:nvPr/>
        </p:nvSpPr>
        <p:spPr>
          <a:xfrm>
            <a:off x="5852160" y="3995928"/>
            <a:ext cx="2514600" cy="164592"/>
          </a:xfrm>
          <a:prstGeom prst="rect">
            <a:avLst/>
          </a:prstGeom>
          <a:noFill/>
          <a:ln/>
        </p:spPr>
        <p:txBody>
          <a:bodyPr wrap="square" lIns="0" tIns="0" rIns="0" bIns="0"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15+ articles</a:t>
            </a:r>
            <a:endParaRPr lang="en-US" sz="900" dirty="0"/>
          </a:p>
        </p:txBody>
      </p:sp>
      <p:sp>
        <p:nvSpPr>
          <p:cNvPr id="60" name="Shape 58"/>
          <p:cNvSpPr/>
          <p:nvPr/>
        </p:nvSpPr>
        <p:spPr>
          <a:xfrm>
            <a:off x="5852160" y="4160520"/>
            <a:ext cx="2514600" cy="9144"/>
          </a:xfrm>
          <a:prstGeom prst="rect">
            <a:avLst/>
          </a:prstGeom>
          <a:solidFill>
            <a:srgbClr val="C9DDE8"/>
          </a:solidFill>
          <a:ln w="12700">
            <a:solidFill>
              <a:srgbClr val="C9DDE8"/>
            </a:solidFill>
            <a:prstDash val="solid"/>
          </a:ln>
        </p:spPr>
        <p:txBody>
          <a:bodyPr/>
          <a:lstStyle/>
          <a:p>
            <a:endParaRPr lang="en-US"/>
          </a:p>
        </p:txBody>
      </p:sp>
      <p:sp>
        <p:nvSpPr>
          <p:cNvPr id="61" name="Text 59"/>
          <p:cNvSpPr/>
          <p:nvPr/>
        </p:nvSpPr>
        <p:spPr>
          <a:xfrm>
            <a:off x="5852160" y="4187952"/>
            <a:ext cx="2514600" cy="182880"/>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Event Attendance (roundtables)</a:t>
            </a:r>
            <a:endParaRPr lang="en-US" sz="800" dirty="0"/>
          </a:p>
        </p:txBody>
      </p:sp>
      <p:sp>
        <p:nvSpPr>
          <p:cNvPr id="62" name="Text 60"/>
          <p:cNvSpPr/>
          <p:nvPr/>
        </p:nvSpPr>
        <p:spPr>
          <a:xfrm>
            <a:off x="5852160" y="4352544"/>
            <a:ext cx="2514600" cy="164592"/>
          </a:xfrm>
          <a:prstGeom prst="rect">
            <a:avLst/>
          </a:prstGeom>
          <a:noFill/>
          <a:ln/>
        </p:spPr>
        <p:txBody>
          <a:bodyPr wrap="square" lIns="0" tIns="0" rIns="0" bIns="0"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6 events</a:t>
            </a:r>
            <a:endParaRPr lang="en-US" sz="900" dirty="0"/>
          </a:p>
        </p:txBody>
      </p:sp>
      <p:sp>
        <p:nvSpPr>
          <p:cNvPr id="63" name="Shape 61"/>
          <p:cNvSpPr/>
          <p:nvPr/>
        </p:nvSpPr>
        <p:spPr>
          <a:xfrm>
            <a:off x="5852160" y="4517136"/>
            <a:ext cx="2514600" cy="9144"/>
          </a:xfrm>
          <a:prstGeom prst="rect">
            <a:avLst/>
          </a:prstGeom>
          <a:solidFill>
            <a:srgbClr val="C9DDE8"/>
          </a:solidFill>
          <a:ln w="12700">
            <a:solidFill>
              <a:srgbClr val="C9DDE8"/>
            </a:solidFill>
            <a:prstDash val="solid"/>
          </a:ln>
        </p:spPr>
        <p:txBody>
          <a:bodyPr/>
          <a:lstStyle/>
          <a:p>
            <a:endParaRPr lang="en-US"/>
          </a:p>
        </p:txBody>
      </p:sp>
      <p:sp>
        <p:nvSpPr>
          <p:cNvPr id="64" name="Text 62"/>
          <p:cNvSpPr/>
          <p:nvPr/>
        </p:nvSpPr>
        <p:spPr>
          <a:xfrm>
            <a:off x="5852160" y="4544568"/>
            <a:ext cx="2514600" cy="182880"/>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Analyst Briefings Completed</a:t>
            </a:r>
            <a:endParaRPr lang="en-US" sz="800" dirty="0"/>
          </a:p>
        </p:txBody>
      </p:sp>
      <p:sp>
        <p:nvSpPr>
          <p:cNvPr id="65" name="Text 63"/>
          <p:cNvSpPr/>
          <p:nvPr/>
        </p:nvSpPr>
        <p:spPr>
          <a:xfrm>
            <a:off x="5852160" y="4709160"/>
            <a:ext cx="2514600" cy="164592"/>
          </a:xfrm>
          <a:prstGeom prst="rect">
            <a:avLst/>
          </a:prstGeom>
          <a:noFill/>
          <a:ln/>
        </p:spPr>
        <p:txBody>
          <a:bodyPr wrap="square" lIns="0" tIns="0" rIns="0" bIns="0"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Gartner, Forrester</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6858000" y="-457200"/>
            <a:ext cx="3200400" cy="3200400"/>
          </a:xfrm>
          <a:prstGeom prst="ellipse">
            <a:avLst/>
          </a:prstGeom>
          <a:solidFill>
            <a:srgbClr val="0D7B8A">
              <a:alpha val="15000"/>
            </a:srgbClr>
          </a:solidFill>
          <a:ln w="12700">
            <a:solidFill>
              <a:srgbClr val="0D7B8A">
                <a:alpha val="15000"/>
              </a:srgbClr>
            </a:solidFill>
            <a:prstDash val="solid"/>
          </a:ln>
        </p:spPr>
        <p:txBody>
          <a:bodyPr/>
          <a:lstStyle/>
          <a:p>
            <a:endParaRPr lang="en-US"/>
          </a:p>
        </p:txBody>
      </p:sp>
      <p:sp>
        <p:nvSpPr>
          <p:cNvPr id="3" name="Shape 1"/>
          <p:cNvSpPr/>
          <p:nvPr/>
        </p:nvSpPr>
        <p:spPr>
          <a:xfrm>
            <a:off x="0" y="4389120"/>
            <a:ext cx="9144000" cy="777240"/>
          </a:xfrm>
          <a:prstGeom prst="rect">
            <a:avLst/>
          </a:prstGeom>
          <a:solidFill>
            <a:srgbClr val="0D7B8A">
              <a:alpha val="20000"/>
            </a:srgbClr>
          </a:solidFill>
          <a:ln w="12700">
            <a:solidFill>
              <a:srgbClr val="0D7B8A">
                <a:alpha val="20000"/>
              </a:srgbClr>
            </a:solidFill>
            <a:prstDash val="solid"/>
          </a:ln>
        </p:spPr>
        <p:txBody>
          <a:bodyPr/>
          <a:lstStyle/>
          <a:p>
            <a:endParaRPr lang="en-US"/>
          </a:p>
        </p:txBody>
      </p:sp>
      <p:sp>
        <p:nvSpPr>
          <p:cNvPr id="4" name="Text 2"/>
          <p:cNvSpPr/>
          <p:nvPr/>
        </p:nvSpPr>
        <p:spPr>
          <a:xfrm>
            <a:off x="502920" y="502920"/>
            <a:ext cx="7772400" cy="5943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The AI Agents Are Already Running.</a:t>
            </a:r>
            <a:endParaRPr lang="en-US" sz="3200" dirty="0"/>
          </a:p>
        </p:txBody>
      </p:sp>
      <p:sp>
        <p:nvSpPr>
          <p:cNvPr id="5" name="Text 3"/>
          <p:cNvSpPr/>
          <p:nvPr/>
        </p:nvSpPr>
        <p:spPr>
          <a:xfrm>
            <a:off x="502920" y="1097280"/>
            <a:ext cx="7772400" cy="475488"/>
          </a:xfrm>
          <a:prstGeom prst="rect">
            <a:avLst/>
          </a:prstGeom>
          <a:noFill/>
          <a:ln/>
        </p:spPr>
        <p:txBody>
          <a:bodyPr wrap="square" lIns="0" tIns="0" rIns="0" bIns="0" rtlCol="0" anchor="ctr"/>
          <a:lstStyle/>
          <a:p>
            <a:pPr marL="0" indent="0">
              <a:buNone/>
            </a:pPr>
            <a:r>
              <a:rPr lang="en-US" sz="2200" dirty="0">
                <a:solidFill>
                  <a:srgbClr val="C9DDE8"/>
                </a:solidFill>
                <a:latin typeface="Cambria" pitchFamily="34" charset="0"/>
                <a:ea typeface="Cambria" pitchFamily="34" charset="-122"/>
                <a:cs typeface="Cambria" pitchFamily="34" charset="-120"/>
              </a:rPr>
              <a:t>The Question Is Whether You're Ready to Govern Them.</a:t>
            </a:r>
            <a:endParaRPr lang="en-US" sz="2200" dirty="0"/>
          </a:p>
        </p:txBody>
      </p:sp>
      <p:sp>
        <p:nvSpPr>
          <p:cNvPr id="6" name="Shape 4"/>
          <p:cNvSpPr/>
          <p:nvPr/>
        </p:nvSpPr>
        <p:spPr>
          <a:xfrm>
            <a:off x="502920" y="1828800"/>
            <a:ext cx="2606040" cy="868680"/>
          </a:xfrm>
          <a:prstGeom prst="roundRect">
            <a:avLst>
              <a:gd name="adj" fmla="val 7368"/>
            </a:avLst>
          </a:prstGeom>
          <a:solidFill>
            <a:srgbClr val="243557"/>
          </a:solidFill>
          <a:ln w="12700">
            <a:solidFill>
              <a:srgbClr val="3A5070"/>
            </a:solidFill>
            <a:prstDash val="solid"/>
          </a:ln>
        </p:spPr>
        <p:txBody>
          <a:bodyPr/>
          <a:lstStyle/>
          <a:p>
            <a:endParaRPr lang="en-US"/>
          </a:p>
        </p:txBody>
      </p:sp>
      <p:sp>
        <p:nvSpPr>
          <p:cNvPr id="7" name="Text 5"/>
          <p:cNvSpPr/>
          <p:nvPr/>
        </p:nvSpPr>
        <p:spPr>
          <a:xfrm>
            <a:off x="640080" y="1920240"/>
            <a:ext cx="2331720" cy="274320"/>
          </a:xfrm>
          <a:prstGeom prst="rect">
            <a:avLst/>
          </a:prstGeom>
          <a:noFill/>
          <a:ln/>
        </p:spPr>
        <p:txBody>
          <a:bodyPr wrap="square" lIns="0" tIns="0" rIns="0" bIns="0" rtlCol="0" anchor="ctr"/>
          <a:lstStyle/>
          <a:p>
            <a:pPr marL="0" indent="0">
              <a:buNone/>
            </a:pPr>
            <a:r>
              <a:rPr lang="en-US" sz="1400" b="1" dirty="0">
                <a:solidFill>
                  <a:srgbClr val="0D7B8A"/>
                </a:solidFill>
                <a:latin typeface="Calibri" pitchFamily="34" charset="0"/>
                <a:ea typeface="Calibri" pitchFamily="34" charset="-122"/>
                <a:cs typeface="Calibri" pitchFamily="34" charset="-120"/>
              </a:rPr>
              <a:t>More agents</a:t>
            </a:r>
            <a:endParaRPr lang="en-US" sz="1400" dirty="0"/>
          </a:p>
        </p:txBody>
      </p:sp>
      <p:sp>
        <p:nvSpPr>
          <p:cNvPr id="8" name="Text 6"/>
          <p:cNvSpPr/>
          <p:nvPr/>
        </p:nvSpPr>
        <p:spPr>
          <a:xfrm>
            <a:off x="640080" y="2212848"/>
            <a:ext cx="2331720" cy="411480"/>
          </a:xfrm>
          <a:prstGeom prst="rect">
            <a:avLst/>
          </a:prstGeom>
          <a:noFill/>
          <a:ln/>
        </p:spPr>
        <p:txBody>
          <a:bodyPr wrap="square" lIns="0" tIns="0" rIns="0" bIns="0" rtlCol="0" anchor="ctr"/>
          <a:lstStyle/>
          <a:p>
            <a:pPr marL="0" indent="0">
              <a:lnSpc>
                <a:spcPct val="120000"/>
              </a:lnSpc>
              <a:buNone/>
            </a:pPr>
            <a:r>
              <a:rPr lang="en-US" sz="950" dirty="0">
                <a:solidFill>
                  <a:srgbClr val="C9DDE8"/>
                </a:solidFill>
                <a:latin typeface="Calibri" pitchFamily="34" charset="0"/>
                <a:ea typeface="Calibri" pitchFamily="34" charset="-122"/>
                <a:cs typeface="Calibri" pitchFamily="34" charset="-120"/>
              </a:rPr>
              <a:t>are running without governance every quarter you wait</a:t>
            </a:r>
            <a:endParaRPr lang="en-US" sz="950" dirty="0"/>
          </a:p>
        </p:txBody>
      </p:sp>
      <p:sp>
        <p:nvSpPr>
          <p:cNvPr id="9" name="Shape 7"/>
          <p:cNvSpPr/>
          <p:nvPr/>
        </p:nvSpPr>
        <p:spPr>
          <a:xfrm>
            <a:off x="3337560" y="1828800"/>
            <a:ext cx="2606040" cy="868680"/>
          </a:xfrm>
          <a:prstGeom prst="roundRect">
            <a:avLst>
              <a:gd name="adj" fmla="val 7368"/>
            </a:avLst>
          </a:prstGeom>
          <a:solidFill>
            <a:srgbClr val="243557"/>
          </a:solidFill>
          <a:ln w="12700">
            <a:solidFill>
              <a:srgbClr val="3A5070"/>
            </a:solidFill>
            <a:prstDash val="solid"/>
          </a:ln>
        </p:spPr>
        <p:txBody>
          <a:bodyPr/>
          <a:lstStyle/>
          <a:p>
            <a:endParaRPr lang="en-US"/>
          </a:p>
        </p:txBody>
      </p:sp>
      <p:sp>
        <p:nvSpPr>
          <p:cNvPr id="10" name="Text 8"/>
          <p:cNvSpPr/>
          <p:nvPr/>
        </p:nvSpPr>
        <p:spPr>
          <a:xfrm>
            <a:off x="3474720" y="1920240"/>
            <a:ext cx="2331720" cy="274320"/>
          </a:xfrm>
          <a:prstGeom prst="rect">
            <a:avLst/>
          </a:prstGeom>
          <a:noFill/>
          <a:ln/>
        </p:spPr>
        <p:txBody>
          <a:bodyPr wrap="square" lIns="0" tIns="0" rIns="0" bIns="0" rtlCol="0" anchor="ctr"/>
          <a:lstStyle/>
          <a:p>
            <a:pPr marL="0" indent="0">
              <a:buNone/>
            </a:pPr>
            <a:r>
              <a:rPr lang="en-US" sz="1400" b="1" dirty="0">
                <a:solidFill>
                  <a:srgbClr val="0D7B8A"/>
                </a:solidFill>
                <a:latin typeface="Calibri" pitchFamily="34" charset="0"/>
                <a:ea typeface="Calibri" pitchFamily="34" charset="-122"/>
                <a:cs typeface="Calibri" pitchFamily="34" charset="-120"/>
              </a:rPr>
              <a:t>More risk</a:t>
            </a:r>
            <a:endParaRPr lang="en-US" sz="1400" dirty="0"/>
          </a:p>
        </p:txBody>
      </p:sp>
      <p:sp>
        <p:nvSpPr>
          <p:cNvPr id="11" name="Text 9"/>
          <p:cNvSpPr/>
          <p:nvPr/>
        </p:nvSpPr>
        <p:spPr>
          <a:xfrm>
            <a:off x="3474720" y="2212848"/>
            <a:ext cx="2331720" cy="411480"/>
          </a:xfrm>
          <a:prstGeom prst="rect">
            <a:avLst/>
          </a:prstGeom>
          <a:noFill/>
          <a:ln/>
        </p:spPr>
        <p:txBody>
          <a:bodyPr wrap="square" lIns="0" tIns="0" rIns="0" bIns="0" rtlCol="0" anchor="ctr"/>
          <a:lstStyle/>
          <a:p>
            <a:pPr marL="0" indent="0">
              <a:lnSpc>
                <a:spcPct val="120000"/>
              </a:lnSpc>
              <a:buNone/>
            </a:pPr>
            <a:r>
              <a:rPr lang="en-US" sz="950" dirty="0">
                <a:solidFill>
                  <a:srgbClr val="C9DDE8"/>
                </a:solidFill>
                <a:latin typeface="Calibri" pitchFamily="34" charset="0"/>
                <a:ea typeface="Calibri" pitchFamily="34" charset="-122"/>
                <a:cs typeface="Calibri" pitchFamily="34" charset="-120"/>
              </a:rPr>
              <a:t>accumulates in your audit trail gap — quietly, until it isn't</a:t>
            </a:r>
            <a:endParaRPr lang="en-US" sz="950" dirty="0"/>
          </a:p>
        </p:txBody>
      </p:sp>
      <p:sp>
        <p:nvSpPr>
          <p:cNvPr id="12" name="Shape 10"/>
          <p:cNvSpPr/>
          <p:nvPr/>
        </p:nvSpPr>
        <p:spPr>
          <a:xfrm>
            <a:off x="6172200" y="1828800"/>
            <a:ext cx="2606040" cy="868680"/>
          </a:xfrm>
          <a:prstGeom prst="roundRect">
            <a:avLst>
              <a:gd name="adj" fmla="val 7368"/>
            </a:avLst>
          </a:prstGeom>
          <a:solidFill>
            <a:srgbClr val="243557"/>
          </a:solidFill>
          <a:ln w="12700">
            <a:solidFill>
              <a:srgbClr val="3A5070"/>
            </a:solidFill>
            <a:prstDash val="solid"/>
          </a:ln>
        </p:spPr>
        <p:txBody>
          <a:bodyPr/>
          <a:lstStyle/>
          <a:p>
            <a:endParaRPr lang="en-US"/>
          </a:p>
        </p:txBody>
      </p:sp>
      <p:sp>
        <p:nvSpPr>
          <p:cNvPr id="13" name="Text 11"/>
          <p:cNvSpPr/>
          <p:nvPr/>
        </p:nvSpPr>
        <p:spPr>
          <a:xfrm>
            <a:off x="6309360" y="1920240"/>
            <a:ext cx="2331720" cy="274320"/>
          </a:xfrm>
          <a:prstGeom prst="rect">
            <a:avLst/>
          </a:prstGeom>
          <a:noFill/>
          <a:ln/>
        </p:spPr>
        <p:txBody>
          <a:bodyPr wrap="square" lIns="0" tIns="0" rIns="0" bIns="0" rtlCol="0" anchor="ctr"/>
          <a:lstStyle/>
          <a:p>
            <a:pPr marL="0" indent="0">
              <a:buNone/>
            </a:pPr>
            <a:r>
              <a:rPr lang="en-US" sz="1400" b="1" dirty="0">
                <a:solidFill>
                  <a:srgbClr val="0D7B8A"/>
                </a:solidFill>
                <a:latin typeface="Calibri" pitchFamily="34" charset="0"/>
                <a:ea typeface="Calibri" pitchFamily="34" charset="-122"/>
                <a:cs typeface="Calibri" pitchFamily="34" charset="-120"/>
              </a:rPr>
              <a:t>More budget</a:t>
            </a:r>
            <a:endParaRPr lang="en-US" sz="1400" dirty="0"/>
          </a:p>
        </p:txBody>
      </p:sp>
      <p:sp>
        <p:nvSpPr>
          <p:cNvPr id="14" name="Text 12"/>
          <p:cNvSpPr/>
          <p:nvPr/>
        </p:nvSpPr>
        <p:spPr>
          <a:xfrm>
            <a:off x="6309360" y="2212848"/>
            <a:ext cx="2331720" cy="411480"/>
          </a:xfrm>
          <a:prstGeom prst="rect">
            <a:avLst/>
          </a:prstGeom>
          <a:noFill/>
          <a:ln/>
        </p:spPr>
        <p:txBody>
          <a:bodyPr wrap="square" lIns="0" tIns="0" rIns="0" bIns="0" rtlCol="0" anchor="ctr"/>
          <a:lstStyle/>
          <a:p>
            <a:pPr marL="0" indent="0">
              <a:lnSpc>
                <a:spcPct val="120000"/>
              </a:lnSpc>
              <a:buNone/>
            </a:pPr>
            <a:r>
              <a:rPr lang="en-US" sz="950" dirty="0">
                <a:solidFill>
                  <a:srgbClr val="C9DDE8"/>
                </a:solidFill>
                <a:latin typeface="Calibri" pitchFamily="34" charset="0"/>
                <a:ea typeface="Calibri" pitchFamily="34" charset="-122"/>
                <a:cs typeface="Calibri" pitchFamily="34" charset="-120"/>
              </a:rPr>
              <a:t>is spent on AI programs you cannot prove to your board</a:t>
            </a:r>
            <a:endParaRPr lang="en-US" sz="950" dirty="0"/>
          </a:p>
        </p:txBody>
      </p:sp>
      <p:sp>
        <p:nvSpPr>
          <p:cNvPr id="15" name="Text 13"/>
          <p:cNvSpPr/>
          <p:nvPr/>
        </p:nvSpPr>
        <p:spPr>
          <a:xfrm>
            <a:off x="502920" y="2834640"/>
            <a:ext cx="7772400" cy="621792"/>
          </a:xfrm>
          <a:prstGeom prst="rect">
            <a:avLst/>
          </a:prstGeom>
          <a:noFill/>
          <a:ln/>
        </p:spPr>
        <p:txBody>
          <a:bodyPr wrap="square" lIns="0" tIns="0" rIns="0" bIns="0" rtlCol="0" anchor="ctr"/>
          <a:lstStyle/>
          <a:p>
            <a:pPr marL="0" indent="0">
              <a:lnSpc>
                <a:spcPct val="130000"/>
              </a:lnSpc>
              <a:buNone/>
            </a:pPr>
            <a:r>
              <a:rPr lang="en-US" sz="1350" i="1" dirty="0">
                <a:solidFill>
                  <a:srgbClr val="C9DDE8"/>
                </a:solidFill>
                <a:latin typeface="Cambria" pitchFamily="34" charset="0"/>
                <a:ea typeface="Cambria" pitchFamily="34" charset="-122"/>
                <a:cs typeface="Cambria" pitchFamily="34" charset="-120"/>
              </a:rPr>
              <a:t>"The cost of poor AI governance is orders of magnitude higher than the cost of doing it right."</a:t>
            </a:r>
            <a:endParaRPr lang="en-US" sz="1350" dirty="0"/>
          </a:p>
        </p:txBody>
      </p:sp>
      <p:sp>
        <p:nvSpPr>
          <p:cNvPr id="16" name="Text 14"/>
          <p:cNvSpPr/>
          <p:nvPr/>
        </p:nvSpPr>
        <p:spPr>
          <a:xfrm>
            <a:off x="502920" y="3493008"/>
            <a:ext cx="7772400" cy="237744"/>
          </a:xfrm>
          <a:prstGeom prst="rect">
            <a:avLst/>
          </a:prstGeom>
          <a:noFill/>
          <a:ln/>
        </p:spPr>
        <p:txBody>
          <a:bodyPr wrap="square" lIns="0" tIns="0" rIns="0" bIns="0" rtlCol="0" anchor="ctr"/>
          <a:lstStyle/>
          <a:p>
            <a:pPr marL="0" indent="0">
              <a:buNone/>
            </a:pPr>
            <a:r>
              <a:rPr lang="en-US" sz="1000" dirty="0">
                <a:solidFill>
                  <a:srgbClr val="6B7A8D"/>
                </a:solidFill>
                <a:latin typeface="Calibri" pitchFamily="34" charset="0"/>
                <a:ea typeface="Calibri" pitchFamily="34" charset="-122"/>
                <a:cs typeface="Calibri" pitchFamily="34" charset="-120"/>
              </a:rPr>
              <a:t>— Chief Risk Officer, Top 10 US Bank</a:t>
            </a:r>
            <a:endParaRPr lang="en-US" sz="1000" dirty="0"/>
          </a:p>
        </p:txBody>
      </p:sp>
      <p:sp>
        <p:nvSpPr>
          <p:cNvPr id="17" name="Shape 15"/>
          <p:cNvSpPr/>
          <p:nvPr/>
        </p:nvSpPr>
        <p:spPr>
          <a:xfrm>
            <a:off x="1920240" y="3931920"/>
            <a:ext cx="5303520" cy="1005840"/>
          </a:xfrm>
          <a:prstGeom prst="roundRect">
            <a:avLst>
              <a:gd name="adj" fmla="val 9091"/>
            </a:avLst>
          </a:prstGeom>
          <a:solidFill>
            <a:srgbClr val="0D7B8A"/>
          </a:solidFill>
          <a:ln w="12700">
            <a:solidFill>
              <a:srgbClr val="0D7B8A"/>
            </a:solidFill>
            <a:prstDash val="solid"/>
          </a:ln>
          <a:effectLst>
            <a:outerShdw blurRad="101600" dist="38100" dir="2700000" algn="bl" rotWithShape="0">
              <a:srgbClr val="000000">
                <a:alpha val="10000"/>
              </a:srgbClr>
            </a:outerShdw>
          </a:effectLst>
        </p:spPr>
        <p:txBody>
          <a:bodyPr/>
          <a:lstStyle/>
          <a:p>
            <a:endParaRPr lang="en-US"/>
          </a:p>
        </p:txBody>
      </p:sp>
      <p:sp>
        <p:nvSpPr>
          <p:cNvPr id="18" name="Text 16"/>
          <p:cNvSpPr/>
          <p:nvPr/>
        </p:nvSpPr>
        <p:spPr>
          <a:xfrm>
            <a:off x="2011680" y="4023360"/>
            <a:ext cx="5120640" cy="347472"/>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Book Your AI Agent Governance Readiness Assessment</a:t>
            </a:r>
            <a:endParaRPr lang="en-US" sz="1450" dirty="0"/>
          </a:p>
        </p:txBody>
      </p:sp>
      <p:sp>
        <p:nvSpPr>
          <p:cNvPr id="19" name="Text 17"/>
          <p:cNvSpPr/>
          <p:nvPr/>
        </p:nvSpPr>
        <p:spPr>
          <a:xfrm>
            <a:off x="2011680" y="4389120"/>
            <a:ext cx="512064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northstar.ai/assess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137</TotalTime>
  <Words>7071</Words>
  <Application>Microsoft Office PowerPoint</Application>
  <PresentationFormat>On-screen Show (16:9)</PresentationFormat>
  <Paragraphs>426</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Northstar AgentOps GTM Launch — Q1</dc:title>
  <dc:subject>PptxGenJS Presentation</dc:subject>
  <dc:creator>Northstar AI — Product Marketing</dc:creator>
  <cp:lastModifiedBy>Britt Bowman</cp:lastModifiedBy>
  <cp:revision>2</cp:revision>
  <dcterms:created xsi:type="dcterms:W3CDTF">2026-06-12T14:45:38Z</dcterms:created>
  <dcterms:modified xsi:type="dcterms:W3CDTF">2026-06-12T17:11:34Z</dcterms:modified>
</cp:coreProperties>
</file>