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23966e1564c5e" /><Relationship Type="http://schemas.openxmlformats.org/officeDocument/2006/relationships/extended-properties" Target="/docProps/app.xml" Id="R90c4466bf9c44c80" /><Relationship Type="http://schemas.openxmlformats.org/officeDocument/2006/relationships/officeDocument" Target="/ppt/presentation.xml" Id="Rcabb5e789b6642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a23f0ab2f34f02"/>
  </p:sldMasterIdLst>
  <p:notesMasterIdLst>
    <p:notesMasterId xmlns:r="http://schemas.openxmlformats.org/officeDocument/2006/relationships" r:id="R33d6a1bf48104919"/>
  </p:notesMasterIdLst>
  <p:sldIdLst>
    <p:sldId xmlns:r="http://schemas.openxmlformats.org/officeDocument/2006/relationships" id="256" r:id="Rca7b7f22a3b4494e"/>
    <p:sldId xmlns:r="http://schemas.openxmlformats.org/officeDocument/2006/relationships" id="257" r:id="R7f5d0470226c43c0"/>
    <p:sldId xmlns:r="http://schemas.openxmlformats.org/officeDocument/2006/relationships" id="258" r:id="Rffca394ec9f54090"/>
    <p:sldId xmlns:r="http://schemas.openxmlformats.org/officeDocument/2006/relationships" id="259" r:id="R76925f3a85c54942"/>
    <p:sldId xmlns:r="http://schemas.openxmlformats.org/officeDocument/2006/relationships" id="260" r:id="R5fc0bf45b9434817"/>
    <p:sldId xmlns:r="http://schemas.openxmlformats.org/officeDocument/2006/relationships" id="261" r:id="R8939cc683846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c00bd9d3474e8f" /><Relationship Type="http://schemas.openxmlformats.org/officeDocument/2006/relationships/slideMaster" Target="/ppt/slideMasters/slideMaster1.xml" Id="R82a23f0ab2f34f02" /><Relationship Type="http://schemas.openxmlformats.org/officeDocument/2006/relationships/notesMaster" Target="/ppt/notesMasters/notesMaster1.xml" Id="R33d6a1bf48104919" /><Relationship Type="http://schemas.openxmlformats.org/officeDocument/2006/relationships/presProps" Target="/ppt/presProps.xml" Id="R0a457d3983ad42e9" /><Relationship Type="http://schemas.openxmlformats.org/officeDocument/2006/relationships/tableStyles" Target="/ppt/tableStyles.xml" Id="Rbf3862e1877e434b" /><Relationship Type="http://schemas.openxmlformats.org/officeDocument/2006/relationships/slide" Target="/ppt/slides/slide1.xml" Id="Rca7b7f22a3b4494e" /><Relationship Type="http://schemas.openxmlformats.org/officeDocument/2006/relationships/slide" Target="/ppt/slides/slide2.xml" Id="R7f5d0470226c43c0" /><Relationship Type="http://schemas.openxmlformats.org/officeDocument/2006/relationships/slide" Target="/ppt/slides/slide3.xml" Id="Rffca394ec9f54090" /><Relationship Type="http://schemas.openxmlformats.org/officeDocument/2006/relationships/slide" Target="/ppt/slides/slide4.xml" Id="R76925f3a85c54942" /><Relationship Type="http://schemas.openxmlformats.org/officeDocument/2006/relationships/slide" Target="/ppt/slides/slide5.xml" Id="R5fc0bf45b9434817" /><Relationship Type="http://schemas.openxmlformats.org/officeDocument/2006/relationships/slide" Target="/ppt/slides/slide6.xml" Id="R8939cc683846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a141f3c3544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f2d8b09d04fc0" /><Relationship Type="http://schemas.openxmlformats.org/officeDocument/2006/relationships/notesMaster" Target="/ppt/notesMasters/notesMaster1.xml" Id="Rc813479d03a04a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1f6aaa763749d1" /><Relationship Type="http://schemas.openxmlformats.org/officeDocument/2006/relationships/notesMaster" Target="/ppt/notesMasters/notesMaster1.xml" Id="Rfa6197e3cc67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ff447b1fa148a4" /><Relationship Type="http://schemas.openxmlformats.org/officeDocument/2006/relationships/notesMaster" Target="/ppt/notesMasters/notesMaster1.xml" Id="Refb4c94de5174f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cb908141a54d01" /><Relationship Type="http://schemas.openxmlformats.org/officeDocument/2006/relationships/notesMaster" Target="/ppt/notesMasters/notesMaster1.xml" Id="R0cb3a8d63ce242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5f79dcabeb476a" /><Relationship Type="http://schemas.openxmlformats.org/officeDocument/2006/relationships/notesMaster" Target="/ppt/notesMasters/notesMaster1.xml" Id="R3b9c9d200a09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eed0c6806a40b2" /><Relationship Type="http://schemas.openxmlformats.org/officeDocument/2006/relationships/notesMaster" Target="/ppt/notesMasters/notesMaster1.xml" Id="R0fb2580c8920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decision workshop. Uses Lee Warren’s supplied UNI + ETI materials and the paid-session pressure-test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75187b8ec45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ea367e7ce24706" /><Relationship Type="http://schemas.openxmlformats.org/officeDocument/2006/relationships/slideLayout" Target="/ppt/slideLayouts/slideLayout1.xml" Id="R1ed74bf4822f42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d74bf4822f42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1b9307d9344d5" /><Relationship Type="http://schemas.openxmlformats.org/officeDocument/2006/relationships/notesSlide" Target="/ppt/notesSlides/notesSlide1.xml" Id="Rfe6b3d5f90704a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e1fdcbbaa4f95" /><Relationship Type="http://schemas.openxmlformats.org/officeDocument/2006/relationships/notesSlide" Target="/ppt/notesSlides/notesSlide2.xml" Id="R42f54c9ac6f84c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2fd7a8f4e4f71" /><Relationship Type="http://schemas.openxmlformats.org/officeDocument/2006/relationships/notesSlide" Target="/ppt/notesSlides/notesSlide3.xml" Id="Ra01751348b294b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93ee8aed94f0b" /><Relationship Type="http://schemas.openxmlformats.org/officeDocument/2006/relationships/notesSlide" Target="/ppt/notesSlides/notesSlide4.xml" Id="R5c7271aa1a1e49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f96c5d3394973" /><Relationship Type="http://schemas.openxmlformats.org/officeDocument/2006/relationships/notesSlide" Target="/ppt/notesSlides/notesSlide5.xml" Id="Rcdf68a5c90f54d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812fa7b184a47" /><Relationship Type="http://schemas.openxmlformats.org/officeDocument/2006/relationships/notesSlide" Target="/ppt/notesSlides/notesSlide6.xml" Id="R0c5ab79fb15345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CCF4A-7DB3-4F29-BB67-9321DA2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78126-E0BB-4C22-8C7D-B715E9E0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A94A0-5017-4945-9E2C-2865E586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AA60-AE71-4C99-9B55-7D7A309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847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capital</a:t>
            </a:r>
          </a:p>
          <a:p xmlns:a="http://schemas.openxmlformats.org/drawingml/2006/main">
            <a:pPr>
              <a:defRPr sz="4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decision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15A77-5E16-41AA-9EE4-EE94B565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866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structured conversation about the route, proof, and commitments required to turn an ambitious thesis into a company.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7D3A8-DBF9-49A6-B95E-24EC7F4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1A952-5090-4EAA-B2E9-AEAA4FA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0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E3042-94FC-42E2-8192-BC8C756F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Commitment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4C6A4-3AE1-459C-B310-EE233141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September 8, 2026</a:t>
            </a:r>
          </a:p>
        </p:txBody>
      </p:sp>
    </p:spTree>
    <p:extLst>
      <p:ext uri="{BB962C8B-B14F-4D97-AF65-F5344CB8AC3E}">
        <p14:creationId xmlns:p14="http://schemas.microsoft.com/office/powerpoint/2010/main" val="8709091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653FF-2DD4-46F8-90CD-5B2D1E1C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21D50-C1D1-4AEC-8A73-BEE8CED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B1D3E-487D-4C34-A589-DCF73886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501D5-71CC-4D54-8D97-E345AD1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decision in front of 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39A8B-B138-4690-AFA1-94ACB611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are not deciding whether the thesis is interesting. We are deciding what route turns it into a fundable company.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A6060-103C-433B-9C7B-8F7E9D73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E86E6-5FCD-434F-ADD0-520FC177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CAPITAL DECISION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6032A-3B27-4EA5-9CD5-4F86CAD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EB65E-9185-437F-946B-EF840C3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The 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B6BC6-8C73-477E-A494-57E53A08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An independent evidence and trust layer for consequential workforce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3516F-918B-45CE-B75B-52B69A4E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62AE-A359-4D2C-A8CA-B7801482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The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716B2-F21C-496A-BE0D-49F0FAA8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Research and a product idea do not yet establish a company, a capital plan, or an acquisition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ED24A-0992-44FF-92FF-F7412160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19375"/>
            <a:ext cx="3333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F8072-6811-4762-BC43-1583866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Today’s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E48FB-8119-41CC-B849-3BD1041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2952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One chosen route, the proof it requires, and the commitments that make the route credible.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26F32-F430-4CE2-A736-F11A96D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What has to be true for a sophisticated person outside UNI to commit?</a:t>
            </a:r>
          </a:p>
        </p:txBody>
      </p:sp>
    </p:spTree>
    <p:extLst>
      <p:ext uri="{BB962C8B-B14F-4D97-AF65-F5344CB8AC3E}">
        <p14:creationId xmlns:p14="http://schemas.microsoft.com/office/powerpoint/2010/main" val="1615808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CE2B3-D79C-4ED0-9D69-851D911D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F8940-3317-4265-9BAA-FED547EA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53D26-245E-4FBC-A234-66C77BD3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5FA81-42DF-46FD-9275-B3014C6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Four paths. One operating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B9339-F86C-483F-98D9-3D14B517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Acquisition is an outcome. It does not replace company-building.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98782-4A46-48CD-A657-8678B487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3DC8C-AC54-4BB7-8EFC-0FAB777D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CAPITAL DECISION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88A9E-F9ED-4CC9-8CE9-157663C3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050D0-B6EE-4018-BDAD-A04B810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Customer-funded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2F0CC-9EE7-4A5A-9009-7FBAA0F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Paying customers prove a painful problem, a valuable product, and a repeatable commercial wedge.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D5948-3155-42A7-A755-8063DE1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14600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DAF4-6FE4-4702-AF3D-99352BB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Pre-seed or angel-funded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902B5-E8E3-4A9B-9F0F-AE3CB42E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57525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Capital accelerates a credible team and a defined proof plan. It does not substitute for external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C1EBE-68EB-4EBA-B0FD-51F061CD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BD126-696B-4D32-A356-2D8332C6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Strategic-partner-led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9D82C-841C-42C4-ADCE-BA9DC41F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serious institution or platform validates a strategic gap through a design partnership, channel, or commercial alliance.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4C452-319A-466D-8F06-C2A3719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48125"/>
            <a:ext cx="509587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EBB55-B388-458C-8D8E-1F5378F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1957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Acquisition-led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9D6A7-359E-4E03-9E7B-4912C42C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59105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A future possibility after UNI has built an asset a buyer cannot cheaply recreate: team, customers, data, credibility, or distribution.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60B18-9194-4018-9622-91AC5A5A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Which route is the operating plan for the next 12 months?</a:t>
            </a:r>
          </a:p>
        </p:txBody>
      </p:sp>
    </p:spTree>
    <p:extLst>
      <p:ext uri="{BB962C8B-B14F-4D97-AF65-F5344CB8AC3E}">
        <p14:creationId xmlns:p14="http://schemas.microsoft.com/office/powerpoint/2010/main" val="423306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E4853-0DF5-44DD-BDDF-5D33D582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CF991-142F-4EF5-AAD8-15A29AAE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2D65E-4131-4668-B7C7-E954F487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F4488-A508-4787-B1F1-B1F28A2C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proof investors and acquirers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F7318-9AF4-47F9-8774-D90988C0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Capital is an accelerant for externally validated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8AA02-063D-43CA-AC9B-5F0FFB4A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209ED-A3CA-491B-B110-B08DA5F7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CAPITAL DECISION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8A4AA-63C7-48C9-A8B0-647EE3EF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F40F8-911F-4863-9BB1-FE30D1EC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85E99-1221-4886-A1EF-18857E1F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is building the company besides Lee? Which capabilities must be inside the team or formally committed?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C8AB0-702E-4DAA-B588-EA692EED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49F7F-E32D-4F80-BD82-A9C739E0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Market commitment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F3F45-1751-4588-8C35-639F7F55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Who will put something at risk: customer, design partner, investor, institution, or domain expert?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8D3D5-BD04-46E9-8E88-577B129A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3786C-7D03-4DE7-9698-FFD66188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Product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34B10-265E-47B9-8E30-06DBCA0A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smallest artifact proves the independent trust-layer thesis in a consequential decision?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4F378-CB1B-4997-BDCC-8A32AAD1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2476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66B33-666E-4850-8644-8DB8C4CB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Strategic asset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736F7-E1B9-4A35-BAF8-E4E14206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14675"/>
            <a:ext cx="2095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does UNI accumulate that an incumbent cannot recreate cheaply?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F10DD-8716-4544-B07B-D191A3DA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Question: What must be true in 12 months for this route to look rational?</a:t>
            </a:r>
          </a:p>
        </p:txBody>
      </p:sp>
    </p:spTree>
    <p:extLst>
      <p:ext uri="{BB962C8B-B14F-4D97-AF65-F5344CB8AC3E}">
        <p14:creationId xmlns:p14="http://schemas.microsoft.com/office/powerpoint/2010/main" val="1901271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585E35-A2C8-4AE0-8AF7-1193E3E4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4E3F5-E1CC-4C65-A05E-A7A9B38D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01E22-49C3-43D8-B5A6-96229548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84E00-E9B3-47D3-9760-B2619D08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customer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4CF1F-F820-4EFF-A94A-F134A2A9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Early customers should validate the trust-layer thesis, not erase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DFA0C-688A-413E-B361-9370DF44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ECECE-D9B4-4D94-9DE9-72632D7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CAPITAL DECISION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BC1F02-A052-4F8F-96F5-21C9750F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2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question is not whether UNI gets customers. The question is whether the early customer pattern proves the company UNI wants to become.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F2D25-3F34-489C-9061-489436EA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09F2D0-A82C-4082-ADF9-E496F27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60B7E-6731-4DA7-AD75-D41503BE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Which consequential workforce decision requires more trustworthy evidence?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45FCD-4867-45CD-B5A3-FEDFA74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910FD-9F40-4EBB-9BEC-D18A38D2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E1B37-6633-4BBD-B0C2-DEB72D8A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What record, credential, or validation object makes UNI + ETI real?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4E2D7-F8A1-4A61-9038-0E22909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333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65783-68CD-432F-B190-0A5D499E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48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One commitment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2070A-8F5F-4632-96C8-FE477F9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9550"/>
            <a:ext cx="295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Which customer or design partner will rely on it strongly enough to create proof?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447DE-530E-4C58-BBEA-5A3DC61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Question: What customer evidence would make an investor say this is more than another assessment tool?</a:t>
            </a:r>
          </a:p>
        </p:txBody>
      </p:sp>
    </p:spTree>
    <p:extLst>
      <p:ext uri="{BB962C8B-B14F-4D97-AF65-F5344CB8AC3E}">
        <p14:creationId xmlns:p14="http://schemas.microsoft.com/office/powerpoint/2010/main" val="17323248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D0888B-F7C9-4404-BAC7-E6610FD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E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3AD8A-917B-4783-915F-B3A55C1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D5E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D5EA"/>
                </a:solidFill>
                <a:latin typeface="Arial"/>
                <a:ea typeface="Arial"/>
                <a:cs typeface="Arial"/>
              </a:rPr>
              <a:t>BRITT BOWMAN  ·  THE NO HYPE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2E5EE-ABFC-41FA-B3EE-6105A28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C6CB6-B63F-49BA-8304-A6D254EC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Decision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DE56B-3FF4-47FF-BAC4-095027CA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We leave with a company-building plan, not a more elaborate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BBCE7-B365-4A87-AC75-4A89163A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546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04C4C-03EF-4631-99AE-28D27173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C4D8"/>
                </a:solidFill>
                <a:latin typeface="Arial"/>
                <a:ea typeface="Arial"/>
                <a:cs typeface="Arial"/>
              </a:rPr>
              <a:t>UNI + ETI  ·  CAPITAL DECISION WORKSHOP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6996F-A788-4CB5-B12A-57CFFDED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24004-E794-4145-8CDC-F78161D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Chosen operating route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F1207-F911-4B21-8594-9FC2CD5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EA684-EC95-4C86-B707-BC85D9A1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76500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AC0EC-0D9D-4003-8D0B-C8E2FF62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12-month proof milestone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790FC-8AED-4EB1-997C-AA4F2F9E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19425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B0B0A-AC76-4795-B6C4-87674078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621CD-2DC2-4134-ABFE-821B91EB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Required external commitment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518F6-68C1-4D56-8740-7E4A2A86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65626-CCCE-4A9F-880B-50A89434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876675"/>
            <a:ext cx="50958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B1E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FBFDD-8A89-4B3B-BDCC-A9C4F6F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048125"/>
            <a:ext cx="471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Asset UNI must accumulate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81EE2-482B-45A5-89DB-547CC44B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41960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78A3B-56B0-4BA7-AD1B-59146011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9FC"/>
                </a:solidFill>
                <a:latin typeface="Arial"/>
                <a:ea typeface="Arial"/>
                <a:cs typeface="Arial"/>
              </a:rPr>
              <a:t>The next rational decision: _________________________________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CBE2C-D090-4E8C-BFA1-A2A7806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7C4D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7C4D8"/>
                </a:solidFill>
                <a:latin typeface="Arial"/>
                <a:ea typeface="Arial"/>
                <a:cs typeface="Arial"/>
              </a:rPr>
              <a:t>This workshop tests the operating reality beneath the thesis. It does not validate legal claims, a fundraising outcome, or a specific acquisition.</a:t>
            </a:r>
          </a:p>
        </p:txBody>
      </p:sp>
    </p:spTree>
    <p:extLst>
      <p:ext uri="{BB962C8B-B14F-4D97-AF65-F5344CB8AC3E}">
        <p14:creationId xmlns:p14="http://schemas.microsoft.com/office/powerpoint/2010/main" val="1661047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2026-09-04T21:08:38.2110000Z</dcterms:created>
  <dcterms:modified xsi:type="dcterms:W3CDTF">2026-09-04T21:08:38.2110000Z</dcterms:modified>
</coreProperties>
</file>